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8" r:id="rId4"/>
    <p:sldId id="257" r:id="rId5"/>
    <p:sldId id="261" r:id="rId6"/>
    <p:sldId id="269" r:id="rId7"/>
    <p:sldId id="263" r:id="rId8"/>
    <p:sldId id="264" r:id="rId9"/>
    <p:sldId id="265" r:id="rId10"/>
    <p:sldId id="266" r:id="rId11"/>
    <p:sldId id="267" r:id="rId12"/>
    <p:sldId id="268" r:id="rId13"/>
    <p:sldId id="262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E31880-E393-3E9D-4DF2-159A3C399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8BD6A58-7217-0871-717F-992B865E3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352FFD-B7BB-0CD7-852F-850E9F133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6A12-6976-4B31-BD04-D4227ACD3F51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381662-34DE-3015-DB47-500DC67C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0DE45C-9CA8-F1EB-ADEB-5C719BE3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EA03D-61B9-44B7-87CB-9C4422698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923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066258-7320-B30B-913E-5D894CF5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32FC10-6E64-3E58-A22A-8023DA772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D28222-26B2-D8D9-B628-9414528E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6A12-6976-4B31-BD04-D4227ACD3F51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27F44D-5C2F-5584-1272-A238F372C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703A54-3B3F-7415-09DC-F73EABC2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EA03D-61B9-44B7-87CB-9C4422698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39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0A4147-337F-B52A-BC67-16A271588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F8697F-F066-691E-6257-01E1FA88A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A405E0-7FF8-CD27-F445-28A6A10A2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6A12-6976-4B31-BD04-D4227ACD3F51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BF44B9-7D48-EE5F-2CA6-6F0D2139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B09F39-A7B1-0C6D-C189-D4A4F62D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EA03D-61B9-44B7-87CB-9C4422698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322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7035AC-E928-9CE9-6A2C-034BA5E1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DD04A2-6859-D1DA-24D8-8E9BD53E1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C3E0189-8BB4-F898-2756-453726B5F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A9BE42-A2D4-583C-E183-B156902A5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6A12-6976-4B31-BD04-D4227ACD3F51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0E0B7A-BDA6-46E9-B741-9E80E917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219916-BE92-14A9-5949-16CBD85E0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EA03D-61B9-44B7-87CB-9C4422698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948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654FDC-F3A5-CCA6-2181-31BA968D5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6B9A2D-ADD1-0EDB-7A24-9E12B2348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D854ED-6608-EF2B-BD4F-359567C10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3803480-BFC2-3549-856C-1CC1C2335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40108E8-21B5-F135-1809-510D0FC03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2DA73F1-FA4B-58AA-EE74-A13AE1B4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6A12-6976-4B31-BD04-D4227ACD3F51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36D8E30-2953-7674-E72C-3DE4EE5E0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E735C20-AD59-82F1-E3EA-88EE90E8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EA03D-61B9-44B7-87CB-9C4422698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5430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A33F1B-29F2-7D68-16D3-968E86127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3447481-5363-1B36-E51C-8ADFAF401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6A12-6976-4B31-BD04-D4227ACD3F51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9F672A2-3994-3904-F156-BDF3123FC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48247F7-DC7D-E948-AAE4-ECA4D18F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EA03D-61B9-44B7-87CB-9C4422698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651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7C6F62A-E746-3715-7A6C-BA8ACFEB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6A12-6976-4B31-BD04-D4227ACD3F51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B5B237D-1E2C-8788-BF32-54F0FA80F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AB32B3-2543-852F-C5B7-ECFC4E69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EA03D-61B9-44B7-87CB-9C4422698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0480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F51C21-2FCE-939D-9AE0-448B85D42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E7EDDD-4D90-C82A-423B-C94DE8AAD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AD8A75-10CB-66C0-EFA6-474C7B8AA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CAAE1D-00B2-0FB9-9196-588A7126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6A12-6976-4B31-BD04-D4227ACD3F51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C87B31-C928-78EE-B096-7B557F4B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1E2985-A056-EF50-3D67-D2A070A0C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EA03D-61B9-44B7-87CB-9C4422698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35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409229-7922-592F-7D7D-3631F9CE1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5AD1658-8B0B-2A3E-0023-EC64C3C55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846198-475B-D650-DBDF-4F1F8606B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D5A2ED5-2673-A843-4B88-0E3F0973F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6A12-6976-4B31-BD04-D4227ACD3F51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193C6E-9615-4912-7EF8-AC341C3C5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D496BD-4A1E-2892-0CCE-C59171EC4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EA03D-61B9-44B7-87CB-9C4422698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7690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963452-9CB3-41A4-C763-67368935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73E81F2-7467-19A0-1E93-8259F227C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7D7421-56E6-70B9-C5C2-83227F32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6A12-6976-4B31-BD04-D4227ACD3F51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E64B82-562E-92E1-B146-ED4029B7B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B1E4B2-5DD4-1870-3C28-D0531278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EA03D-61B9-44B7-87CB-9C4422698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5626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154DB11-4BEB-51F9-E299-11052C9D6A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DF61C53-CE62-6DB2-C887-3F07945BF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6F0909-EC6F-9384-26FA-26FB4C84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6A12-6976-4B31-BD04-D4227ACD3F51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C8CCC7-359E-1B06-EADC-8E097A19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BD4567-33CD-C7AA-EA9A-5CDB63843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EA03D-61B9-44B7-87CB-9C4422698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5332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B921FBB-9E4C-1310-E397-EA807242F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005281-FC33-D864-656A-EF6A6BC65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9F6572-569A-500E-FB93-378DD29EA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36A12-6976-4B31-BD04-D4227ACD3F51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C25151-640E-BFA7-4E4C-33B465557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21FEA8-D6E3-C482-7520-187B83388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EA03D-61B9-44B7-87CB-9C4422698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5070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57DC33-C252-FC8E-5E60-062245B3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016" y="24337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FR" sz="9600" dirty="0"/>
              <a:t>CARABES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3CD5B7-E5FE-976D-26E8-196EEED91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5447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3C9CC36-013E-D7A9-4CF7-11A57B0C0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80" y="1693064"/>
            <a:ext cx="5717571" cy="363571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2481C0B-48F2-4DD1-E75D-00C3341AE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162" y="1511031"/>
            <a:ext cx="6003838" cy="381774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223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carabiques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7FFC552-D5B5-213C-5596-E871857D2DF5}"/>
              </a:ext>
            </a:extLst>
          </p:cNvPr>
          <p:cNvSpPr txBox="1"/>
          <p:nvPr/>
        </p:nvSpPr>
        <p:spPr>
          <a:xfrm>
            <a:off x="725383" y="891927"/>
            <a:ext cx="4302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Distribution richesse spécifique par piège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46FF9E4-C21B-79EE-8F5B-1421D76B584B}"/>
              </a:ext>
            </a:extLst>
          </p:cNvPr>
          <p:cNvSpPr txBox="1"/>
          <p:nvPr/>
        </p:nvSpPr>
        <p:spPr>
          <a:xfrm>
            <a:off x="6668983" y="891927"/>
            <a:ext cx="4121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Distribution abondance totale par piège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8337541-5060-A632-5FD7-9AF9DB0DE318}"/>
              </a:ext>
            </a:extLst>
          </p:cNvPr>
          <p:cNvSpPr txBox="1"/>
          <p:nvPr/>
        </p:nvSpPr>
        <p:spPr>
          <a:xfrm>
            <a:off x="8054503" y="5947002"/>
            <a:ext cx="287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Family=Négative binomiale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EB5AC7C-0328-6A33-116F-544258ED25E6}"/>
              </a:ext>
            </a:extLst>
          </p:cNvPr>
          <p:cNvSpPr txBox="1"/>
          <p:nvPr/>
        </p:nvSpPr>
        <p:spPr>
          <a:xfrm>
            <a:off x="1287294" y="6131668"/>
            <a:ext cx="1748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Family=Poisson</a:t>
            </a:r>
          </a:p>
        </p:txBody>
      </p:sp>
    </p:spTree>
    <p:extLst>
      <p:ext uri="{BB962C8B-B14F-4D97-AF65-F5344CB8AC3E}">
        <p14:creationId xmlns:p14="http://schemas.microsoft.com/office/powerpoint/2010/main" val="1001517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223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carabiques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7FFC552-D5B5-213C-5596-E871857D2DF5}"/>
              </a:ext>
            </a:extLst>
          </p:cNvPr>
          <p:cNvSpPr txBox="1"/>
          <p:nvPr/>
        </p:nvSpPr>
        <p:spPr>
          <a:xfrm>
            <a:off x="54522" y="672708"/>
            <a:ext cx="4449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Distribution richesse spécifique par piège (taux de mélange continu ou en 3 classes)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D80F060-ADAF-D761-E705-C27AA09BB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6" y="1446130"/>
            <a:ext cx="4332952" cy="275525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1EE6C33-96F5-AAF2-926B-36F3A0859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5" y="4178779"/>
            <a:ext cx="3866812" cy="24588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657F470-3CFF-9363-058A-8DC193CFC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68" y="940311"/>
            <a:ext cx="6673174" cy="4154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glmm_RS_all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&lt;-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glmmTMB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(RS_all~G_all_cercle+veg1+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00"/>
                </a:highlight>
                <a:latin typeface="Lucida Console" panose="020B0609040504020204" pitchFamily="49" charset="0"/>
              </a:rPr>
              <a:t>I(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00"/>
                </a:highlight>
                <a:latin typeface="Lucida Console" panose="020B0609040504020204" pitchFamily="49" charset="0"/>
              </a:rPr>
              <a:t>MEL_cercle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00"/>
                </a:highlight>
                <a:latin typeface="Lucida Console" panose="020B0609040504020204" pitchFamily="49" charset="0"/>
              </a:rPr>
              <a:t>/100)+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latin typeface="Lucida Console" panose="020B0609040504020204" pitchFamily="49" charset="0"/>
              </a:rPr>
              <a:t>I((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latin typeface="Lucida Console" panose="020B0609040504020204" pitchFamily="49" charset="0"/>
              </a:rPr>
              <a:t>MEL_cercle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latin typeface="Lucida Console" panose="020B0609040504020204" pitchFamily="49" charset="0"/>
              </a:rPr>
              <a:t>/100)^2)+(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1|plot),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family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poisson,data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=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Carab.Rel.Env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)</a:t>
            </a:r>
            <a:r>
              <a:rPr kumimoji="0" lang="fr-FR" altLang="fr-F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35D02ED-4D8C-5749-2A48-176D8C804D31}"/>
              </a:ext>
            </a:extLst>
          </p:cNvPr>
          <p:cNvSpPr txBox="1"/>
          <p:nvPr/>
        </p:nvSpPr>
        <p:spPr>
          <a:xfrm>
            <a:off x="4393756" y="1446130"/>
            <a:ext cx="674452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&gt; </a:t>
            </a:r>
            <a:r>
              <a:rPr lang="fr-FR" sz="900" dirty="0" err="1"/>
              <a:t>summary</a:t>
            </a:r>
            <a:r>
              <a:rPr lang="fr-FR" sz="900" dirty="0"/>
              <a:t>(</a:t>
            </a:r>
            <a:r>
              <a:rPr lang="fr-FR" sz="900" dirty="0" err="1"/>
              <a:t>glmm_RS_all</a:t>
            </a:r>
            <a:r>
              <a:rPr lang="fr-FR" sz="900" dirty="0"/>
              <a:t>) </a:t>
            </a:r>
          </a:p>
          <a:p>
            <a:r>
              <a:rPr lang="fr-FR" sz="900" dirty="0"/>
              <a:t>Family: poisson  ( log )</a:t>
            </a:r>
          </a:p>
          <a:p>
            <a:r>
              <a:rPr lang="fr-FR" sz="900" dirty="0"/>
              <a:t>Formula:          </a:t>
            </a:r>
            <a:r>
              <a:rPr lang="fr-FR" sz="900" dirty="0" err="1"/>
              <a:t>RS_all</a:t>
            </a:r>
            <a:r>
              <a:rPr lang="fr-FR" sz="900" dirty="0"/>
              <a:t> ~ </a:t>
            </a:r>
            <a:r>
              <a:rPr lang="fr-FR" sz="900" dirty="0" err="1"/>
              <a:t>G_all_cercle</a:t>
            </a:r>
            <a:r>
              <a:rPr lang="fr-FR" sz="900" dirty="0"/>
              <a:t> + veg1 </a:t>
            </a:r>
            <a:r>
              <a:rPr lang="fr-FR" sz="900" dirty="0">
                <a:highlight>
                  <a:srgbClr val="00FF00"/>
                </a:highlight>
              </a:rPr>
              <a:t>+ I(</a:t>
            </a:r>
            <a:r>
              <a:rPr lang="fr-FR" sz="900" dirty="0" err="1">
                <a:highlight>
                  <a:srgbClr val="00FF00"/>
                </a:highlight>
              </a:rPr>
              <a:t>MEL_cercle</a:t>
            </a:r>
            <a:r>
              <a:rPr lang="fr-FR" sz="900" dirty="0">
                <a:highlight>
                  <a:srgbClr val="00FF00"/>
                </a:highlight>
              </a:rPr>
              <a:t>/100) </a:t>
            </a:r>
            <a:r>
              <a:rPr lang="fr-FR" sz="900" dirty="0"/>
              <a:t>+ </a:t>
            </a:r>
            <a:r>
              <a:rPr lang="fr-FR" sz="900" dirty="0">
                <a:highlight>
                  <a:srgbClr val="FFFF00"/>
                </a:highlight>
              </a:rPr>
              <a:t>I((</a:t>
            </a:r>
            <a:r>
              <a:rPr lang="fr-FR" sz="900" dirty="0" err="1">
                <a:highlight>
                  <a:srgbClr val="FFFF00"/>
                </a:highlight>
              </a:rPr>
              <a:t>MEL_cercle</a:t>
            </a:r>
            <a:r>
              <a:rPr lang="fr-FR" sz="900" dirty="0">
                <a:highlight>
                  <a:srgbClr val="FFFF00"/>
                </a:highlight>
              </a:rPr>
              <a:t>/100)^2)</a:t>
            </a:r>
            <a:r>
              <a:rPr lang="fr-FR" sz="900" dirty="0"/>
              <a:t> +      (1 | plot)</a:t>
            </a:r>
          </a:p>
          <a:p>
            <a:r>
              <a:rPr lang="fr-FR" sz="900" dirty="0"/>
              <a:t>Data: </a:t>
            </a:r>
            <a:r>
              <a:rPr lang="fr-FR" sz="900" dirty="0" err="1"/>
              <a:t>Carab.Rel.Env</a:t>
            </a:r>
            <a:endParaRPr lang="fr-FR" sz="900" dirty="0"/>
          </a:p>
          <a:p>
            <a:endParaRPr lang="fr-FR" sz="900" dirty="0"/>
          </a:p>
          <a:p>
            <a:r>
              <a:rPr lang="fr-FR" sz="900" dirty="0"/>
              <a:t>      AIC       BIC    </a:t>
            </a:r>
            <a:r>
              <a:rPr lang="fr-FR" sz="900" dirty="0" err="1"/>
              <a:t>logLik</a:t>
            </a:r>
            <a:r>
              <a:rPr lang="fr-FR" sz="900" dirty="0"/>
              <a:t> -2*log(L)  </a:t>
            </a:r>
            <a:r>
              <a:rPr lang="fr-FR" sz="900" dirty="0" err="1"/>
              <a:t>df.resid</a:t>
            </a:r>
            <a:r>
              <a:rPr lang="fr-FR" sz="900" dirty="0"/>
              <a:t> </a:t>
            </a:r>
          </a:p>
          <a:p>
            <a:r>
              <a:rPr lang="fr-FR" sz="900" dirty="0"/>
              <a:t>    288.9     304.4    -137.4     274.9        61 </a:t>
            </a:r>
          </a:p>
          <a:p>
            <a:endParaRPr lang="fr-FR" sz="900" dirty="0"/>
          </a:p>
          <a:p>
            <a:r>
              <a:rPr lang="fr-FR" sz="900" dirty="0" err="1"/>
              <a:t>Random</a:t>
            </a:r>
            <a:r>
              <a:rPr lang="fr-FR" sz="900" dirty="0"/>
              <a:t> </a:t>
            </a:r>
            <a:r>
              <a:rPr lang="fr-FR" sz="900" dirty="0" err="1"/>
              <a:t>effects</a:t>
            </a:r>
            <a:r>
              <a:rPr lang="fr-FR" sz="900" dirty="0"/>
              <a:t>:</a:t>
            </a:r>
          </a:p>
          <a:p>
            <a:endParaRPr lang="fr-FR" sz="900" dirty="0"/>
          </a:p>
          <a:p>
            <a:r>
              <a:rPr lang="fr-FR" sz="900" dirty="0" err="1"/>
              <a:t>Conditional</a:t>
            </a:r>
            <a:r>
              <a:rPr lang="fr-FR" sz="900" dirty="0"/>
              <a:t> model:</a:t>
            </a:r>
          </a:p>
          <a:p>
            <a:r>
              <a:rPr lang="fr-FR" sz="900" dirty="0"/>
              <a:t> Groups Name        Variance  </a:t>
            </a:r>
            <a:r>
              <a:rPr lang="fr-FR" sz="900" dirty="0" err="1"/>
              <a:t>Std.Dev</a:t>
            </a:r>
            <a:r>
              <a:rPr lang="fr-FR" sz="900" dirty="0"/>
              <a:t>. </a:t>
            </a:r>
          </a:p>
          <a:p>
            <a:r>
              <a:rPr lang="fr-FR" sz="900" dirty="0"/>
              <a:t> plot   (Intercept) 1.455e-10 1.206e-05</a:t>
            </a:r>
          </a:p>
          <a:p>
            <a:r>
              <a:rPr lang="fr-FR" sz="900" dirty="0" err="1"/>
              <a:t>Number</a:t>
            </a:r>
            <a:r>
              <a:rPr lang="fr-FR" sz="900" dirty="0"/>
              <a:t> of </a:t>
            </a:r>
            <a:r>
              <a:rPr lang="fr-FR" sz="900" dirty="0" err="1"/>
              <a:t>obs</a:t>
            </a:r>
            <a:r>
              <a:rPr lang="fr-FR" sz="900" dirty="0"/>
              <a:t>: 68, groups:  plot, 22</a:t>
            </a:r>
          </a:p>
          <a:p>
            <a:endParaRPr lang="fr-FR" sz="900" dirty="0"/>
          </a:p>
          <a:p>
            <a:r>
              <a:rPr lang="fr-FR" sz="900" dirty="0" err="1"/>
              <a:t>Conditional</a:t>
            </a:r>
            <a:r>
              <a:rPr lang="fr-FR" sz="900" dirty="0"/>
              <a:t> model:</a:t>
            </a:r>
          </a:p>
          <a:p>
            <a:r>
              <a:rPr lang="fr-FR" sz="900" dirty="0"/>
              <a:t>                       </a:t>
            </a:r>
            <a:r>
              <a:rPr lang="fr-FR" sz="900" dirty="0" err="1"/>
              <a:t>Estimate</a:t>
            </a:r>
            <a:r>
              <a:rPr lang="fr-FR" sz="900" dirty="0"/>
              <a:t> Std. </a:t>
            </a:r>
            <a:r>
              <a:rPr lang="fr-FR" sz="900" dirty="0" err="1"/>
              <a:t>Error</a:t>
            </a:r>
            <a:r>
              <a:rPr lang="fr-FR" sz="900" dirty="0"/>
              <a:t> z value Pr(&gt;|z|)    </a:t>
            </a:r>
          </a:p>
          <a:p>
            <a:r>
              <a:rPr lang="fr-FR" sz="900" dirty="0"/>
              <a:t>(Intercept)            1.396923   0.210976   6.621 3.56e-11 ***</a:t>
            </a:r>
          </a:p>
          <a:p>
            <a:r>
              <a:rPr lang="fr-FR" sz="900" dirty="0" err="1"/>
              <a:t>G_all_cercle</a:t>
            </a:r>
            <a:r>
              <a:rPr lang="fr-FR" sz="900" dirty="0"/>
              <a:t>           0.006280   0.006368   0.986    0.324    </a:t>
            </a:r>
          </a:p>
          <a:p>
            <a:r>
              <a:rPr lang="fr-FR" sz="900" dirty="0"/>
              <a:t>veg1MOL                0.032168   0.125677   0.256    0.798    </a:t>
            </a:r>
          </a:p>
          <a:p>
            <a:r>
              <a:rPr lang="fr-FR" sz="900" dirty="0"/>
              <a:t>veg1Other             -0.072127   0.174733  -0.413    0.680    </a:t>
            </a:r>
          </a:p>
          <a:p>
            <a:r>
              <a:rPr lang="fr-FR" sz="900" dirty="0">
                <a:highlight>
                  <a:srgbClr val="00FF00"/>
                </a:highlight>
              </a:rPr>
              <a:t>I(</a:t>
            </a:r>
            <a:r>
              <a:rPr lang="fr-FR" sz="900" dirty="0" err="1">
                <a:highlight>
                  <a:srgbClr val="00FF00"/>
                </a:highlight>
              </a:rPr>
              <a:t>MEL_cercle</a:t>
            </a:r>
            <a:r>
              <a:rPr lang="fr-FR" sz="900" dirty="0">
                <a:highlight>
                  <a:srgbClr val="00FF00"/>
                </a:highlight>
              </a:rPr>
              <a:t>/100)      0.813965   0.555211   1.466    0.143    </a:t>
            </a:r>
          </a:p>
          <a:p>
            <a:r>
              <a:rPr lang="fr-FR" sz="900" dirty="0">
                <a:highlight>
                  <a:srgbClr val="FFFF00"/>
                </a:highlight>
              </a:rPr>
              <a:t>I((</a:t>
            </a:r>
            <a:r>
              <a:rPr lang="fr-FR" sz="900" dirty="0" err="1">
                <a:highlight>
                  <a:srgbClr val="FFFF00"/>
                </a:highlight>
              </a:rPr>
              <a:t>MEL_cercle</a:t>
            </a:r>
            <a:r>
              <a:rPr lang="fr-FR" sz="900" dirty="0">
                <a:highlight>
                  <a:srgbClr val="FFFF00"/>
                </a:highlight>
              </a:rPr>
              <a:t>/100)^2) -0.519722   0.539544  -0.963    0.335    </a:t>
            </a:r>
          </a:p>
          <a:p>
            <a:r>
              <a:rPr lang="fr-FR" sz="900" dirty="0"/>
              <a:t>---</a:t>
            </a:r>
          </a:p>
          <a:p>
            <a:r>
              <a:rPr lang="fr-FR" sz="900" dirty="0" err="1"/>
              <a:t>Signif</a:t>
            </a:r>
            <a:r>
              <a:rPr lang="fr-FR" sz="900" dirty="0"/>
              <a:t>. codes:  0 ‘***’ 0.001 ‘**’ 0.01 ‘*’ 0.05 ‘.’ 0.1 ‘ ’ 1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0D226D8-B00D-8382-C0E9-B5A9356E639C}"/>
              </a:ext>
            </a:extLst>
          </p:cNvPr>
          <p:cNvSpPr txBox="1"/>
          <p:nvPr/>
        </p:nvSpPr>
        <p:spPr>
          <a:xfrm>
            <a:off x="8149627" y="3292789"/>
            <a:ext cx="246460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&gt; </a:t>
            </a:r>
            <a:r>
              <a:rPr lang="fr-FR" sz="900" dirty="0" err="1"/>
              <a:t>summary</a:t>
            </a:r>
            <a:r>
              <a:rPr lang="fr-FR" sz="900" dirty="0"/>
              <a:t>(</a:t>
            </a:r>
            <a:r>
              <a:rPr lang="fr-FR" sz="900" dirty="0" err="1"/>
              <a:t>glmm_RS_all</a:t>
            </a:r>
            <a:r>
              <a:rPr lang="fr-FR" sz="900" dirty="0"/>
              <a:t>) #simple </a:t>
            </a:r>
            <a:r>
              <a:rPr lang="fr-FR" sz="900" dirty="0" err="1"/>
              <a:t>effect</a:t>
            </a:r>
            <a:r>
              <a:rPr lang="fr-FR" sz="900" dirty="0"/>
              <a:t>, p=0.0377, AIC=284.3</a:t>
            </a:r>
          </a:p>
          <a:p>
            <a:r>
              <a:rPr lang="fr-FR" sz="900" dirty="0"/>
              <a:t> Family: poisson  ( log )</a:t>
            </a:r>
          </a:p>
          <a:p>
            <a:r>
              <a:rPr lang="fr-FR" sz="900" dirty="0"/>
              <a:t>Formula:          </a:t>
            </a:r>
            <a:r>
              <a:rPr lang="fr-FR" sz="900" dirty="0" err="1"/>
              <a:t>RS_all</a:t>
            </a:r>
            <a:r>
              <a:rPr lang="fr-FR" sz="900" dirty="0"/>
              <a:t> ~ </a:t>
            </a:r>
            <a:r>
              <a:rPr lang="fr-FR" sz="900" dirty="0" err="1"/>
              <a:t>G_all_cercle</a:t>
            </a:r>
            <a:r>
              <a:rPr lang="fr-FR" sz="900" dirty="0"/>
              <a:t> + veg1 </a:t>
            </a:r>
            <a:r>
              <a:rPr lang="fr-FR" sz="900" dirty="0">
                <a:highlight>
                  <a:srgbClr val="00FF00"/>
                </a:highlight>
              </a:rPr>
              <a:t>+ I(</a:t>
            </a:r>
            <a:r>
              <a:rPr lang="fr-FR" sz="900" dirty="0" err="1">
                <a:highlight>
                  <a:srgbClr val="00FF00"/>
                </a:highlight>
              </a:rPr>
              <a:t>MEL_cercle</a:t>
            </a:r>
            <a:r>
              <a:rPr lang="fr-FR" sz="900" dirty="0">
                <a:highlight>
                  <a:srgbClr val="00FF00"/>
                </a:highlight>
              </a:rPr>
              <a:t>/100) </a:t>
            </a:r>
            <a:r>
              <a:rPr lang="fr-FR" sz="900" dirty="0"/>
              <a:t>+ (1 | plot)</a:t>
            </a:r>
          </a:p>
          <a:p>
            <a:r>
              <a:rPr lang="fr-FR" sz="900" dirty="0"/>
              <a:t>Data: </a:t>
            </a:r>
            <a:r>
              <a:rPr lang="fr-FR" sz="900" dirty="0" err="1"/>
              <a:t>Carab.Rel.Env</a:t>
            </a:r>
            <a:endParaRPr lang="fr-FR" sz="900" dirty="0"/>
          </a:p>
          <a:p>
            <a:endParaRPr lang="fr-FR" sz="900" dirty="0"/>
          </a:p>
          <a:p>
            <a:r>
              <a:rPr lang="fr-FR" sz="900" dirty="0"/>
              <a:t>      AIC       BIC    </a:t>
            </a:r>
            <a:r>
              <a:rPr lang="fr-FR" sz="900" dirty="0" err="1"/>
              <a:t>logLik</a:t>
            </a:r>
            <a:r>
              <a:rPr lang="fr-FR" sz="900" dirty="0"/>
              <a:t> -2*log(L)  </a:t>
            </a:r>
            <a:r>
              <a:rPr lang="fr-FR" sz="900" dirty="0" err="1"/>
              <a:t>df.resid</a:t>
            </a:r>
            <a:r>
              <a:rPr lang="fr-FR" sz="900" dirty="0"/>
              <a:t> </a:t>
            </a:r>
          </a:p>
          <a:p>
            <a:r>
              <a:rPr lang="fr-FR" sz="900" dirty="0"/>
              <a:t>    287.8     301.1    -137.9     275.8        62 </a:t>
            </a:r>
          </a:p>
          <a:p>
            <a:endParaRPr lang="fr-FR" sz="900" dirty="0"/>
          </a:p>
          <a:p>
            <a:r>
              <a:rPr lang="fr-FR" sz="900" dirty="0" err="1"/>
              <a:t>Random</a:t>
            </a:r>
            <a:r>
              <a:rPr lang="fr-FR" sz="900" dirty="0"/>
              <a:t> </a:t>
            </a:r>
            <a:r>
              <a:rPr lang="fr-FR" sz="900" dirty="0" err="1"/>
              <a:t>effects</a:t>
            </a:r>
            <a:r>
              <a:rPr lang="fr-FR" sz="900" dirty="0"/>
              <a:t>:</a:t>
            </a:r>
          </a:p>
          <a:p>
            <a:endParaRPr lang="fr-FR" sz="900" dirty="0"/>
          </a:p>
          <a:p>
            <a:r>
              <a:rPr lang="fr-FR" sz="900" dirty="0" err="1"/>
              <a:t>Conditional</a:t>
            </a:r>
            <a:r>
              <a:rPr lang="fr-FR" sz="900" dirty="0"/>
              <a:t> model:</a:t>
            </a:r>
          </a:p>
          <a:p>
            <a:r>
              <a:rPr lang="fr-FR" sz="900" dirty="0"/>
              <a:t> Groups Name        Variance  </a:t>
            </a:r>
            <a:r>
              <a:rPr lang="fr-FR" sz="900" dirty="0" err="1"/>
              <a:t>Std.Dev</a:t>
            </a:r>
            <a:r>
              <a:rPr lang="fr-FR" sz="900" dirty="0"/>
              <a:t>. </a:t>
            </a:r>
          </a:p>
          <a:p>
            <a:r>
              <a:rPr lang="fr-FR" sz="900" dirty="0"/>
              <a:t> plot   (Intercept) 2.346e-10 1.532e-05</a:t>
            </a:r>
          </a:p>
          <a:p>
            <a:r>
              <a:rPr lang="fr-FR" sz="900" dirty="0" err="1"/>
              <a:t>Number</a:t>
            </a:r>
            <a:r>
              <a:rPr lang="fr-FR" sz="900" dirty="0"/>
              <a:t> of </a:t>
            </a:r>
            <a:r>
              <a:rPr lang="fr-FR" sz="900" dirty="0" err="1"/>
              <a:t>obs</a:t>
            </a:r>
            <a:r>
              <a:rPr lang="fr-FR" sz="900" dirty="0"/>
              <a:t>: 68, groups:  plot, 22</a:t>
            </a:r>
          </a:p>
          <a:p>
            <a:endParaRPr lang="fr-FR" sz="900" dirty="0"/>
          </a:p>
          <a:p>
            <a:r>
              <a:rPr lang="fr-FR" sz="900" dirty="0" err="1"/>
              <a:t>Conditional</a:t>
            </a:r>
            <a:r>
              <a:rPr lang="fr-FR" sz="900" dirty="0"/>
              <a:t> model:</a:t>
            </a:r>
          </a:p>
          <a:p>
            <a:r>
              <a:rPr lang="fr-FR" sz="900" dirty="0"/>
              <a:t>                   </a:t>
            </a:r>
            <a:r>
              <a:rPr lang="fr-FR" sz="900" dirty="0" err="1"/>
              <a:t>Estimate</a:t>
            </a:r>
            <a:r>
              <a:rPr lang="fr-FR" sz="900" dirty="0"/>
              <a:t> Std. </a:t>
            </a:r>
            <a:r>
              <a:rPr lang="fr-FR" sz="900" dirty="0" err="1"/>
              <a:t>Error</a:t>
            </a:r>
            <a:r>
              <a:rPr lang="fr-FR" sz="900" dirty="0"/>
              <a:t> z value Pr(&gt;|z|)    </a:t>
            </a:r>
          </a:p>
          <a:p>
            <a:r>
              <a:rPr lang="fr-FR" sz="900" dirty="0"/>
              <a:t>(Intercept)        1.430498   0.205762   6.952  3.6e-12 ***</a:t>
            </a:r>
          </a:p>
          <a:p>
            <a:r>
              <a:rPr lang="fr-FR" sz="900" dirty="0" err="1"/>
              <a:t>G_all_cercle</a:t>
            </a:r>
            <a:r>
              <a:rPr lang="fr-FR" sz="900" dirty="0"/>
              <a:t>       0.006920   0.006301   1.098   0.2721    </a:t>
            </a:r>
          </a:p>
          <a:p>
            <a:r>
              <a:rPr lang="fr-FR" sz="900" dirty="0"/>
              <a:t>veg1MOL            0.044347   0.125335   0.354   0.7235    </a:t>
            </a:r>
          </a:p>
          <a:p>
            <a:r>
              <a:rPr lang="fr-FR" sz="900" dirty="0"/>
              <a:t>veg1Other         -0.086136   0.174228  -0.494   0.6210    </a:t>
            </a:r>
          </a:p>
          <a:p>
            <a:r>
              <a:rPr lang="fr-FR" sz="900" dirty="0">
                <a:highlight>
                  <a:srgbClr val="00FF00"/>
                </a:highlight>
              </a:rPr>
              <a:t>I(</a:t>
            </a:r>
            <a:r>
              <a:rPr lang="fr-FR" sz="900" dirty="0" err="1">
                <a:highlight>
                  <a:srgbClr val="00FF00"/>
                </a:highlight>
              </a:rPr>
              <a:t>MEL_cercle</a:t>
            </a:r>
            <a:r>
              <a:rPr lang="fr-FR" sz="900" dirty="0">
                <a:highlight>
                  <a:srgbClr val="00FF00"/>
                </a:highlight>
              </a:rPr>
              <a:t>/100)  0.297481   0.143587   2.072   0.0383 *  </a:t>
            </a:r>
          </a:p>
          <a:p>
            <a:r>
              <a:rPr lang="fr-FR" sz="900" dirty="0"/>
              <a:t>---</a:t>
            </a:r>
          </a:p>
          <a:p>
            <a:r>
              <a:rPr lang="fr-FR" sz="900" dirty="0" err="1"/>
              <a:t>Signif</a:t>
            </a:r>
            <a:r>
              <a:rPr lang="fr-FR" sz="900" dirty="0"/>
              <a:t>. codes:  0 ‘***’ 0.001 ‘**’ 0.01 ‘*’ 0.05 ‘.’ 0.1 ‘ ’ 1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DD3D11A-426E-52E7-E277-4707C5C87DFA}"/>
              </a:ext>
            </a:extLst>
          </p:cNvPr>
          <p:cNvSpPr txBox="1"/>
          <p:nvPr/>
        </p:nvSpPr>
        <p:spPr>
          <a:xfrm>
            <a:off x="4296803" y="5642649"/>
            <a:ext cx="3598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Augmentation linéaire de la RS avec le taux de feuillus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EF65D580-940A-4C6A-A52D-8F0813052FA4}"/>
              </a:ext>
            </a:extLst>
          </p:cNvPr>
          <p:cNvCxnSpPr/>
          <p:nvPr/>
        </p:nvCxnSpPr>
        <p:spPr>
          <a:xfrm>
            <a:off x="6927073" y="6071879"/>
            <a:ext cx="1222554" cy="217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CBEA2C73-787D-4419-1817-2E8905CC370E}"/>
              </a:ext>
            </a:extLst>
          </p:cNvPr>
          <p:cNvSpPr txBox="1"/>
          <p:nvPr/>
        </p:nvSpPr>
        <p:spPr>
          <a:xfrm>
            <a:off x="4953548" y="33503"/>
            <a:ext cx="6887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Analyse en GLMM avec effet aléatoire parcelle et effets fixe, surface terrière totale, % de végétation du sous-bois et % de feuillus soit simple soit quadratique)</a:t>
            </a:r>
          </a:p>
        </p:txBody>
      </p:sp>
    </p:spTree>
    <p:extLst>
      <p:ext uri="{BB962C8B-B14F-4D97-AF65-F5344CB8AC3E}">
        <p14:creationId xmlns:p14="http://schemas.microsoft.com/office/powerpoint/2010/main" val="4136451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223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carabiques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46FF9E4-C21B-79EE-8F5B-1421D76B584B}"/>
              </a:ext>
            </a:extLst>
          </p:cNvPr>
          <p:cNvSpPr txBox="1"/>
          <p:nvPr/>
        </p:nvSpPr>
        <p:spPr>
          <a:xfrm>
            <a:off x="122334" y="646197"/>
            <a:ext cx="4511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GAM abondance totale par piège fonction taux de mélange (feuillus)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D1DA4DD-53AB-EFD5-B675-88552FD7D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603"/>
            <a:ext cx="3968727" cy="2523649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7B880CFB-0797-1704-F212-BD3EBB41CFEA}"/>
              </a:ext>
            </a:extLst>
          </p:cNvPr>
          <p:cNvSpPr txBox="1"/>
          <p:nvPr/>
        </p:nvSpPr>
        <p:spPr>
          <a:xfrm>
            <a:off x="983955" y="5605544"/>
            <a:ext cx="3486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</a:rPr>
              <a:t>Effet plutôt linéaire du taux de feuillus sur l’abondance totale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92C5018-48B6-2535-5AC4-D50556AC340B}"/>
              </a:ext>
            </a:extLst>
          </p:cNvPr>
          <p:cNvSpPr txBox="1"/>
          <p:nvPr/>
        </p:nvSpPr>
        <p:spPr>
          <a:xfrm>
            <a:off x="4912433" y="131774"/>
            <a:ext cx="2973115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&gt; </a:t>
            </a:r>
            <a:r>
              <a:rPr lang="fr-FR" sz="1000" dirty="0" err="1"/>
              <a:t>summary</a:t>
            </a:r>
            <a:r>
              <a:rPr lang="fr-FR" sz="1000" dirty="0"/>
              <a:t>(</a:t>
            </a:r>
            <a:r>
              <a:rPr lang="fr-FR" sz="1000" dirty="0" err="1"/>
              <a:t>glmm_Abdce_all</a:t>
            </a:r>
            <a:r>
              <a:rPr lang="fr-FR" sz="1000" dirty="0"/>
              <a:t>)#G </a:t>
            </a:r>
            <a:r>
              <a:rPr lang="fr-FR" sz="1000" dirty="0" err="1"/>
              <a:t>coeff</a:t>
            </a:r>
            <a:r>
              <a:rPr lang="fr-FR" sz="1000" dirty="0"/>
              <a:t>=0.06 p=0.03, MEL </a:t>
            </a:r>
            <a:r>
              <a:rPr lang="fr-FR" sz="1000" dirty="0" err="1"/>
              <a:t>coeff</a:t>
            </a:r>
            <a:r>
              <a:rPr lang="fr-FR" sz="1000" dirty="0"/>
              <a:t>=1.42 p=0.036, MEL^2 </a:t>
            </a:r>
            <a:r>
              <a:rPr lang="fr-FR" sz="1000" dirty="0" err="1"/>
              <a:t>coeff</a:t>
            </a:r>
            <a:r>
              <a:rPr lang="fr-FR" sz="1000" dirty="0"/>
              <a:t>=-0.91 p=0.145 AIC 539.7</a:t>
            </a:r>
          </a:p>
          <a:p>
            <a:r>
              <a:rPr lang="fr-FR" sz="1000" dirty="0"/>
              <a:t> Family: </a:t>
            </a:r>
            <a:r>
              <a:rPr lang="fr-FR" sz="1000" dirty="0">
                <a:highlight>
                  <a:srgbClr val="00FFFF"/>
                </a:highlight>
              </a:rPr>
              <a:t>nbinom1  ( log )</a:t>
            </a:r>
          </a:p>
          <a:p>
            <a:r>
              <a:rPr lang="fr-FR" sz="1000" dirty="0"/>
              <a:t>Formula:          </a:t>
            </a:r>
            <a:r>
              <a:rPr lang="fr-FR" sz="1000" dirty="0" err="1"/>
              <a:t>Abdce_all</a:t>
            </a:r>
            <a:r>
              <a:rPr lang="fr-FR" sz="1000" dirty="0"/>
              <a:t> ~ </a:t>
            </a:r>
            <a:r>
              <a:rPr lang="fr-FR" sz="1000" dirty="0" err="1"/>
              <a:t>G_all</a:t>
            </a:r>
            <a:r>
              <a:rPr lang="fr-FR" sz="1000" dirty="0"/>
              <a:t> + veg1 + </a:t>
            </a:r>
            <a:r>
              <a:rPr lang="fr-FR" sz="1000" dirty="0">
                <a:highlight>
                  <a:srgbClr val="00FF00"/>
                </a:highlight>
              </a:rPr>
              <a:t>I(</a:t>
            </a:r>
            <a:r>
              <a:rPr lang="fr-FR" sz="1000" dirty="0" err="1">
                <a:highlight>
                  <a:srgbClr val="00FF00"/>
                </a:highlight>
              </a:rPr>
              <a:t>MEL_cercle</a:t>
            </a:r>
            <a:r>
              <a:rPr lang="fr-FR" sz="1000" dirty="0">
                <a:highlight>
                  <a:srgbClr val="00FF00"/>
                </a:highlight>
              </a:rPr>
              <a:t>/100) </a:t>
            </a:r>
            <a:r>
              <a:rPr lang="fr-FR" sz="1000" dirty="0"/>
              <a:t>+ </a:t>
            </a:r>
            <a:r>
              <a:rPr lang="fr-FR" sz="1000" dirty="0">
                <a:highlight>
                  <a:srgbClr val="FFFF00"/>
                </a:highlight>
              </a:rPr>
              <a:t>I((</a:t>
            </a:r>
            <a:r>
              <a:rPr lang="fr-FR" sz="1000" dirty="0" err="1">
                <a:highlight>
                  <a:srgbClr val="FFFF00"/>
                </a:highlight>
              </a:rPr>
              <a:t>MEL_cercle</a:t>
            </a:r>
            <a:r>
              <a:rPr lang="fr-FR" sz="1000" dirty="0">
                <a:highlight>
                  <a:srgbClr val="FFFF00"/>
                </a:highlight>
              </a:rPr>
              <a:t>/100)^2) </a:t>
            </a:r>
            <a:r>
              <a:rPr lang="fr-FR" sz="1000" dirty="0"/>
              <a:t>+      (1 | plot)</a:t>
            </a:r>
          </a:p>
          <a:p>
            <a:r>
              <a:rPr lang="fr-FR" sz="1000" dirty="0"/>
              <a:t>Data: </a:t>
            </a:r>
            <a:r>
              <a:rPr lang="fr-FR" sz="1000" dirty="0" err="1"/>
              <a:t>Carab.Rel.Env</a:t>
            </a:r>
            <a:endParaRPr lang="fr-FR" sz="1000" dirty="0"/>
          </a:p>
          <a:p>
            <a:r>
              <a:rPr lang="fr-FR" sz="1000" dirty="0"/>
              <a:t>      AIC       BIC    </a:t>
            </a:r>
            <a:r>
              <a:rPr lang="fr-FR" sz="1000" dirty="0" err="1"/>
              <a:t>logLik</a:t>
            </a:r>
            <a:r>
              <a:rPr lang="fr-FR" sz="1000" dirty="0"/>
              <a:t> -2*log(L)  </a:t>
            </a:r>
            <a:r>
              <a:rPr lang="fr-FR" sz="1000" dirty="0" err="1"/>
              <a:t>df.resid</a:t>
            </a:r>
            <a:r>
              <a:rPr lang="fr-FR" sz="1000" dirty="0"/>
              <a:t> </a:t>
            </a:r>
          </a:p>
          <a:p>
            <a:r>
              <a:rPr lang="fr-FR" sz="1000" dirty="0"/>
              <a:t>    539.7     557.4    -261.8     523.7        60 </a:t>
            </a:r>
          </a:p>
          <a:p>
            <a:r>
              <a:rPr lang="fr-FR" sz="1000" dirty="0" err="1"/>
              <a:t>Random</a:t>
            </a:r>
            <a:r>
              <a:rPr lang="fr-FR" sz="1000" dirty="0"/>
              <a:t> </a:t>
            </a:r>
            <a:r>
              <a:rPr lang="fr-FR" sz="1000" dirty="0" err="1"/>
              <a:t>effects</a:t>
            </a:r>
            <a:r>
              <a:rPr lang="fr-FR" sz="1000" dirty="0"/>
              <a:t>:</a:t>
            </a:r>
          </a:p>
          <a:p>
            <a:r>
              <a:rPr lang="fr-FR" sz="1000" dirty="0" err="1"/>
              <a:t>Conditional</a:t>
            </a:r>
            <a:r>
              <a:rPr lang="fr-FR" sz="1000" dirty="0"/>
              <a:t> model:</a:t>
            </a:r>
          </a:p>
          <a:p>
            <a:r>
              <a:rPr lang="fr-FR" sz="1000" dirty="0"/>
              <a:t> Groups Name        Variance </a:t>
            </a:r>
            <a:r>
              <a:rPr lang="fr-FR" sz="1000" dirty="0" err="1"/>
              <a:t>Std.Dev</a:t>
            </a:r>
            <a:r>
              <a:rPr lang="fr-FR" sz="1000" dirty="0"/>
              <a:t>.</a:t>
            </a:r>
          </a:p>
          <a:p>
            <a:r>
              <a:rPr lang="fr-FR" sz="1000" dirty="0"/>
              <a:t> plot   (Intercept) 0.245    0.4949  </a:t>
            </a:r>
          </a:p>
          <a:p>
            <a:r>
              <a:rPr lang="fr-FR" sz="1000" dirty="0" err="1"/>
              <a:t>Number</a:t>
            </a:r>
            <a:r>
              <a:rPr lang="fr-FR" sz="1000" dirty="0"/>
              <a:t> of </a:t>
            </a:r>
            <a:r>
              <a:rPr lang="fr-FR" sz="1000" dirty="0" err="1"/>
              <a:t>obs</a:t>
            </a:r>
            <a:r>
              <a:rPr lang="fr-FR" sz="1000" dirty="0"/>
              <a:t>: 68, groups:  plot, 22</a:t>
            </a:r>
          </a:p>
          <a:p>
            <a:r>
              <a:rPr lang="fr-FR" sz="1000" dirty="0"/>
              <a:t>Dispersion </a:t>
            </a:r>
            <a:r>
              <a:rPr lang="fr-FR" sz="1000" dirty="0" err="1"/>
              <a:t>parameter</a:t>
            </a:r>
            <a:r>
              <a:rPr lang="fr-FR" sz="1000" dirty="0"/>
              <a:t> for nbinom1 </a:t>
            </a:r>
            <a:r>
              <a:rPr lang="fr-FR" sz="1000" dirty="0" err="1"/>
              <a:t>family</a:t>
            </a:r>
            <a:r>
              <a:rPr lang="fr-FR" sz="1000" dirty="0"/>
              <a:t> (): 2.09 </a:t>
            </a:r>
          </a:p>
          <a:p>
            <a:endParaRPr lang="fr-FR" sz="1000" dirty="0"/>
          </a:p>
          <a:p>
            <a:r>
              <a:rPr lang="fr-FR" sz="1000" dirty="0" err="1"/>
              <a:t>Conditional</a:t>
            </a:r>
            <a:r>
              <a:rPr lang="fr-FR" sz="1000" dirty="0"/>
              <a:t> model:</a:t>
            </a:r>
          </a:p>
          <a:p>
            <a:r>
              <a:rPr lang="fr-FR" sz="1000" dirty="0"/>
              <a:t>                      </a:t>
            </a:r>
            <a:r>
              <a:rPr lang="fr-FR" sz="1000" dirty="0" err="1"/>
              <a:t>Estimate</a:t>
            </a:r>
            <a:r>
              <a:rPr lang="fr-FR" sz="1000" dirty="0"/>
              <a:t> Std. </a:t>
            </a:r>
            <a:r>
              <a:rPr lang="fr-FR" sz="1000" dirty="0" err="1"/>
              <a:t>Error</a:t>
            </a:r>
            <a:r>
              <a:rPr lang="fr-FR" sz="1000" dirty="0"/>
              <a:t> z value Pr(&gt;|z|)  </a:t>
            </a:r>
          </a:p>
          <a:p>
            <a:r>
              <a:rPr lang="fr-FR" sz="1000" dirty="0"/>
              <a:t>(Intercept)            1.38388    0.77033   1.796   0.0724 .</a:t>
            </a:r>
          </a:p>
          <a:p>
            <a:r>
              <a:rPr lang="fr-FR" sz="1000" dirty="0" err="1"/>
              <a:t>G_all</a:t>
            </a:r>
            <a:r>
              <a:rPr lang="fr-FR" sz="1000" dirty="0"/>
              <a:t>                  0.06016    0.02952   2.038   0.0416 *</a:t>
            </a:r>
          </a:p>
          <a:p>
            <a:r>
              <a:rPr lang="fr-FR" sz="1000" dirty="0"/>
              <a:t>veg1MOL               -0.28034    0.13965  -2.007   0.0447 *</a:t>
            </a:r>
          </a:p>
          <a:p>
            <a:r>
              <a:rPr lang="fr-FR" sz="1000" dirty="0"/>
              <a:t>veg1Other             -0.27437    0.21138  -1.298   0.1943  </a:t>
            </a:r>
          </a:p>
          <a:p>
            <a:r>
              <a:rPr lang="fr-FR" sz="1000" dirty="0">
                <a:highlight>
                  <a:srgbClr val="00FF00"/>
                </a:highlight>
              </a:rPr>
              <a:t>I(</a:t>
            </a:r>
            <a:r>
              <a:rPr lang="fr-FR" sz="1000" dirty="0" err="1">
                <a:highlight>
                  <a:srgbClr val="00FF00"/>
                </a:highlight>
              </a:rPr>
              <a:t>MEL_cercle</a:t>
            </a:r>
            <a:r>
              <a:rPr lang="fr-FR" sz="1000" dirty="0">
                <a:highlight>
                  <a:srgbClr val="00FF00"/>
                </a:highlight>
              </a:rPr>
              <a:t>/100)      1.42003    0.67701   2.098   0.0360 *</a:t>
            </a:r>
          </a:p>
          <a:p>
            <a:r>
              <a:rPr lang="fr-FR" sz="1000" dirty="0">
                <a:highlight>
                  <a:srgbClr val="FFFF00"/>
                </a:highlight>
              </a:rPr>
              <a:t>I((</a:t>
            </a:r>
            <a:r>
              <a:rPr lang="fr-FR" sz="1000" dirty="0" err="1">
                <a:highlight>
                  <a:srgbClr val="FFFF00"/>
                </a:highlight>
              </a:rPr>
              <a:t>MEL_cercle</a:t>
            </a:r>
            <a:r>
              <a:rPr lang="fr-FR" sz="1000" dirty="0">
                <a:highlight>
                  <a:srgbClr val="FFFF00"/>
                </a:highlight>
              </a:rPr>
              <a:t>/100)^2) -0.91290    0.62634  -1.458   0.1450 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26E619A-17DC-B4DD-AE22-DEEC8E6556FF}"/>
              </a:ext>
            </a:extLst>
          </p:cNvPr>
          <p:cNvSpPr txBox="1"/>
          <p:nvPr/>
        </p:nvSpPr>
        <p:spPr>
          <a:xfrm>
            <a:off x="4971639" y="3726566"/>
            <a:ext cx="262840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&gt; </a:t>
            </a:r>
            <a:r>
              <a:rPr lang="fr-FR" sz="900" dirty="0" err="1"/>
              <a:t>summary</a:t>
            </a:r>
            <a:r>
              <a:rPr lang="fr-FR" sz="900" dirty="0"/>
              <a:t>(</a:t>
            </a:r>
            <a:r>
              <a:rPr lang="fr-FR" sz="900" dirty="0" err="1"/>
              <a:t>glmm_Abdce_all</a:t>
            </a:r>
            <a:r>
              <a:rPr lang="fr-FR" sz="900" dirty="0"/>
              <a:t>)#G </a:t>
            </a:r>
            <a:r>
              <a:rPr lang="fr-FR" sz="900" dirty="0" err="1"/>
              <a:t>coeff</a:t>
            </a:r>
            <a:r>
              <a:rPr lang="fr-FR" sz="900" dirty="0"/>
              <a:t>=0.06 p=0.03, MEL </a:t>
            </a:r>
            <a:r>
              <a:rPr lang="fr-FR" sz="900" dirty="0" err="1"/>
              <a:t>coeff</a:t>
            </a:r>
            <a:r>
              <a:rPr lang="fr-FR" sz="900" dirty="0"/>
              <a:t>=0.48 p=0.0291, AIC 539.7</a:t>
            </a:r>
          </a:p>
          <a:p>
            <a:r>
              <a:rPr lang="fr-FR" sz="900" dirty="0"/>
              <a:t> Family: </a:t>
            </a:r>
            <a:r>
              <a:rPr lang="fr-FR" sz="900" dirty="0">
                <a:highlight>
                  <a:srgbClr val="00FFFF"/>
                </a:highlight>
              </a:rPr>
              <a:t>nbinom1  ( log )</a:t>
            </a:r>
          </a:p>
          <a:p>
            <a:r>
              <a:rPr lang="fr-FR" sz="900" dirty="0"/>
              <a:t>Formula:          </a:t>
            </a:r>
            <a:r>
              <a:rPr lang="fr-FR" sz="900" dirty="0" err="1"/>
              <a:t>Abdce_all</a:t>
            </a:r>
            <a:r>
              <a:rPr lang="fr-FR" sz="900" dirty="0"/>
              <a:t> ~ </a:t>
            </a:r>
            <a:r>
              <a:rPr lang="fr-FR" sz="900" dirty="0" err="1"/>
              <a:t>G_all</a:t>
            </a:r>
            <a:r>
              <a:rPr lang="fr-FR" sz="900" dirty="0"/>
              <a:t> + veg1 + I(</a:t>
            </a:r>
            <a:r>
              <a:rPr lang="fr-FR" sz="900" dirty="0" err="1"/>
              <a:t>MEL_cercle</a:t>
            </a:r>
            <a:r>
              <a:rPr lang="fr-FR" sz="900" dirty="0"/>
              <a:t>/100) + (1 | plot)</a:t>
            </a:r>
          </a:p>
          <a:p>
            <a:r>
              <a:rPr lang="fr-FR" sz="900" dirty="0"/>
              <a:t>Data: </a:t>
            </a:r>
            <a:r>
              <a:rPr lang="fr-FR" sz="900" dirty="0" err="1"/>
              <a:t>Carab.Rel.Env</a:t>
            </a:r>
            <a:endParaRPr lang="fr-FR" sz="900" dirty="0"/>
          </a:p>
          <a:p>
            <a:r>
              <a:rPr lang="fr-FR" sz="900" dirty="0"/>
              <a:t>      AIC       BIC    </a:t>
            </a:r>
            <a:r>
              <a:rPr lang="fr-FR" sz="900" dirty="0" err="1"/>
              <a:t>logLik</a:t>
            </a:r>
            <a:r>
              <a:rPr lang="fr-FR" sz="900" dirty="0"/>
              <a:t> -2*log(L)  </a:t>
            </a:r>
            <a:r>
              <a:rPr lang="fr-FR" sz="900" dirty="0" err="1"/>
              <a:t>df.resid</a:t>
            </a:r>
            <a:r>
              <a:rPr lang="fr-FR" sz="900" dirty="0"/>
              <a:t> </a:t>
            </a:r>
          </a:p>
          <a:p>
            <a:r>
              <a:rPr lang="fr-FR" sz="900" dirty="0"/>
              <a:t>    539.7     555.3    -262.9     525.7        61 </a:t>
            </a:r>
          </a:p>
          <a:p>
            <a:r>
              <a:rPr lang="fr-FR" sz="900" dirty="0" err="1"/>
              <a:t>Random</a:t>
            </a:r>
            <a:r>
              <a:rPr lang="fr-FR" sz="900" dirty="0"/>
              <a:t> </a:t>
            </a:r>
            <a:r>
              <a:rPr lang="fr-FR" sz="900" dirty="0" err="1"/>
              <a:t>effects</a:t>
            </a:r>
            <a:r>
              <a:rPr lang="fr-FR" sz="900" dirty="0"/>
              <a:t>:</a:t>
            </a:r>
          </a:p>
          <a:p>
            <a:r>
              <a:rPr lang="fr-FR" sz="900" dirty="0" err="1"/>
              <a:t>Conditional</a:t>
            </a:r>
            <a:r>
              <a:rPr lang="fr-FR" sz="900" dirty="0"/>
              <a:t> model:</a:t>
            </a:r>
          </a:p>
          <a:p>
            <a:r>
              <a:rPr lang="fr-FR" sz="900" dirty="0"/>
              <a:t> Groups Name        Variance </a:t>
            </a:r>
            <a:r>
              <a:rPr lang="fr-FR" sz="900" dirty="0" err="1"/>
              <a:t>Std.Dev</a:t>
            </a:r>
            <a:r>
              <a:rPr lang="fr-FR" sz="900" dirty="0"/>
              <a:t>.</a:t>
            </a:r>
          </a:p>
          <a:p>
            <a:r>
              <a:rPr lang="fr-FR" sz="900" dirty="0"/>
              <a:t> plot   (Intercept) 0.2359   0.4857  </a:t>
            </a:r>
          </a:p>
          <a:p>
            <a:r>
              <a:rPr lang="fr-FR" sz="900" dirty="0" err="1"/>
              <a:t>Number</a:t>
            </a:r>
            <a:r>
              <a:rPr lang="fr-FR" sz="900" dirty="0"/>
              <a:t> of </a:t>
            </a:r>
            <a:r>
              <a:rPr lang="fr-FR" sz="900" dirty="0" err="1"/>
              <a:t>obs</a:t>
            </a:r>
            <a:r>
              <a:rPr lang="fr-FR" sz="900" dirty="0"/>
              <a:t>: 68, groups:  plot, 22</a:t>
            </a:r>
          </a:p>
          <a:p>
            <a:r>
              <a:rPr lang="fr-FR" sz="900" dirty="0"/>
              <a:t>Dispersion </a:t>
            </a:r>
            <a:r>
              <a:rPr lang="fr-FR" sz="900" dirty="0" err="1"/>
              <a:t>parameter</a:t>
            </a:r>
            <a:r>
              <a:rPr lang="fr-FR" sz="900" dirty="0"/>
              <a:t> for nbinom1 </a:t>
            </a:r>
            <a:r>
              <a:rPr lang="fr-FR" sz="900" dirty="0" err="1"/>
              <a:t>family</a:t>
            </a:r>
            <a:r>
              <a:rPr lang="fr-FR" sz="900" dirty="0"/>
              <a:t> (): 2.27 </a:t>
            </a:r>
          </a:p>
          <a:p>
            <a:endParaRPr lang="fr-FR" sz="900" dirty="0"/>
          </a:p>
          <a:p>
            <a:r>
              <a:rPr lang="fr-FR" sz="900" dirty="0" err="1"/>
              <a:t>Conditional</a:t>
            </a:r>
            <a:r>
              <a:rPr lang="fr-FR" sz="900" dirty="0"/>
              <a:t> model:</a:t>
            </a:r>
          </a:p>
          <a:p>
            <a:r>
              <a:rPr lang="fr-FR" sz="900" dirty="0"/>
              <a:t>                  </a:t>
            </a:r>
            <a:r>
              <a:rPr lang="fr-FR" sz="900" dirty="0" err="1"/>
              <a:t>Estimate</a:t>
            </a:r>
            <a:r>
              <a:rPr lang="fr-FR" sz="900" dirty="0"/>
              <a:t> Std. </a:t>
            </a:r>
            <a:r>
              <a:rPr lang="fr-FR" sz="900" dirty="0" err="1"/>
              <a:t>Error</a:t>
            </a:r>
            <a:r>
              <a:rPr lang="fr-FR" sz="900" dirty="0"/>
              <a:t> z value Pr(&gt;|z|)  </a:t>
            </a:r>
          </a:p>
          <a:p>
            <a:r>
              <a:rPr lang="fr-FR" sz="900" dirty="0"/>
              <a:t>(Intercept)        1.41327    0.76316   1.852   0.0640 .</a:t>
            </a:r>
          </a:p>
          <a:p>
            <a:r>
              <a:rPr lang="fr-FR" sz="900" dirty="0" err="1"/>
              <a:t>G_all</a:t>
            </a:r>
            <a:r>
              <a:rPr lang="fr-FR" sz="900" dirty="0"/>
              <a:t>              0.06320    0.02914   2.169   0.0301 *</a:t>
            </a:r>
          </a:p>
          <a:p>
            <a:r>
              <a:rPr lang="fr-FR" sz="900" dirty="0"/>
              <a:t>veg1MOL           -0.25988    0.14222  -1.827   0.0677 .</a:t>
            </a:r>
          </a:p>
          <a:p>
            <a:r>
              <a:rPr lang="fr-FR" sz="900" dirty="0"/>
              <a:t>veg1Other         -0.33913    0.21146  -1.604   0.1088  </a:t>
            </a:r>
          </a:p>
          <a:p>
            <a:r>
              <a:rPr lang="fr-FR" sz="900" dirty="0">
                <a:highlight>
                  <a:srgbClr val="00FF00"/>
                </a:highlight>
              </a:rPr>
              <a:t>I(</a:t>
            </a:r>
            <a:r>
              <a:rPr lang="fr-FR" sz="900" dirty="0" err="1">
                <a:highlight>
                  <a:srgbClr val="00FF00"/>
                </a:highlight>
              </a:rPr>
              <a:t>MEL_cercle</a:t>
            </a:r>
            <a:r>
              <a:rPr lang="fr-FR" sz="900" dirty="0">
                <a:highlight>
                  <a:srgbClr val="00FF00"/>
                </a:highlight>
              </a:rPr>
              <a:t>/100)  0.48731    0.22335   2.182   0.0291 *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243C8F5D-3E32-0A6B-B632-570761450372}"/>
              </a:ext>
            </a:extLst>
          </p:cNvPr>
          <p:cNvCxnSpPr>
            <a:cxnSpLocks/>
          </p:cNvCxnSpPr>
          <p:nvPr/>
        </p:nvCxnSpPr>
        <p:spPr>
          <a:xfrm>
            <a:off x="3287639" y="5966625"/>
            <a:ext cx="1684000" cy="460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99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8264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carabiques – composition ACP (toutes espèces, données d’abondance)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B7614A6-6A8C-B91A-2ED4-55A2E1325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4" y="661480"/>
            <a:ext cx="5196170" cy="330416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C8D4168-3EE5-22D7-A7F3-A933119C6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878" y="2321667"/>
            <a:ext cx="6991121" cy="444554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30CA7A0-047D-1465-AA12-C46A95F1AA37}"/>
              </a:ext>
            </a:extLst>
          </p:cNvPr>
          <p:cNvSpPr txBox="1"/>
          <p:nvPr/>
        </p:nvSpPr>
        <p:spPr>
          <a:xfrm>
            <a:off x="7036340" y="2548647"/>
            <a:ext cx="614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RDA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E1E0FC9-B56F-F8D3-6A45-53038591E594}"/>
              </a:ext>
            </a:extLst>
          </p:cNvPr>
          <p:cNvSpPr txBox="1"/>
          <p:nvPr/>
        </p:nvSpPr>
        <p:spPr>
          <a:xfrm>
            <a:off x="5650861" y="999742"/>
            <a:ext cx="6611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Différenciation chêne-pin-mélange peu évident (mélange ne semble pas un simple intermédiaire entre les peuplements purs)</a:t>
            </a:r>
          </a:p>
          <a:p>
            <a:r>
              <a:rPr lang="fr-FR" dirty="0">
                <a:solidFill>
                  <a:srgbClr val="FF0000"/>
                </a:solidFill>
              </a:rPr>
              <a:t>Garder toutes les espèces?</a:t>
            </a:r>
          </a:p>
          <a:p>
            <a:r>
              <a:rPr lang="fr-FR" dirty="0">
                <a:solidFill>
                  <a:srgbClr val="FF0000"/>
                </a:solidFill>
              </a:rPr>
              <a:t>Garder en abondance?</a:t>
            </a:r>
          </a:p>
        </p:txBody>
      </p:sp>
    </p:spTree>
    <p:extLst>
      <p:ext uri="{BB962C8B-B14F-4D97-AF65-F5344CB8AC3E}">
        <p14:creationId xmlns:p14="http://schemas.microsoft.com/office/powerpoint/2010/main" val="1660258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2855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carabiques – RLQ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F110EDE-2D8F-91CB-65CD-7875FA17F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68" y="2492903"/>
            <a:ext cx="6864613" cy="436509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BDA30DA-C8C7-6FA1-7738-E1B57E027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484" y="226978"/>
            <a:ext cx="6165036" cy="392024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7C1AE62-BEBA-A199-8DDA-0EC68ED47480}"/>
              </a:ext>
            </a:extLst>
          </p:cNvPr>
          <p:cNvSpPr txBox="1"/>
          <p:nvPr/>
        </p:nvSpPr>
        <p:spPr>
          <a:xfrm>
            <a:off x="495359" y="1292574"/>
            <a:ext cx="4535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Traits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Diet (carnivore vs omni/phyto)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Wing (</a:t>
            </a:r>
            <a:r>
              <a:rPr lang="fr-FR" sz="1400" dirty="0" err="1"/>
              <a:t>brachy</a:t>
            </a:r>
            <a:r>
              <a:rPr lang="fr-FR" sz="1400" dirty="0"/>
              <a:t>/</a:t>
            </a:r>
            <a:r>
              <a:rPr lang="fr-FR" sz="1400" dirty="0" err="1"/>
              <a:t>apteres</a:t>
            </a:r>
            <a:r>
              <a:rPr lang="fr-FR" sz="1400" dirty="0"/>
              <a:t> vs macro vs di/polymorphique)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Habitat (</a:t>
            </a:r>
            <a:r>
              <a:rPr lang="fr-FR" sz="1400" dirty="0" err="1"/>
              <a:t>wood</a:t>
            </a:r>
            <a:r>
              <a:rPr lang="fr-FR" sz="1400" dirty="0"/>
              <a:t> vs </a:t>
            </a:r>
            <a:r>
              <a:rPr lang="fr-FR" sz="1400" dirty="0" err="1"/>
              <a:t>other</a:t>
            </a:r>
            <a:r>
              <a:rPr lang="fr-FR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Size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8C8C7ED-94CD-BCD4-1DC3-0EAEAA863655}"/>
              </a:ext>
            </a:extLst>
          </p:cNvPr>
          <p:cNvSpPr txBox="1"/>
          <p:nvPr/>
        </p:nvSpPr>
        <p:spPr>
          <a:xfrm>
            <a:off x="495359" y="715753"/>
            <a:ext cx="1546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Sites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G et %feuillus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5B3211-F471-5620-E782-AA2F59C82924}"/>
              </a:ext>
            </a:extLst>
          </p:cNvPr>
          <p:cNvSpPr txBox="1"/>
          <p:nvPr/>
        </p:nvSpPr>
        <p:spPr>
          <a:xfrm>
            <a:off x="7568119" y="4625450"/>
            <a:ext cx="46238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</a:rPr>
              <a:t>Bizarre: plus d’espèces des milieux ouverts/humides dans les chênaies?</a:t>
            </a:r>
          </a:p>
          <a:p>
            <a:r>
              <a:rPr lang="fr-FR" sz="1600" dirty="0">
                <a:solidFill>
                  <a:srgbClr val="FF0000"/>
                </a:solidFill>
              </a:rPr>
              <a:t>Garder toutes les espèces?</a:t>
            </a:r>
          </a:p>
          <a:p>
            <a:r>
              <a:rPr lang="fr-FR" sz="1600" dirty="0">
                <a:solidFill>
                  <a:srgbClr val="FF0000"/>
                </a:solidFill>
              </a:rPr>
              <a:t>Garder en abondance?</a:t>
            </a:r>
          </a:p>
        </p:txBody>
      </p:sp>
    </p:spTree>
    <p:extLst>
      <p:ext uri="{BB962C8B-B14F-4D97-AF65-F5344CB8AC3E}">
        <p14:creationId xmlns:p14="http://schemas.microsoft.com/office/powerpoint/2010/main" val="3186989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3059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carabiques – </a:t>
            </a:r>
            <a:r>
              <a:rPr lang="fr-FR" dirty="0" err="1"/>
              <a:t>IndVal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1AC90EE-F6D3-A158-610E-1D333B73E20D}"/>
              </a:ext>
            </a:extLst>
          </p:cNvPr>
          <p:cNvSpPr txBox="1"/>
          <p:nvPr/>
        </p:nvSpPr>
        <p:spPr>
          <a:xfrm>
            <a:off x="1668290" y="729374"/>
            <a:ext cx="18810984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&gt; </a:t>
            </a:r>
            <a:r>
              <a:rPr lang="fr-FR" sz="1100" dirty="0" err="1"/>
              <a:t>summary</a:t>
            </a:r>
            <a:r>
              <a:rPr lang="fr-FR" sz="1100" dirty="0"/>
              <a:t>(</a:t>
            </a:r>
            <a:r>
              <a:rPr lang="fr-FR" sz="1100" dirty="0" err="1"/>
              <a:t>indval_Carab</a:t>
            </a:r>
            <a:r>
              <a:rPr lang="fr-FR" sz="1100" dirty="0"/>
              <a:t>)</a:t>
            </a:r>
          </a:p>
          <a:p>
            <a:endParaRPr lang="fr-FR" sz="1100" dirty="0"/>
          </a:p>
          <a:p>
            <a:r>
              <a:rPr lang="fr-FR" sz="1100" dirty="0"/>
              <a:t> </a:t>
            </a:r>
            <a:r>
              <a:rPr lang="fr-FR" sz="1100" dirty="0" err="1"/>
              <a:t>Multilevel</a:t>
            </a:r>
            <a:r>
              <a:rPr lang="fr-FR" sz="1100" dirty="0"/>
              <a:t> pattern </a:t>
            </a:r>
            <a:r>
              <a:rPr lang="fr-FR" sz="1100" dirty="0" err="1"/>
              <a:t>analysis</a:t>
            </a:r>
            <a:endParaRPr lang="fr-FR" sz="1100" dirty="0"/>
          </a:p>
          <a:p>
            <a:r>
              <a:rPr lang="fr-FR" sz="1100" dirty="0"/>
              <a:t> ---------------------------</a:t>
            </a:r>
          </a:p>
          <a:p>
            <a:endParaRPr lang="fr-FR" sz="1100" dirty="0"/>
          </a:p>
          <a:p>
            <a:r>
              <a:rPr lang="fr-FR" sz="1100" dirty="0"/>
              <a:t> Association </a:t>
            </a:r>
            <a:r>
              <a:rPr lang="fr-FR" sz="1100" dirty="0" err="1"/>
              <a:t>function</a:t>
            </a:r>
            <a:r>
              <a:rPr lang="fr-FR" sz="1100" dirty="0"/>
              <a:t>: </a:t>
            </a:r>
            <a:r>
              <a:rPr lang="fr-FR" sz="1100" dirty="0" err="1"/>
              <a:t>IndVal.g</a:t>
            </a:r>
            <a:endParaRPr lang="fr-FR" sz="1100" dirty="0"/>
          </a:p>
          <a:p>
            <a:r>
              <a:rPr lang="fr-FR" sz="1100" dirty="0"/>
              <a:t> </a:t>
            </a:r>
            <a:r>
              <a:rPr lang="fr-FR" sz="1100" dirty="0" err="1"/>
              <a:t>Significance</a:t>
            </a:r>
            <a:r>
              <a:rPr lang="fr-FR" sz="1100" dirty="0"/>
              <a:t> </a:t>
            </a:r>
            <a:r>
              <a:rPr lang="fr-FR" sz="1100" dirty="0" err="1"/>
              <a:t>level</a:t>
            </a:r>
            <a:r>
              <a:rPr lang="fr-FR" sz="1100" dirty="0"/>
              <a:t> (alpha): 0.05</a:t>
            </a:r>
          </a:p>
          <a:p>
            <a:endParaRPr lang="fr-FR" sz="1100" dirty="0"/>
          </a:p>
          <a:p>
            <a:r>
              <a:rPr lang="fr-FR" sz="1100" dirty="0"/>
              <a:t> Total </a:t>
            </a:r>
            <a:r>
              <a:rPr lang="fr-FR" sz="1100" dirty="0" err="1"/>
              <a:t>number</a:t>
            </a:r>
            <a:r>
              <a:rPr lang="fr-FR" sz="1100" dirty="0"/>
              <a:t> of </a:t>
            </a:r>
            <a:r>
              <a:rPr lang="fr-FR" sz="1100" dirty="0" err="1"/>
              <a:t>species</a:t>
            </a:r>
            <a:r>
              <a:rPr lang="fr-FR" sz="1100" dirty="0"/>
              <a:t>: 28</a:t>
            </a:r>
          </a:p>
          <a:p>
            <a:r>
              <a:rPr lang="fr-FR" sz="1100" dirty="0"/>
              <a:t> </a:t>
            </a:r>
            <a:r>
              <a:rPr lang="fr-FR" sz="1100" dirty="0" err="1"/>
              <a:t>Selected</a:t>
            </a:r>
            <a:r>
              <a:rPr lang="fr-FR" sz="1100" dirty="0"/>
              <a:t> </a:t>
            </a:r>
            <a:r>
              <a:rPr lang="fr-FR" sz="1100" dirty="0" err="1"/>
              <a:t>number</a:t>
            </a:r>
            <a:r>
              <a:rPr lang="fr-FR" sz="1100" dirty="0"/>
              <a:t> of </a:t>
            </a:r>
            <a:r>
              <a:rPr lang="fr-FR" sz="1100" dirty="0" err="1"/>
              <a:t>species</a:t>
            </a:r>
            <a:r>
              <a:rPr lang="fr-FR" sz="1100" dirty="0"/>
              <a:t>: 4 </a:t>
            </a:r>
          </a:p>
          <a:p>
            <a:r>
              <a:rPr lang="fr-FR" sz="1100" dirty="0"/>
              <a:t> </a:t>
            </a:r>
            <a:r>
              <a:rPr lang="fr-FR" sz="1100" dirty="0" err="1"/>
              <a:t>Number</a:t>
            </a:r>
            <a:r>
              <a:rPr lang="fr-FR" sz="1100" dirty="0"/>
              <a:t> of </a:t>
            </a:r>
            <a:r>
              <a:rPr lang="fr-FR" sz="1100" dirty="0" err="1"/>
              <a:t>species</a:t>
            </a:r>
            <a:r>
              <a:rPr lang="fr-FR" sz="1100" dirty="0"/>
              <a:t> </a:t>
            </a:r>
            <a:r>
              <a:rPr lang="fr-FR" sz="1100" dirty="0" err="1"/>
              <a:t>associated</a:t>
            </a:r>
            <a:r>
              <a:rPr lang="fr-FR" sz="1100" dirty="0"/>
              <a:t> to 1 group: 3 </a:t>
            </a:r>
          </a:p>
          <a:p>
            <a:r>
              <a:rPr lang="fr-FR" sz="1100" dirty="0"/>
              <a:t> </a:t>
            </a:r>
            <a:r>
              <a:rPr lang="fr-FR" sz="1100" dirty="0" err="1"/>
              <a:t>Number</a:t>
            </a:r>
            <a:r>
              <a:rPr lang="fr-FR" sz="1100" dirty="0"/>
              <a:t> of </a:t>
            </a:r>
            <a:r>
              <a:rPr lang="fr-FR" sz="1100" dirty="0" err="1"/>
              <a:t>species</a:t>
            </a:r>
            <a:r>
              <a:rPr lang="fr-FR" sz="1100" dirty="0"/>
              <a:t> </a:t>
            </a:r>
            <a:r>
              <a:rPr lang="fr-FR" sz="1100" dirty="0" err="1"/>
              <a:t>associated</a:t>
            </a:r>
            <a:r>
              <a:rPr lang="fr-FR" sz="1100" dirty="0"/>
              <a:t> to 2 groups: 1 </a:t>
            </a:r>
          </a:p>
          <a:p>
            <a:endParaRPr lang="fr-FR" sz="1100" dirty="0"/>
          </a:p>
          <a:p>
            <a:r>
              <a:rPr lang="fr-FR" sz="1100" dirty="0"/>
              <a:t> List of </a:t>
            </a:r>
            <a:r>
              <a:rPr lang="fr-FR" sz="1100" dirty="0" err="1"/>
              <a:t>species</a:t>
            </a:r>
            <a:r>
              <a:rPr lang="fr-FR" sz="1100" dirty="0"/>
              <a:t> </a:t>
            </a:r>
            <a:r>
              <a:rPr lang="fr-FR" sz="1100" dirty="0" err="1"/>
              <a:t>associated</a:t>
            </a:r>
            <a:r>
              <a:rPr lang="fr-FR" sz="1100" dirty="0"/>
              <a:t> to </a:t>
            </a:r>
            <a:r>
              <a:rPr lang="fr-FR" sz="1100" dirty="0" err="1"/>
              <a:t>each</a:t>
            </a:r>
            <a:r>
              <a:rPr lang="fr-FR" sz="1100" dirty="0"/>
              <a:t> combination: </a:t>
            </a:r>
          </a:p>
          <a:p>
            <a:endParaRPr lang="fr-FR" sz="1100" dirty="0"/>
          </a:p>
          <a:p>
            <a:r>
              <a:rPr lang="fr-FR" sz="1100" dirty="0"/>
              <a:t> Group Pine  #sps.  1 </a:t>
            </a:r>
          </a:p>
          <a:p>
            <a:r>
              <a:rPr lang="fr-FR" sz="1100" dirty="0"/>
              <a:t>      stat </a:t>
            </a:r>
            <a:r>
              <a:rPr lang="fr-FR" sz="1100" dirty="0" err="1"/>
              <a:t>p.value</a:t>
            </a:r>
            <a:r>
              <a:rPr lang="fr-FR" sz="1100" dirty="0"/>
              <a:t>   </a:t>
            </a:r>
          </a:p>
          <a:p>
            <a:r>
              <a:rPr lang="fr-FR" sz="1100" dirty="0" err="1"/>
              <a:t>cacr</a:t>
            </a:r>
            <a:r>
              <a:rPr lang="fr-FR" sz="1100" dirty="0"/>
              <a:t> 0.612   0.003 **	</a:t>
            </a:r>
            <a:r>
              <a:rPr lang="fr-FR" sz="1100" dirty="0" err="1"/>
              <a:t>Carabus</a:t>
            </a:r>
            <a:r>
              <a:rPr lang="fr-FR" sz="1100" dirty="0"/>
              <a:t> </a:t>
            </a:r>
            <a:r>
              <a:rPr lang="fr-FR" sz="1100" dirty="0" err="1"/>
              <a:t>coriaceus</a:t>
            </a:r>
            <a:endParaRPr lang="fr-FR" sz="1100" dirty="0"/>
          </a:p>
          <a:p>
            <a:endParaRPr lang="fr-FR" sz="1100" dirty="0"/>
          </a:p>
          <a:p>
            <a:r>
              <a:rPr lang="fr-FR" sz="1100" dirty="0"/>
              <a:t> Group Mixed  #sps.  1 </a:t>
            </a:r>
          </a:p>
          <a:p>
            <a:r>
              <a:rPr lang="fr-FR" sz="1100" dirty="0"/>
              <a:t>      stat </a:t>
            </a:r>
            <a:r>
              <a:rPr lang="fr-FR" sz="1100" dirty="0" err="1"/>
              <a:t>p.value</a:t>
            </a:r>
            <a:r>
              <a:rPr lang="fr-FR" sz="1100" dirty="0"/>
              <a:t>  </a:t>
            </a:r>
          </a:p>
          <a:p>
            <a:r>
              <a:rPr lang="fr-FR" sz="1100" dirty="0" err="1"/>
              <a:t>abov</a:t>
            </a:r>
            <a:r>
              <a:rPr lang="fr-FR" sz="1100" dirty="0"/>
              <a:t> 0.426   0.011 *	</a:t>
            </a:r>
            <a:r>
              <a:rPr lang="fr-FR" sz="1100" dirty="0" err="1"/>
              <a:t>Abax</a:t>
            </a:r>
            <a:r>
              <a:rPr lang="fr-FR" sz="1100" dirty="0"/>
              <a:t> </a:t>
            </a:r>
            <a:r>
              <a:rPr lang="fr-FR" sz="1100" dirty="0" err="1"/>
              <a:t>ovalis</a:t>
            </a:r>
            <a:endParaRPr lang="fr-FR" sz="1100" dirty="0"/>
          </a:p>
          <a:p>
            <a:endParaRPr lang="fr-FR" sz="1100" dirty="0"/>
          </a:p>
          <a:p>
            <a:r>
              <a:rPr lang="fr-FR" sz="1100" dirty="0"/>
              <a:t> Group </a:t>
            </a:r>
            <a:r>
              <a:rPr lang="fr-FR" sz="1100" dirty="0" err="1"/>
              <a:t>Oak</a:t>
            </a:r>
            <a:r>
              <a:rPr lang="fr-FR" sz="1100" dirty="0"/>
              <a:t>  #sps.  1 </a:t>
            </a:r>
          </a:p>
          <a:p>
            <a:r>
              <a:rPr lang="fr-FR" sz="1100" dirty="0"/>
              <a:t>      stat </a:t>
            </a:r>
            <a:r>
              <a:rPr lang="fr-FR" sz="1100" dirty="0" err="1"/>
              <a:t>p.value</a:t>
            </a:r>
            <a:r>
              <a:rPr lang="fr-FR" sz="1100" dirty="0"/>
              <a:t>   </a:t>
            </a:r>
          </a:p>
          <a:p>
            <a:r>
              <a:rPr lang="fr-FR" sz="1100" dirty="0" err="1"/>
              <a:t>cait</a:t>
            </a:r>
            <a:r>
              <a:rPr lang="fr-FR" sz="1100" dirty="0"/>
              <a:t> 0.573   0.002 **	</a:t>
            </a:r>
            <a:r>
              <a:rPr lang="fr-FR" sz="1100" dirty="0" err="1"/>
              <a:t>Carabus</a:t>
            </a:r>
            <a:r>
              <a:rPr lang="fr-FR" sz="1100" dirty="0"/>
              <a:t> </a:t>
            </a:r>
            <a:r>
              <a:rPr lang="fr-FR" sz="1100" dirty="0" err="1"/>
              <a:t>intricatus</a:t>
            </a:r>
            <a:endParaRPr lang="fr-FR" sz="1100" dirty="0"/>
          </a:p>
          <a:p>
            <a:endParaRPr lang="fr-FR" sz="1100" dirty="0"/>
          </a:p>
          <a:p>
            <a:r>
              <a:rPr lang="fr-FR" sz="1100" dirty="0"/>
              <a:t> Group </a:t>
            </a:r>
            <a:r>
              <a:rPr lang="fr-FR" sz="1100" dirty="0" err="1"/>
              <a:t>Mixed+Oak</a:t>
            </a:r>
            <a:r>
              <a:rPr lang="fr-FR" sz="1100" dirty="0"/>
              <a:t>  #sps.  1 </a:t>
            </a:r>
          </a:p>
          <a:p>
            <a:r>
              <a:rPr lang="fr-FR" sz="1100" dirty="0"/>
              <a:t>      stat </a:t>
            </a:r>
            <a:r>
              <a:rPr lang="fr-FR" sz="1100" dirty="0" err="1"/>
              <a:t>p.value</a:t>
            </a:r>
            <a:r>
              <a:rPr lang="fr-FR" sz="1100" dirty="0"/>
              <a:t>    </a:t>
            </a:r>
          </a:p>
          <a:p>
            <a:r>
              <a:rPr lang="fr-FR" sz="1100" dirty="0"/>
              <a:t>cane 0.842   0.001 ***	</a:t>
            </a:r>
            <a:r>
              <a:rPr lang="fr-FR" sz="1100" dirty="0" err="1"/>
              <a:t>Carabus</a:t>
            </a:r>
            <a:r>
              <a:rPr lang="fr-FR" sz="1100" dirty="0"/>
              <a:t> </a:t>
            </a:r>
            <a:r>
              <a:rPr lang="fr-FR" sz="1100" dirty="0" err="1"/>
              <a:t>nemoralis</a:t>
            </a:r>
            <a:endParaRPr lang="fr-FR" sz="11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37AA6E6-9C9D-71F3-DEA9-554C578105A1}"/>
              </a:ext>
            </a:extLst>
          </p:cNvPr>
          <p:cNvSpPr txBox="1"/>
          <p:nvPr/>
        </p:nvSpPr>
        <p:spPr>
          <a:xfrm>
            <a:off x="6433691" y="940712"/>
            <a:ext cx="102754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&gt; </a:t>
            </a:r>
            <a:r>
              <a:rPr lang="fr-FR" sz="1400" dirty="0" err="1"/>
              <a:t>beta.multi.abund</a:t>
            </a:r>
            <a:r>
              <a:rPr lang="fr-FR" sz="1400" dirty="0"/>
              <a:t>(</a:t>
            </a:r>
            <a:r>
              <a:rPr lang="fr-FR" sz="1400" dirty="0" err="1"/>
              <a:t>aa</a:t>
            </a:r>
            <a:r>
              <a:rPr lang="fr-FR" sz="1400" dirty="0"/>
              <a:t>, </a:t>
            </a:r>
            <a:r>
              <a:rPr lang="fr-FR" sz="1400" dirty="0" err="1"/>
              <a:t>index.family</a:t>
            </a:r>
            <a:r>
              <a:rPr lang="fr-FR" sz="1400" dirty="0"/>
              <a:t>="</a:t>
            </a:r>
            <a:r>
              <a:rPr lang="fr-FR" sz="1400" dirty="0" err="1"/>
              <a:t>bray</a:t>
            </a:r>
            <a:r>
              <a:rPr lang="fr-FR" sz="1400" dirty="0"/>
              <a:t>")</a:t>
            </a:r>
          </a:p>
          <a:p>
            <a:r>
              <a:rPr lang="fr-FR" sz="1400" dirty="0"/>
              <a:t>$</a:t>
            </a:r>
            <a:r>
              <a:rPr lang="fr-FR" sz="1400" dirty="0" err="1"/>
              <a:t>beta.BRAY.BAL</a:t>
            </a:r>
            <a:endParaRPr lang="fr-FR" sz="1400" dirty="0"/>
          </a:p>
          <a:p>
            <a:r>
              <a:rPr lang="fr-FR" sz="1400" dirty="0"/>
              <a:t>[1] 0.9141709</a:t>
            </a:r>
          </a:p>
          <a:p>
            <a:endParaRPr lang="fr-FR" sz="1400" dirty="0"/>
          </a:p>
          <a:p>
            <a:r>
              <a:rPr lang="fr-FR" sz="1400" dirty="0"/>
              <a:t>$</a:t>
            </a:r>
            <a:r>
              <a:rPr lang="fr-FR" sz="1400" dirty="0" err="1"/>
              <a:t>beta.BRAY.GRA</a:t>
            </a:r>
            <a:endParaRPr lang="fr-FR" sz="1400" dirty="0"/>
          </a:p>
          <a:p>
            <a:r>
              <a:rPr lang="fr-FR" sz="1400" dirty="0"/>
              <a:t>[1] 0.04419978</a:t>
            </a:r>
          </a:p>
          <a:p>
            <a:endParaRPr lang="fr-FR" sz="1400" dirty="0"/>
          </a:p>
          <a:p>
            <a:r>
              <a:rPr lang="fr-FR" sz="1400" dirty="0"/>
              <a:t>$</a:t>
            </a:r>
            <a:r>
              <a:rPr lang="fr-FR" sz="1400" dirty="0" err="1"/>
              <a:t>beta.BRAY</a:t>
            </a:r>
            <a:endParaRPr lang="fr-FR" sz="1400" dirty="0"/>
          </a:p>
          <a:p>
            <a:r>
              <a:rPr lang="fr-FR" sz="1400" dirty="0"/>
              <a:t>[1] 0.9583707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DC4B07E-316A-94EB-2767-834614F707B7}"/>
              </a:ext>
            </a:extLst>
          </p:cNvPr>
          <p:cNvSpPr txBox="1"/>
          <p:nvPr/>
        </p:nvSpPr>
        <p:spPr>
          <a:xfrm>
            <a:off x="6381064" y="360042"/>
            <a:ext cx="1826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Beta </a:t>
            </a:r>
            <a:r>
              <a:rPr lang="fr-FR" dirty="0" err="1"/>
              <a:t>partitioning</a:t>
            </a:r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9AE8FC3-1603-2DC4-3CE0-618D9218E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331" y="2874550"/>
            <a:ext cx="5024104" cy="319474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F74E5BC-CD48-9A9B-82CA-FB3BA0A5D344}"/>
              </a:ext>
            </a:extLst>
          </p:cNvPr>
          <p:cNvSpPr txBox="1"/>
          <p:nvPr/>
        </p:nvSpPr>
        <p:spPr>
          <a:xfrm>
            <a:off x="289450" y="6015382"/>
            <a:ext cx="8866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Préférence 4/28=14.3%</a:t>
            </a:r>
          </a:p>
          <a:p>
            <a:r>
              <a:rPr lang="fr-FR" dirty="0">
                <a:solidFill>
                  <a:srgbClr val="FF0000"/>
                </a:solidFill>
              </a:rPr>
              <a:t>Une espèce du mélange, 1 des pins, 1 des chênes, 1 des chênes tolérante au mélange</a:t>
            </a:r>
          </a:p>
        </p:txBody>
      </p:sp>
    </p:spTree>
    <p:extLst>
      <p:ext uri="{BB962C8B-B14F-4D97-AF65-F5344CB8AC3E}">
        <p14:creationId xmlns:p14="http://schemas.microsoft.com/office/powerpoint/2010/main" val="2347324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57DC33-C252-FC8E-5E60-062245B3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016" y="243378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FR" sz="9600" dirty="0"/>
              <a:t>OISEAUX</a:t>
            </a:r>
          </a:p>
        </p:txBody>
      </p:sp>
    </p:spTree>
    <p:extLst>
      <p:ext uri="{BB962C8B-B14F-4D97-AF65-F5344CB8AC3E}">
        <p14:creationId xmlns:p14="http://schemas.microsoft.com/office/powerpoint/2010/main" val="2888789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189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oiseaux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7FFC552-D5B5-213C-5596-E871857D2DF5}"/>
              </a:ext>
            </a:extLst>
          </p:cNvPr>
          <p:cNvSpPr txBox="1"/>
          <p:nvPr/>
        </p:nvSpPr>
        <p:spPr>
          <a:xfrm>
            <a:off x="725383" y="891927"/>
            <a:ext cx="5211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Distribution richesse spécifique par site d’écoute (3 points par site)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46FF9E4-C21B-79EE-8F5B-1421D76B584B}"/>
              </a:ext>
            </a:extLst>
          </p:cNvPr>
          <p:cNvSpPr txBox="1"/>
          <p:nvPr/>
        </p:nvSpPr>
        <p:spPr>
          <a:xfrm>
            <a:off x="6668983" y="891927"/>
            <a:ext cx="5107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Distribution abondance totale par site d’écoute (3 points par site)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8337541-5060-A632-5FD7-9AF9DB0DE318}"/>
              </a:ext>
            </a:extLst>
          </p:cNvPr>
          <p:cNvSpPr txBox="1"/>
          <p:nvPr/>
        </p:nvSpPr>
        <p:spPr>
          <a:xfrm>
            <a:off x="7970196" y="5711681"/>
            <a:ext cx="1748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Family=Poisson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EB5AC7C-0328-6A33-116F-544258ED25E6}"/>
              </a:ext>
            </a:extLst>
          </p:cNvPr>
          <p:cNvSpPr txBox="1"/>
          <p:nvPr/>
        </p:nvSpPr>
        <p:spPr>
          <a:xfrm>
            <a:off x="1514087" y="5717898"/>
            <a:ext cx="1748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Family=Poisson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13A8393-D5DF-C166-C345-4E8E5BE2E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78" y="1770433"/>
            <a:ext cx="5211469" cy="331388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D0B399A-9EA4-FEFE-599E-0CC9A48E7AE8}"/>
              </a:ext>
            </a:extLst>
          </p:cNvPr>
          <p:cNvSpPr txBox="1"/>
          <p:nvPr/>
        </p:nvSpPr>
        <p:spPr>
          <a:xfrm>
            <a:off x="946825" y="526856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&gt; </a:t>
            </a:r>
            <a:r>
              <a:rPr lang="fr-FR" sz="1200" dirty="0" err="1"/>
              <a:t>mean</a:t>
            </a:r>
            <a:r>
              <a:rPr lang="fr-FR" sz="1200" dirty="0"/>
              <a:t>(</a:t>
            </a:r>
            <a:r>
              <a:rPr lang="fr-FR" sz="1200" dirty="0" err="1"/>
              <a:t>Bird.Rel.Env.Sp$SR_all</a:t>
            </a:r>
            <a:r>
              <a:rPr lang="fr-FR" sz="1200" dirty="0"/>
              <a:t>) [1] 12.81818</a:t>
            </a:r>
          </a:p>
          <a:p>
            <a:r>
              <a:rPr lang="fr-FR" sz="1200" dirty="0"/>
              <a:t>&gt; var(</a:t>
            </a:r>
            <a:r>
              <a:rPr lang="fr-FR" sz="1200" dirty="0" err="1"/>
              <a:t>Bird.Rel.Env.Sp$SR_all</a:t>
            </a:r>
            <a:r>
              <a:rPr lang="fr-FR" sz="1200" dirty="0"/>
              <a:t>) [1] 8.243357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E301AFC7-F0B4-A2B0-9DA8-87A3EC448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694" y="1572327"/>
            <a:ext cx="5444913" cy="3462332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37FE6EE-EFF1-8535-7358-114020C27CA1}"/>
              </a:ext>
            </a:extLst>
          </p:cNvPr>
          <p:cNvSpPr txBox="1"/>
          <p:nvPr/>
        </p:nvSpPr>
        <p:spPr>
          <a:xfrm>
            <a:off x="7146588" y="52872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&gt; </a:t>
            </a:r>
            <a:r>
              <a:rPr lang="fr-FR" sz="1200" dirty="0" err="1"/>
              <a:t>mean</a:t>
            </a:r>
            <a:r>
              <a:rPr lang="fr-FR" sz="1200" dirty="0"/>
              <a:t>(</a:t>
            </a:r>
            <a:r>
              <a:rPr lang="fr-FR" sz="1200" dirty="0" err="1"/>
              <a:t>Bird.Rel.Env.Sp$Abdce_all</a:t>
            </a:r>
            <a:r>
              <a:rPr lang="fr-FR" sz="1200" dirty="0"/>
              <a:t>) [1] 19.75758</a:t>
            </a:r>
          </a:p>
          <a:p>
            <a:r>
              <a:rPr lang="fr-FR" sz="1200" dirty="0"/>
              <a:t>&gt; var(</a:t>
            </a:r>
            <a:r>
              <a:rPr lang="fr-FR" sz="1200" dirty="0" err="1"/>
              <a:t>Bird.Rel.Env.Sp$Abdce_all</a:t>
            </a:r>
            <a:r>
              <a:rPr lang="fr-FR" sz="1200" dirty="0"/>
              <a:t>) [1] 22.3711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A0AA24D-56EB-055B-B3BD-A53070FE0194}"/>
              </a:ext>
            </a:extLst>
          </p:cNvPr>
          <p:cNvSpPr txBox="1"/>
          <p:nvPr/>
        </p:nvSpPr>
        <p:spPr>
          <a:xfrm>
            <a:off x="2713793" y="6320749"/>
            <a:ext cx="6913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Très forte corrélation richesse-abondance : intérêt de faire les deux?</a:t>
            </a:r>
          </a:p>
        </p:txBody>
      </p:sp>
    </p:spTree>
    <p:extLst>
      <p:ext uri="{BB962C8B-B14F-4D97-AF65-F5344CB8AC3E}">
        <p14:creationId xmlns:p14="http://schemas.microsoft.com/office/powerpoint/2010/main" val="3357923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189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oiseaux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7FFC552-D5B5-213C-5596-E871857D2DF5}"/>
              </a:ext>
            </a:extLst>
          </p:cNvPr>
          <p:cNvSpPr txBox="1"/>
          <p:nvPr/>
        </p:nvSpPr>
        <p:spPr>
          <a:xfrm>
            <a:off x="54522" y="672708"/>
            <a:ext cx="4449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Distribution richesse spécifique par piège (taux de mélange continu ou en 3 classes)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57F470-3CFF-9363-058A-8DC193CFC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725" y="978781"/>
            <a:ext cx="7190209" cy="338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glmm_SR_all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&lt;-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glmmTMB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SR_all~G_all+I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MEL_point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/100)+I((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MEL_point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/100)^2)+(1|plot),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family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poisson,data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Bird.Rel.Env.Sp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DD3D11A-426E-52E7-E277-4707C5C87DFA}"/>
              </a:ext>
            </a:extLst>
          </p:cNvPr>
          <p:cNvSpPr txBox="1"/>
          <p:nvPr/>
        </p:nvSpPr>
        <p:spPr>
          <a:xfrm>
            <a:off x="4439179" y="5065381"/>
            <a:ext cx="3598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Augmentation (légèrement </a:t>
            </a:r>
            <a:r>
              <a:rPr lang="fr-FR" dirty="0" err="1">
                <a:solidFill>
                  <a:srgbClr val="FF0000"/>
                </a:solidFill>
              </a:rPr>
              <a:t>curvi</a:t>
            </a:r>
            <a:r>
              <a:rPr lang="fr-FR" dirty="0">
                <a:solidFill>
                  <a:srgbClr val="FF0000"/>
                </a:solidFill>
              </a:rPr>
              <a:t>-) linéaire de la RS avec le taux de feuillus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EF65D580-940A-4C6A-A52D-8F0813052FA4}"/>
              </a:ext>
            </a:extLst>
          </p:cNvPr>
          <p:cNvCxnSpPr>
            <a:cxnSpLocks/>
          </p:cNvCxnSpPr>
          <p:nvPr/>
        </p:nvCxnSpPr>
        <p:spPr>
          <a:xfrm flipV="1">
            <a:off x="6927073" y="3874688"/>
            <a:ext cx="131569" cy="1190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CBEA2C73-787D-4419-1817-2E8905CC370E}"/>
              </a:ext>
            </a:extLst>
          </p:cNvPr>
          <p:cNvSpPr txBox="1"/>
          <p:nvPr/>
        </p:nvSpPr>
        <p:spPr>
          <a:xfrm>
            <a:off x="4953548" y="33503"/>
            <a:ext cx="6887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Analyse en GLMM avec effet aléatoire parcelle et effets fixe: surface terrière totale et % de feuillus (soit simple soit quadratique)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6631AEE-D21B-C99D-CD0E-3C80B7A03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80" y="1412346"/>
            <a:ext cx="3984611" cy="253375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FB87418-38EA-A07D-70D3-5563C2BB2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79" y="3963523"/>
            <a:ext cx="4081183" cy="259515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ED7480C-674C-CDAF-00F1-C5607090FC3C}"/>
              </a:ext>
            </a:extLst>
          </p:cNvPr>
          <p:cNvSpPr txBox="1"/>
          <p:nvPr/>
        </p:nvSpPr>
        <p:spPr>
          <a:xfrm>
            <a:off x="4476184" y="1427246"/>
            <a:ext cx="23350092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&gt; </a:t>
            </a:r>
            <a:r>
              <a:rPr lang="fr-FR" sz="900" dirty="0" err="1"/>
              <a:t>summary</a:t>
            </a:r>
            <a:r>
              <a:rPr lang="fr-FR" sz="900" dirty="0"/>
              <a:t>(</a:t>
            </a:r>
            <a:r>
              <a:rPr lang="fr-FR" sz="900" dirty="0" err="1"/>
              <a:t>glmm_SR_all</a:t>
            </a:r>
            <a:r>
              <a:rPr lang="fr-FR" sz="900" dirty="0"/>
              <a:t>)</a:t>
            </a:r>
          </a:p>
          <a:p>
            <a:r>
              <a:rPr lang="fr-FR" sz="900" dirty="0"/>
              <a:t> Family: poisson  ( log )</a:t>
            </a:r>
          </a:p>
          <a:p>
            <a:r>
              <a:rPr lang="fr-FR" sz="900" dirty="0"/>
              <a:t>Formula:          </a:t>
            </a:r>
            <a:r>
              <a:rPr lang="fr-FR" sz="900" dirty="0" err="1"/>
              <a:t>SR_all</a:t>
            </a:r>
            <a:r>
              <a:rPr lang="fr-FR" sz="900" dirty="0"/>
              <a:t> ~ </a:t>
            </a:r>
            <a:r>
              <a:rPr lang="fr-FR" sz="900" dirty="0" err="1"/>
              <a:t>G_all</a:t>
            </a:r>
            <a:r>
              <a:rPr lang="fr-FR" sz="900" dirty="0"/>
              <a:t> + I(</a:t>
            </a:r>
            <a:r>
              <a:rPr lang="fr-FR" sz="900" dirty="0" err="1"/>
              <a:t>MEL_point</a:t>
            </a:r>
            <a:r>
              <a:rPr lang="fr-FR" sz="900" dirty="0"/>
              <a:t>/100) + I((</a:t>
            </a:r>
            <a:r>
              <a:rPr lang="fr-FR" sz="900" dirty="0" err="1"/>
              <a:t>MEL_point</a:t>
            </a:r>
            <a:r>
              <a:rPr lang="fr-FR" sz="900" dirty="0"/>
              <a:t>/100)^2) + (1 |      plot)</a:t>
            </a:r>
          </a:p>
          <a:p>
            <a:r>
              <a:rPr lang="fr-FR" sz="900" dirty="0"/>
              <a:t>Data: </a:t>
            </a:r>
            <a:r>
              <a:rPr lang="fr-FR" sz="900" dirty="0" err="1"/>
              <a:t>Bird.Rel.Env.Sp</a:t>
            </a:r>
            <a:endParaRPr lang="fr-FR" sz="900" dirty="0"/>
          </a:p>
          <a:p>
            <a:r>
              <a:rPr lang="fr-FR" sz="900" dirty="0"/>
              <a:t>      AIC       BIC    </a:t>
            </a:r>
            <a:r>
              <a:rPr lang="fr-FR" sz="900" dirty="0" err="1"/>
              <a:t>logLik</a:t>
            </a:r>
            <a:r>
              <a:rPr lang="fr-FR" sz="900" dirty="0"/>
              <a:t> -2*log(L)  </a:t>
            </a:r>
            <a:r>
              <a:rPr lang="fr-FR" sz="900" dirty="0" err="1"/>
              <a:t>df.resid</a:t>
            </a:r>
            <a:r>
              <a:rPr lang="fr-FR" sz="900" dirty="0"/>
              <a:t> </a:t>
            </a:r>
          </a:p>
          <a:p>
            <a:r>
              <a:rPr lang="fr-FR" sz="900" dirty="0"/>
              <a:t>    333.3     344.2    -161.6     323.3        61 </a:t>
            </a:r>
          </a:p>
          <a:p>
            <a:r>
              <a:rPr lang="fr-FR" sz="900" dirty="0" err="1"/>
              <a:t>Random</a:t>
            </a:r>
            <a:r>
              <a:rPr lang="fr-FR" sz="900" dirty="0"/>
              <a:t> </a:t>
            </a:r>
            <a:r>
              <a:rPr lang="fr-FR" sz="900" dirty="0" err="1"/>
              <a:t>effects</a:t>
            </a:r>
            <a:r>
              <a:rPr lang="fr-FR" sz="900" dirty="0"/>
              <a:t>:</a:t>
            </a:r>
          </a:p>
          <a:p>
            <a:r>
              <a:rPr lang="fr-FR" sz="900" dirty="0" err="1"/>
              <a:t>Conditional</a:t>
            </a:r>
            <a:r>
              <a:rPr lang="fr-FR" sz="900" dirty="0"/>
              <a:t> model:</a:t>
            </a:r>
          </a:p>
          <a:p>
            <a:r>
              <a:rPr lang="fr-FR" sz="900" dirty="0"/>
              <a:t> Groups Name        Variance  </a:t>
            </a:r>
            <a:r>
              <a:rPr lang="fr-FR" sz="900" dirty="0" err="1"/>
              <a:t>Std.Dev</a:t>
            </a:r>
            <a:r>
              <a:rPr lang="fr-FR" sz="900" dirty="0"/>
              <a:t>. </a:t>
            </a:r>
          </a:p>
          <a:p>
            <a:r>
              <a:rPr lang="fr-FR" sz="900" dirty="0"/>
              <a:t> plot   (Intercept) 9.049e-11 9.513e-06</a:t>
            </a:r>
          </a:p>
          <a:p>
            <a:r>
              <a:rPr lang="fr-FR" sz="900" dirty="0" err="1"/>
              <a:t>Number</a:t>
            </a:r>
            <a:r>
              <a:rPr lang="fr-FR" sz="900" dirty="0"/>
              <a:t> of </a:t>
            </a:r>
            <a:r>
              <a:rPr lang="fr-FR" sz="900" dirty="0" err="1"/>
              <a:t>obs</a:t>
            </a:r>
            <a:r>
              <a:rPr lang="fr-FR" sz="900" dirty="0"/>
              <a:t>: 66, groups:  plot, 22</a:t>
            </a:r>
          </a:p>
          <a:p>
            <a:r>
              <a:rPr lang="fr-FR" sz="900" dirty="0" err="1"/>
              <a:t>Conditional</a:t>
            </a:r>
            <a:r>
              <a:rPr lang="fr-FR" sz="900" dirty="0"/>
              <a:t> model:</a:t>
            </a:r>
          </a:p>
          <a:p>
            <a:r>
              <a:rPr lang="fr-FR" sz="900" dirty="0"/>
              <a:t>                      </a:t>
            </a:r>
            <a:r>
              <a:rPr lang="fr-FR" sz="900" dirty="0" err="1"/>
              <a:t>Estimate</a:t>
            </a:r>
            <a:r>
              <a:rPr lang="fr-FR" sz="900" dirty="0"/>
              <a:t> Std. </a:t>
            </a:r>
            <a:r>
              <a:rPr lang="fr-FR" sz="900" dirty="0" err="1"/>
              <a:t>Error</a:t>
            </a:r>
            <a:r>
              <a:rPr lang="fr-FR" sz="900" dirty="0"/>
              <a:t> z value Pr(&gt;|z|)    </a:t>
            </a:r>
          </a:p>
          <a:p>
            <a:r>
              <a:rPr lang="fr-FR" sz="900" dirty="0"/>
              <a:t>(Intercept)           2.363951   0.230875  10.239   &lt;2e-16 ***</a:t>
            </a:r>
          </a:p>
          <a:p>
            <a:r>
              <a:rPr lang="fr-FR" sz="900" dirty="0" err="1"/>
              <a:t>G_all</a:t>
            </a:r>
            <a:r>
              <a:rPr lang="fr-FR" sz="900" dirty="0"/>
              <a:t>                -0.002286   0.008852  -0.258   0.7962    </a:t>
            </a:r>
          </a:p>
          <a:p>
            <a:r>
              <a:rPr lang="fr-FR" sz="900" dirty="0">
                <a:highlight>
                  <a:srgbClr val="00FF00"/>
                </a:highlight>
              </a:rPr>
              <a:t>I(</a:t>
            </a:r>
            <a:r>
              <a:rPr lang="fr-FR" sz="900" dirty="0" err="1">
                <a:highlight>
                  <a:srgbClr val="00FF00"/>
                </a:highlight>
              </a:rPr>
              <a:t>MEL_point</a:t>
            </a:r>
            <a:r>
              <a:rPr lang="fr-FR" sz="900" dirty="0">
                <a:highlight>
                  <a:srgbClr val="00FF00"/>
                </a:highlight>
              </a:rPr>
              <a:t>/100)      1.173185   0.508405   2.308   0.0210 *  </a:t>
            </a:r>
          </a:p>
          <a:p>
            <a:r>
              <a:rPr lang="fr-FR" sz="900" dirty="0">
                <a:highlight>
                  <a:srgbClr val="FFFF00"/>
                </a:highlight>
              </a:rPr>
              <a:t>I((</a:t>
            </a:r>
            <a:r>
              <a:rPr lang="fr-FR" sz="900" dirty="0" err="1">
                <a:highlight>
                  <a:srgbClr val="FFFF00"/>
                </a:highlight>
              </a:rPr>
              <a:t>MEL_point</a:t>
            </a:r>
            <a:r>
              <a:rPr lang="fr-FR" sz="900" dirty="0">
                <a:highlight>
                  <a:srgbClr val="FFFF00"/>
                </a:highlight>
              </a:rPr>
              <a:t>/100)^2) -1.016384   0.608559  -1.670   0.0949 . </a:t>
            </a:r>
          </a:p>
          <a:p>
            <a:endParaRPr lang="fr-FR" sz="900" dirty="0"/>
          </a:p>
          <a:p>
            <a:r>
              <a:rPr lang="de-DE" sz="900" dirty="0" err="1">
                <a:highlight>
                  <a:srgbClr val="00FFFF"/>
                </a:highlight>
              </a:rPr>
              <a:t>AICc</a:t>
            </a:r>
            <a:r>
              <a:rPr lang="de-DE" sz="900" dirty="0">
                <a:highlight>
                  <a:srgbClr val="00FFFF"/>
                </a:highlight>
              </a:rPr>
              <a:t>(</a:t>
            </a:r>
            <a:r>
              <a:rPr lang="de-DE" sz="900" dirty="0" err="1">
                <a:highlight>
                  <a:srgbClr val="00FFFF"/>
                </a:highlight>
              </a:rPr>
              <a:t>glmm_SR_all</a:t>
            </a:r>
            <a:r>
              <a:rPr lang="de-DE" sz="900" dirty="0">
                <a:highlight>
                  <a:srgbClr val="00FFFF"/>
                </a:highlight>
              </a:rPr>
              <a:t>) [1] 334.2836</a:t>
            </a:r>
            <a:endParaRPr lang="fr-FR" sz="900" dirty="0">
              <a:highlight>
                <a:srgbClr val="00FFFF"/>
              </a:highlight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386A9A3-9021-F0ED-F9DE-3390C0C1EDBB}"/>
              </a:ext>
            </a:extLst>
          </p:cNvPr>
          <p:cNvSpPr txBox="1"/>
          <p:nvPr/>
        </p:nvSpPr>
        <p:spPr>
          <a:xfrm>
            <a:off x="8248290" y="3127798"/>
            <a:ext cx="21541026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/>
              <a:t>&gt; </a:t>
            </a:r>
            <a:r>
              <a:rPr lang="fr-FR" sz="1050" dirty="0" err="1"/>
              <a:t>summary</a:t>
            </a:r>
            <a:r>
              <a:rPr lang="fr-FR" sz="1050" dirty="0"/>
              <a:t>(</a:t>
            </a:r>
            <a:r>
              <a:rPr lang="fr-FR" sz="1050" dirty="0" err="1"/>
              <a:t>glmm_SR_all</a:t>
            </a:r>
            <a:r>
              <a:rPr lang="fr-FR" sz="1050" dirty="0"/>
              <a:t>) #simple </a:t>
            </a:r>
            <a:r>
              <a:rPr lang="fr-FR" sz="1050" dirty="0" err="1"/>
              <a:t>effect</a:t>
            </a:r>
            <a:r>
              <a:rPr lang="fr-FR" sz="1050" dirty="0"/>
              <a:t>, p=0.0377, AIC=284.3</a:t>
            </a:r>
          </a:p>
          <a:p>
            <a:r>
              <a:rPr lang="fr-FR" sz="1050" dirty="0"/>
              <a:t> Family: poisson  ( log )</a:t>
            </a:r>
          </a:p>
          <a:p>
            <a:r>
              <a:rPr lang="fr-FR" sz="1050" dirty="0"/>
              <a:t>Formula:          </a:t>
            </a:r>
            <a:r>
              <a:rPr lang="fr-FR" sz="1050" dirty="0" err="1"/>
              <a:t>SR_all</a:t>
            </a:r>
            <a:r>
              <a:rPr lang="fr-FR" sz="1050" dirty="0"/>
              <a:t> ~ </a:t>
            </a:r>
            <a:r>
              <a:rPr lang="fr-FR" sz="1050" dirty="0" err="1"/>
              <a:t>G_all</a:t>
            </a:r>
            <a:r>
              <a:rPr lang="fr-FR" sz="1050" dirty="0"/>
              <a:t> + I(</a:t>
            </a:r>
            <a:r>
              <a:rPr lang="fr-FR" sz="1050" dirty="0" err="1"/>
              <a:t>MEL_point</a:t>
            </a:r>
            <a:r>
              <a:rPr lang="fr-FR" sz="1050" dirty="0"/>
              <a:t>/100) + (1 | plot)</a:t>
            </a:r>
          </a:p>
          <a:p>
            <a:r>
              <a:rPr lang="fr-FR" sz="1050" dirty="0"/>
              <a:t>Data: </a:t>
            </a:r>
            <a:r>
              <a:rPr lang="fr-FR" sz="1050" dirty="0" err="1"/>
              <a:t>Bird.Rel.Env.Sp</a:t>
            </a:r>
            <a:endParaRPr lang="fr-FR" sz="1050" dirty="0"/>
          </a:p>
          <a:p>
            <a:endParaRPr lang="fr-FR" sz="1050" dirty="0"/>
          </a:p>
          <a:p>
            <a:r>
              <a:rPr lang="fr-FR" sz="1050" dirty="0"/>
              <a:t>      AIC       BIC    </a:t>
            </a:r>
            <a:r>
              <a:rPr lang="fr-FR" sz="1050" dirty="0" err="1"/>
              <a:t>logLik</a:t>
            </a:r>
            <a:r>
              <a:rPr lang="fr-FR" sz="1050" dirty="0"/>
              <a:t> -2*log(L)  </a:t>
            </a:r>
            <a:r>
              <a:rPr lang="fr-FR" sz="1050" dirty="0" err="1"/>
              <a:t>df.resid</a:t>
            </a:r>
            <a:r>
              <a:rPr lang="fr-FR" sz="1050" dirty="0"/>
              <a:t> </a:t>
            </a:r>
          </a:p>
          <a:p>
            <a:r>
              <a:rPr lang="fr-FR" sz="1050" dirty="0"/>
              <a:t>    334.1     342.9    -163.1     326.1        62 </a:t>
            </a:r>
          </a:p>
          <a:p>
            <a:endParaRPr lang="fr-FR" sz="1050" dirty="0"/>
          </a:p>
          <a:p>
            <a:r>
              <a:rPr lang="fr-FR" sz="1050" dirty="0" err="1"/>
              <a:t>Random</a:t>
            </a:r>
            <a:r>
              <a:rPr lang="fr-FR" sz="1050" dirty="0"/>
              <a:t> </a:t>
            </a:r>
            <a:r>
              <a:rPr lang="fr-FR" sz="1050" dirty="0" err="1"/>
              <a:t>effects</a:t>
            </a:r>
            <a:r>
              <a:rPr lang="fr-FR" sz="1050" dirty="0"/>
              <a:t>:</a:t>
            </a:r>
          </a:p>
          <a:p>
            <a:endParaRPr lang="fr-FR" sz="1050" dirty="0"/>
          </a:p>
          <a:p>
            <a:r>
              <a:rPr lang="fr-FR" sz="1050" dirty="0" err="1"/>
              <a:t>Conditional</a:t>
            </a:r>
            <a:r>
              <a:rPr lang="fr-FR" sz="1050" dirty="0"/>
              <a:t> model:</a:t>
            </a:r>
          </a:p>
          <a:p>
            <a:r>
              <a:rPr lang="fr-FR" sz="1050" dirty="0"/>
              <a:t> Groups Name        Variance  </a:t>
            </a:r>
            <a:r>
              <a:rPr lang="fr-FR" sz="1050" dirty="0" err="1"/>
              <a:t>Std.Dev</a:t>
            </a:r>
            <a:r>
              <a:rPr lang="fr-FR" sz="1050" dirty="0"/>
              <a:t>. </a:t>
            </a:r>
          </a:p>
          <a:p>
            <a:r>
              <a:rPr lang="fr-FR" sz="1050" dirty="0"/>
              <a:t> plot   (Intercept) 1.524e-10 1.235e-05</a:t>
            </a:r>
          </a:p>
          <a:p>
            <a:r>
              <a:rPr lang="fr-FR" sz="1050" dirty="0" err="1"/>
              <a:t>Number</a:t>
            </a:r>
            <a:r>
              <a:rPr lang="fr-FR" sz="1050" dirty="0"/>
              <a:t> of </a:t>
            </a:r>
            <a:r>
              <a:rPr lang="fr-FR" sz="1050" dirty="0" err="1"/>
              <a:t>obs</a:t>
            </a:r>
            <a:r>
              <a:rPr lang="fr-FR" sz="1050" dirty="0"/>
              <a:t>: 66, groups:  plot, 22</a:t>
            </a:r>
          </a:p>
          <a:p>
            <a:endParaRPr lang="fr-FR" sz="1050" dirty="0"/>
          </a:p>
          <a:p>
            <a:r>
              <a:rPr lang="fr-FR" sz="1050" dirty="0" err="1"/>
              <a:t>Conditional</a:t>
            </a:r>
            <a:r>
              <a:rPr lang="fr-FR" sz="1050" dirty="0"/>
              <a:t> model:</a:t>
            </a:r>
          </a:p>
          <a:p>
            <a:r>
              <a:rPr lang="fr-FR" sz="1050" dirty="0"/>
              <a:t>                   </a:t>
            </a:r>
            <a:r>
              <a:rPr lang="fr-FR" sz="1050" dirty="0" err="1"/>
              <a:t>Estimate</a:t>
            </a:r>
            <a:r>
              <a:rPr lang="fr-FR" sz="1050" dirty="0"/>
              <a:t> Std. </a:t>
            </a:r>
            <a:r>
              <a:rPr lang="fr-FR" sz="1050" dirty="0" err="1"/>
              <a:t>Error</a:t>
            </a:r>
            <a:r>
              <a:rPr lang="fr-FR" sz="1050" dirty="0"/>
              <a:t> z value Pr(&gt;|z|)    </a:t>
            </a:r>
          </a:p>
          <a:p>
            <a:r>
              <a:rPr lang="fr-FR" sz="1050" dirty="0"/>
              <a:t>(Intercept)       2.4284617  0.2252669  10.780  &lt; 2e-16 ***</a:t>
            </a:r>
          </a:p>
          <a:p>
            <a:r>
              <a:rPr lang="fr-FR" sz="1050" dirty="0" err="1"/>
              <a:t>G_all</a:t>
            </a:r>
            <a:r>
              <a:rPr lang="fr-FR" sz="1050" dirty="0"/>
              <a:t>            -0.0009063  0.0087510  -0.104  0.91751    </a:t>
            </a:r>
          </a:p>
          <a:p>
            <a:r>
              <a:rPr lang="fr-FR" sz="1050" dirty="0">
                <a:highlight>
                  <a:srgbClr val="00FF00"/>
                </a:highlight>
              </a:rPr>
              <a:t>I(</a:t>
            </a:r>
            <a:r>
              <a:rPr lang="fr-FR" sz="1050" dirty="0" err="1">
                <a:highlight>
                  <a:srgbClr val="00FF00"/>
                </a:highlight>
              </a:rPr>
              <a:t>MEL_point</a:t>
            </a:r>
            <a:r>
              <a:rPr lang="fr-FR" sz="1050" dirty="0">
                <a:highlight>
                  <a:srgbClr val="00FF00"/>
                </a:highlight>
              </a:rPr>
              <a:t>/100)  0.3535493  0.1354959   2.609  0.00907 ** </a:t>
            </a:r>
          </a:p>
          <a:p>
            <a:r>
              <a:rPr lang="de-DE" sz="1050" dirty="0" err="1">
                <a:highlight>
                  <a:srgbClr val="00FFFF"/>
                </a:highlight>
              </a:rPr>
              <a:t>AICc</a:t>
            </a:r>
            <a:r>
              <a:rPr lang="de-DE" sz="1050" dirty="0">
                <a:highlight>
                  <a:srgbClr val="00FFFF"/>
                </a:highlight>
              </a:rPr>
              <a:t>(</a:t>
            </a:r>
            <a:r>
              <a:rPr lang="de-DE" sz="1050" dirty="0" err="1">
                <a:highlight>
                  <a:srgbClr val="00FFFF"/>
                </a:highlight>
              </a:rPr>
              <a:t>glmm_SR_all</a:t>
            </a:r>
            <a:r>
              <a:rPr lang="de-DE" sz="1050" dirty="0">
                <a:highlight>
                  <a:srgbClr val="00FFFF"/>
                </a:highlight>
              </a:rPr>
              <a:t>)  334.7857</a:t>
            </a:r>
            <a:endParaRPr lang="fr-FR" sz="1050" dirty="0">
              <a:highlight>
                <a:srgbClr val="00FFFF"/>
              </a:highlight>
            </a:endParaRP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97F98D62-6907-7744-A839-B190E904445A}"/>
              </a:ext>
            </a:extLst>
          </p:cNvPr>
          <p:cNvCxnSpPr>
            <a:cxnSpLocks/>
          </p:cNvCxnSpPr>
          <p:nvPr/>
        </p:nvCxnSpPr>
        <p:spPr>
          <a:xfrm>
            <a:off x="7144161" y="5703488"/>
            <a:ext cx="1104129" cy="624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666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189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oiseaux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46FF9E4-C21B-79EE-8F5B-1421D76B584B}"/>
              </a:ext>
            </a:extLst>
          </p:cNvPr>
          <p:cNvSpPr txBox="1"/>
          <p:nvPr/>
        </p:nvSpPr>
        <p:spPr>
          <a:xfrm>
            <a:off x="122334" y="646197"/>
            <a:ext cx="4511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GAM abondance totale par site fonction taux de mélange (feuillus) (+par catégorie)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B880CFB-0797-1704-F212-BD3EBB41CFEA}"/>
              </a:ext>
            </a:extLst>
          </p:cNvPr>
          <p:cNvSpPr txBox="1"/>
          <p:nvPr/>
        </p:nvSpPr>
        <p:spPr>
          <a:xfrm>
            <a:off x="8995752" y="3429000"/>
            <a:ext cx="29236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</a:rPr>
              <a:t>Effet plutôt linéaire du taux de feuillus sur l’abondance totale</a:t>
            </a:r>
          </a:p>
          <a:p>
            <a:r>
              <a:rPr lang="fr-FR" sz="1600" dirty="0">
                <a:solidFill>
                  <a:srgbClr val="FF0000"/>
                </a:solidFill>
              </a:rPr>
              <a:t>(mais </a:t>
            </a:r>
            <a:r>
              <a:rPr lang="fr-FR" sz="1600" dirty="0" err="1">
                <a:solidFill>
                  <a:srgbClr val="FF0000"/>
                </a:solidFill>
              </a:rPr>
              <a:t>AICc</a:t>
            </a:r>
            <a:r>
              <a:rPr lang="fr-FR" sz="1600" dirty="0">
                <a:solidFill>
                  <a:srgbClr val="FF0000"/>
                </a:solidFill>
              </a:rPr>
              <a:t> pratiquement identique)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243C8F5D-3E32-0A6B-B632-570761450372}"/>
              </a:ext>
            </a:extLst>
          </p:cNvPr>
          <p:cNvCxnSpPr>
            <a:cxnSpLocks/>
          </p:cNvCxnSpPr>
          <p:nvPr/>
        </p:nvCxnSpPr>
        <p:spPr>
          <a:xfrm flipH="1" flipV="1">
            <a:off x="8469549" y="3106366"/>
            <a:ext cx="408562" cy="580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1E79E6A1-2AB4-AE3E-2311-822BF5C2D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" y="1292528"/>
            <a:ext cx="4820103" cy="306502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237F295-40B7-3176-0A56-163852D2F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20" y="4360644"/>
            <a:ext cx="3789459" cy="240965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C0799EA-4BE3-46FF-838B-B32AB8C48D24}"/>
              </a:ext>
            </a:extLst>
          </p:cNvPr>
          <p:cNvSpPr txBox="1"/>
          <p:nvPr/>
        </p:nvSpPr>
        <p:spPr>
          <a:xfrm>
            <a:off x="5017688" y="90791"/>
            <a:ext cx="525122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&gt; </a:t>
            </a:r>
            <a:r>
              <a:rPr lang="fr-FR" sz="1000" dirty="0" err="1"/>
              <a:t>summary</a:t>
            </a:r>
            <a:r>
              <a:rPr lang="fr-FR" sz="1000" dirty="0"/>
              <a:t>(</a:t>
            </a:r>
            <a:r>
              <a:rPr lang="fr-FR" sz="1000" dirty="0" err="1"/>
              <a:t>glmm_Abdce_all</a:t>
            </a:r>
            <a:r>
              <a:rPr lang="fr-FR" sz="1000" dirty="0"/>
              <a:t>)</a:t>
            </a:r>
          </a:p>
          <a:p>
            <a:r>
              <a:rPr lang="fr-FR" sz="1000" dirty="0"/>
              <a:t> Family: poisson  ( log )</a:t>
            </a:r>
          </a:p>
          <a:p>
            <a:r>
              <a:rPr lang="fr-FR" sz="1000" dirty="0"/>
              <a:t>Formula:          </a:t>
            </a:r>
            <a:r>
              <a:rPr lang="fr-FR" sz="1000" dirty="0" err="1"/>
              <a:t>Abdce_all</a:t>
            </a:r>
            <a:r>
              <a:rPr lang="fr-FR" sz="1000" dirty="0"/>
              <a:t> ~ </a:t>
            </a:r>
            <a:r>
              <a:rPr lang="fr-FR" sz="1000" dirty="0" err="1"/>
              <a:t>G_all</a:t>
            </a:r>
            <a:r>
              <a:rPr lang="fr-FR" sz="1000" dirty="0"/>
              <a:t> + I(</a:t>
            </a:r>
            <a:r>
              <a:rPr lang="fr-FR" sz="1000" dirty="0" err="1"/>
              <a:t>MEL_point</a:t>
            </a:r>
            <a:r>
              <a:rPr lang="fr-FR" sz="1000" dirty="0"/>
              <a:t>/100) + I((</a:t>
            </a:r>
            <a:r>
              <a:rPr lang="fr-FR" sz="1000" dirty="0" err="1"/>
              <a:t>MEL_point</a:t>
            </a:r>
            <a:r>
              <a:rPr lang="fr-FR" sz="1000" dirty="0"/>
              <a:t>/100)^2) +      (1 | plot)</a:t>
            </a:r>
          </a:p>
          <a:p>
            <a:r>
              <a:rPr lang="fr-FR" sz="1000" dirty="0"/>
              <a:t>Data: </a:t>
            </a:r>
            <a:r>
              <a:rPr lang="fr-FR" sz="1000" dirty="0" err="1"/>
              <a:t>Bird.Rel.Env.Sp</a:t>
            </a:r>
            <a:endParaRPr lang="fr-FR" sz="1000" dirty="0"/>
          </a:p>
          <a:p>
            <a:r>
              <a:rPr lang="fr-FR" sz="1000" dirty="0"/>
              <a:t>      AIC       BIC    </a:t>
            </a:r>
            <a:r>
              <a:rPr lang="fr-FR" sz="1000" dirty="0" err="1"/>
              <a:t>logLik</a:t>
            </a:r>
            <a:r>
              <a:rPr lang="fr-FR" sz="1000" dirty="0"/>
              <a:t> -2*log(L)  </a:t>
            </a:r>
            <a:r>
              <a:rPr lang="fr-FR" sz="1000" dirty="0" err="1"/>
              <a:t>df.resid</a:t>
            </a:r>
            <a:r>
              <a:rPr lang="fr-FR" sz="1000" dirty="0"/>
              <a:t> </a:t>
            </a:r>
          </a:p>
          <a:p>
            <a:r>
              <a:rPr lang="fr-FR" sz="1000" dirty="0"/>
              <a:t>    388.0     398.9    -189.0     378.0        61 </a:t>
            </a:r>
          </a:p>
          <a:p>
            <a:endParaRPr lang="fr-FR" sz="1000" dirty="0"/>
          </a:p>
          <a:p>
            <a:r>
              <a:rPr lang="fr-FR" sz="1000" dirty="0" err="1"/>
              <a:t>Random</a:t>
            </a:r>
            <a:r>
              <a:rPr lang="fr-FR" sz="1000" dirty="0"/>
              <a:t> </a:t>
            </a:r>
            <a:r>
              <a:rPr lang="fr-FR" sz="1000" dirty="0" err="1"/>
              <a:t>effects</a:t>
            </a:r>
            <a:r>
              <a:rPr lang="fr-FR" sz="1000" dirty="0"/>
              <a:t>:</a:t>
            </a:r>
          </a:p>
          <a:p>
            <a:endParaRPr lang="fr-FR" sz="1000" dirty="0"/>
          </a:p>
          <a:p>
            <a:r>
              <a:rPr lang="fr-FR" sz="1000" dirty="0" err="1"/>
              <a:t>Conditional</a:t>
            </a:r>
            <a:r>
              <a:rPr lang="fr-FR" sz="1000" dirty="0"/>
              <a:t> model:</a:t>
            </a:r>
          </a:p>
          <a:p>
            <a:r>
              <a:rPr lang="fr-FR" sz="1000" dirty="0"/>
              <a:t> Groups Name        Variance  </a:t>
            </a:r>
            <a:r>
              <a:rPr lang="fr-FR" sz="1000" dirty="0" err="1"/>
              <a:t>Std.Dev</a:t>
            </a:r>
            <a:r>
              <a:rPr lang="fr-FR" sz="1000" dirty="0"/>
              <a:t>.</a:t>
            </a:r>
          </a:p>
          <a:p>
            <a:r>
              <a:rPr lang="fr-FR" sz="1000" dirty="0"/>
              <a:t> plot   (Intercept) 1.743e-10 1.32e-05</a:t>
            </a:r>
          </a:p>
          <a:p>
            <a:r>
              <a:rPr lang="fr-FR" sz="1000" dirty="0" err="1"/>
              <a:t>Number</a:t>
            </a:r>
            <a:r>
              <a:rPr lang="fr-FR" sz="1000" dirty="0"/>
              <a:t> of </a:t>
            </a:r>
            <a:r>
              <a:rPr lang="fr-FR" sz="1000" dirty="0" err="1"/>
              <a:t>obs</a:t>
            </a:r>
            <a:r>
              <a:rPr lang="fr-FR" sz="1000" dirty="0"/>
              <a:t>: 66, groups:  plot, 22</a:t>
            </a:r>
          </a:p>
          <a:p>
            <a:endParaRPr lang="fr-FR" sz="1000" dirty="0"/>
          </a:p>
          <a:p>
            <a:r>
              <a:rPr lang="fr-FR" sz="1000" dirty="0" err="1"/>
              <a:t>Conditional</a:t>
            </a:r>
            <a:r>
              <a:rPr lang="fr-FR" sz="1000" dirty="0"/>
              <a:t> model:</a:t>
            </a:r>
          </a:p>
          <a:p>
            <a:r>
              <a:rPr lang="fr-FR" sz="1000" dirty="0"/>
              <a:t>                       </a:t>
            </a:r>
            <a:r>
              <a:rPr lang="fr-FR" sz="1000" dirty="0" err="1"/>
              <a:t>Estimate</a:t>
            </a:r>
            <a:r>
              <a:rPr lang="fr-FR" sz="1000" dirty="0"/>
              <a:t> Std. </a:t>
            </a:r>
            <a:r>
              <a:rPr lang="fr-FR" sz="1000" dirty="0" err="1"/>
              <a:t>Error</a:t>
            </a:r>
            <a:r>
              <a:rPr lang="fr-FR" sz="1000" dirty="0"/>
              <a:t> z value Pr(&gt;|z|)    </a:t>
            </a:r>
          </a:p>
          <a:p>
            <a:r>
              <a:rPr lang="fr-FR" sz="1000" dirty="0"/>
              <a:t>(Intercept)           2.7729872  0.1855616  14.944   &lt;2e-16 ***</a:t>
            </a:r>
          </a:p>
          <a:p>
            <a:r>
              <a:rPr lang="fr-FR" sz="1000" dirty="0" err="1"/>
              <a:t>G_all</a:t>
            </a:r>
            <a:r>
              <a:rPr lang="fr-FR" sz="1000" dirty="0"/>
              <a:t>                -0.0004843  0.0071010  -0.068   0.9456    </a:t>
            </a:r>
          </a:p>
          <a:p>
            <a:r>
              <a:rPr lang="fr-FR" sz="1000" dirty="0">
                <a:highlight>
                  <a:srgbClr val="00FF00"/>
                </a:highlight>
              </a:rPr>
              <a:t>I(</a:t>
            </a:r>
            <a:r>
              <a:rPr lang="fr-FR" sz="1000" dirty="0" err="1">
                <a:highlight>
                  <a:srgbClr val="00FF00"/>
                </a:highlight>
              </a:rPr>
              <a:t>MEL_point</a:t>
            </a:r>
            <a:r>
              <a:rPr lang="fr-FR" sz="1000" dirty="0">
                <a:highlight>
                  <a:srgbClr val="00FF00"/>
                </a:highlight>
              </a:rPr>
              <a:t>/100)      0.9198519  0.4061184   2.265   0.0235 *  </a:t>
            </a:r>
          </a:p>
          <a:p>
            <a:r>
              <a:rPr lang="fr-FR" sz="1000" dirty="0">
                <a:highlight>
                  <a:srgbClr val="FFFF00"/>
                </a:highlight>
              </a:rPr>
              <a:t>I((</a:t>
            </a:r>
            <a:r>
              <a:rPr lang="fr-FR" sz="1000" dirty="0" err="1">
                <a:highlight>
                  <a:srgbClr val="FFFF00"/>
                </a:highlight>
              </a:rPr>
              <a:t>MEL_point</a:t>
            </a:r>
            <a:r>
              <a:rPr lang="fr-FR" sz="1000" dirty="0">
                <a:highlight>
                  <a:srgbClr val="FFFF00"/>
                </a:highlight>
              </a:rPr>
              <a:t>/100)^2) -0.6660573  0.4838513  -1.377   0.1686 </a:t>
            </a:r>
          </a:p>
          <a:p>
            <a:r>
              <a:rPr lang="fr-FR" sz="1000" dirty="0">
                <a:highlight>
                  <a:srgbClr val="00FFFF"/>
                </a:highlight>
              </a:rPr>
              <a:t>AICc(</a:t>
            </a:r>
            <a:r>
              <a:rPr lang="fr-FR" sz="1000" dirty="0" err="1">
                <a:highlight>
                  <a:srgbClr val="00FFFF"/>
                </a:highlight>
              </a:rPr>
              <a:t>glmm_Abdce_all</a:t>
            </a:r>
            <a:r>
              <a:rPr lang="fr-FR" sz="1000" dirty="0">
                <a:highlight>
                  <a:srgbClr val="00FFFF"/>
                </a:highlight>
              </a:rPr>
              <a:t>) #388.9731</a:t>
            </a:r>
          </a:p>
          <a:p>
            <a:endParaRPr lang="fr-FR" sz="1000" dirty="0">
              <a:highlight>
                <a:srgbClr val="FFFF00"/>
              </a:highlight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18427CF-E64D-5E8D-A6A5-00A9BEF16F21}"/>
              </a:ext>
            </a:extLst>
          </p:cNvPr>
          <p:cNvSpPr txBox="1"/>
          <p:nvPr/>
        </p:nvSpPr>
        <p:spPr>
          <a:xfrm>
            <a:off x="5017688" y="3429000"/>
            <a:ext cx="402105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&gt; </a:t>
            </a:r>
            <a:r>
              <a:rPr lang="fr-FR" sz="1000" dirty="0" err="1"/>
              <a:t>summary</a:t>
            </a:r>
            <a:r>
              <a:rPr lang="fr-FR" sz="1000" dirty="0"/>
              <a:t>(</a:t>
            </a:r>
            <a:r>
              <a:rPr lang="fr-FR" sz="1000" dirty="0" err="1"/>
              <a:t>glmm_Abdce_all</a:t>
            </a:r>
            <a:r>
              <a:rPr lang="fr-FR" sz="1000" dirty="0"/>
              <a:t>)</a:t>
            </a:r>
          </a:p>
          <a:p>
            <a:r>
              <a:rPr lang="fr-FR" sz="1000" dirty="0"/>
              <a:t> Family: poisson  ( log )</a:t>
            </a:r>
          </a:p>
          <a:p>
            <a:r>
              <a:rPr lang="fr-FR" sz="1000" dirty="0"/>
              <a:t>Formula:          </a:t>
            </a:r>
            <a:r>
              <a:rPr lang="fr-FR" sz="1000" dirty="0" err="1"/>
              <a:t>Abdce_all</a:t>
            </a:r>
            <a:r>
              <a:rPr lang="fr-FR" sz="1000" dirty="0"/>
              <a:t> ~ </a:t>
            </a:r>
            <a:r>
              <a:rPr lang="fr-FR" sz="1000" dirty="0" err="1"/>
              <a:t>G_all</a:t>
            </a:r>
            <a:r>
              <a:rPr lang="fr-FR" sz="1000" dirty="0"/>
              <a:t> + I(</a:t>
            </a:r>
            <a:r>
              <a:rPr lang="fr-FR" sz="1000" dirty="0" err="1"/>
              <a:t>MEL_point</a:t>
            </a:r>
            <a:r>
              <a:rPr lang="fr-FR" sz="1000" dirty="0"/>
              <a:t>/100) + (1 | plot)</a:t>
            </a:r>
          </a:p>
          <a:p>
            <a:r>
              <a:rPr lang="fr-FR" sz="1000" dirty="0"/>
              <a:t>Data: </a:t>
            </a:r>
            <a:r>
              <a:rPr lang="fr-FR" sz="1000" dirty="0" err="1"/>
              <a:t>Bird.Rel.Env.Sp</a:t>
            </a:r>
            <a:endParaRPr lang="fr-FR" sz="1000" dirty="0"/>
          </a:p>
          <a:p>
            <a:r>
              <a:rPr lang="fr-FR" sz="1000" dirty="0"/>
              <a:t>      AIC       BIC    </a:t>
            </a:r>
            <a:r>
              <a:rPr lang="fr-FR" sz="1000" dirty="0" err="1"/>
              <a:t>logLik</a:t>
            </a:r>
            <a:r>
              <a:rPr lang="fr-FR" sz="1000" dirty="0"/>
              <a:t> -2*log(L)  </a:t>
            </a:r>
            <a:r>
              <a:rPr lang="fr-FR" sz="1000" dirty="0" err="1"/>
              <a:t>df.resid</a:t>
            </a:r>
            <a:r>
              <a:rPr lang="fr-FR" sz="1000" dirty="0"/>
              <a:t> </a:t>
            </a:r>
          </a:p>
          <a:p>
            <a:r>
              <a:rPr lang="fr-FR" sz="1000" dirty="0"/>
              <a:t>    387.9     396.7    -189.9     379.9        62 </a:t>
            </a:r>
          </a:p>
          <a:p>
            <a:endParaRPr lang="fr-FR" sz="1000" dirty="0"/>
          </a:p>
          <a:p>
            <a:r>
              <a:rPr lang="fr-FR" sz="1000" dirty="0" err="1"/>
              <a:t>Random</a:t>
            </a:r>
            <a:r>
              <a:rPr lang="fr-FR" sz="1000" dirty="0"/>
              <a:t> </a:t>
            </a:r>
            <a:r>
              <a:rPr lang="fr-FR" sz="1000" dirty="0" err="1"/>
              <a:t>effects</a:t>
            </a:r>
            <a:r>
              <a:rPr lang="fr-FR" sz="1000" dirty="0"/>
              <a:t>:</a:t>
            </a:r>
          </a:p>
          <a:p>
            <a:endParaRPr lang="fr-FR" sz="1000" dirty="0"/>
          </a:p>
          <a:p>
            <a:r>
              <a:rPr lang="fr-FR" sz="1000" dirty="0" err="1"/>
              <a:t>Conditional</a:t>
            </a:r>
            <a:r>
              <a:rPr lang="fr-FR" sz="1000" dirty="0"/>
              <a:t> model:</a:t>
            </a:r>
          </a:p>
          <a:p>
            <a:r>
              <a:rPr lang="fr-FR" sz="1000" dirty="0"/>
              <a:t> Groups Name        Variance  </a:t>
            </a:r>
            <a:r>
              <a:rPr lang="fr-FR" sz="1000" dirty="0" err="1"/>
              <a:t>Std.Dev</a:t>
            </a:r>
            <a:r>
              <a:rPr lang="fr-FR" sz="1000" dirty="0"/>
              <a:t>. </a:t>
            </a:r>
          </a:p>
          <a:p>
            <a:r>
              <a:rPr lang="fr-FR" sz="1000" dirty="0"/>
              <a:t> plot   (Intercept) 6.601e-09 8.125e-05</a:t>
            </a:r>
          </a:p>
          <a:p>
            <a:r>
              <a:rPr lang="fr-FR" sz="1000" dirty="0" err="1"/>
              <a:t>Number</a:t>
            </a:r>
            <a:r>
              <a:rPr lang="fr-FR" sz="1000" dirty="0"/>
              <a:t> of </a:t>
            </a:r>
            <a:r>
              <a:rPr lang="fr-FR" sz="1000" dirty="0" err="1"/>
              <a:t>obs</a:t>
            </a:r>
            <a:r>
              <a:rPr lang="fr-FR" sz="1000" dirty="0"/>
              <a:t>: 66, groups:  plot, 22</a:t>
            </a:r>
          </a:p>
          <a:p>
            <a:endParaRPr lang="fr-FR" sz="1000" dirty="0"/>
          </a:p>
          <a:p>
            <a:r>
              <a:rPr lang="fr-FR" sz="1000" dirty="0" err="1"/>
              <a:t>Conditional</a:t>
            </a:r>
            <a:r>
              <a:rPr lang="fr-FR" sz="1000" dirty="0"/>
              <a:t> model:</a:t>
            </a:r>
          </a:p>
          <a:p>
            <a:r>
              <a:rPr lang="fr-FR" sz="1000" dirty="0"/>
              <a:t>                  </a:t>
            </a:r>
            <a:r>
              <a:rPr lang="fr-FR" sz="1000" dirty="0" err="1"/>
              <a:t>Estimate</a:t>
            </a:r>
            <a:r>
              <a:rPr lang="fr-FR" sz="1000" dirty="0"/>
              <a:t> Std. </a:t>
            </a:r>
            <a:r>
              <a:rPr lang="fr-FR" sz="1000" dirty="0" err="1"/>
              <a:t>Error</a:t>
            </a:r>
            <a:r>
              <a:rPr lang="fr-FR" sz="1000" dirty="0"/>
              <a:t> z value Pr(&gt;|z|)    </a:t>
            </a:r>
          </a:p>
          <a:p>
            <a:r>
              <a:rPr lang="fr-FR" sz="1000" dirty="0"/>
              <a:t>(Intercept)      2.8173088  0.1814950  15.523  &lt; 2e-16 ***</a:t>
            </a:r>
          </a:p>
          <a:p>
            <a:r>
              <a:rPr lang="fr-FR" sz="1000" dirty="0" err="1"/>
              <a:t>G_all</a:t>
            </a:r>
            <a:r>
              <a:rPr lang="fr-FR" sz="1000" dirty="0"/>
              <a:t>            0.0003549  0.0070422   0.050 0.959803    </a:t>
            </a:r>
          </a:p>
          <a:p>
            <a:r>
              <a:rPr lang="fr-FR" sz="1000" dirty="0">
                <a:highlight>
                  <a:srgbClr val="00FF00"/>
                </a:highlight>
              </a:rPr>
              <a:t>I(</a:t>
            </a:r>
            <a:r>
              <a:rPr lang="fr-FR" sz="1000" dirty="0" err="1">
                <a:highlight>
                  <a:srgbClr val="00FF00"/>
                </a:highlight>
              </a:rPr>
              <a:t>MEL_point</a:t>
            </a:r>
            <a:r>
              <a:rPr lang="fr-FR" sz="1000" dirty="0">
                <a:highlight>
                  <a:srgbClr val="00FF00"/>
                </a:highlight>
              </a:rPr>
              <a:t>/100) 0.3808931  0.1092179   3.487 0.000488 ***</a:t>
            </a:r>
          </a:p>
          <a:p>
            <a:r>
              <a:rPr lang="fr-FR" sz="1000" dirty="0">
                <a:highlight>
                  <a:srgbClr val="00FFFF"/>
                </a:highlight>
              </a:rPr>
              <a:t>AICc(</a:t>
            </a:r>
            <a:r>
              <a:rPr lang="fr-FR" sz="1000" dirty="0" err="1">
                <a:highlight>
                  <a:srgbClr val="00FFFF"/>
                </a:highlight>
              </a:rPr>
              <a:t>glmm_Abdce_all</a:t>
            </a:r>
            <a:r>
              <a:rPr lang="fr-FR" sz="1000" dirty="0">
                <a:highlight>
                  <a:srgbClr val="00FFFF"/>
                </a:highlight>
              </a:rPr>
              <a:t>) #388.5486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3BCF0690-85D3-9846-4284-8CBB9766A2DB}"/>
              </a:ext>
            </a:extLst>
          </p:cNvPr>
          <p:cNvCxnSpPr>
            <a:cxnSpLocks/>
          </p:cNvCxnSpPr>
          <p:nvPr/>
        </p:nvCxnSpPr>
        <p:spPr>
          <a:xfrm flipH="1">
            <a:off x="8417668" y="4272035"/>
            <a:ext cx="538264" cy="1798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150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A04BB87F-9741-9760-2F5A-00B76030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35" y="2203828"/>
            <a:ext cx="7319217" cy="465417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7785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oiseaux – composition ACP (toutes espèces, données d’abondance)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30CA7A0-047D-1465-AA12-C46A95F1AA37}"/>
              </a:ext>
            </a:extLst>
          </p:cNvPr>
          <p:cNvSpPr txBox="1"/>
          <p:nvPr/>
        </p:nvSpPr>
        <p:spPr>
          <a:xfrm>
            <a:off x="7976680" y="2359116"/>
            <a:ext cx="614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RDA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67C00D7-7356-9CDF-7B70-C00A6110B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8" y="771727"/>
            <a:ext cx="4696441" cy="2986391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8B99C1C3-97D2-AD83-07CB-6F5E104C8418}"/>
              </a:ext>
            </a:extLst>
          </p:cNvPr>
          <p:cNvSpPr txBox="1"/>
          <p:nvPr/>
        </p:nvSpPr>
        <p:spPr>
          <a:xfrm>
            <a:off x="5352258" y="882815"/>
            <a:ext cx="6363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Composition du mélange apparaissant plus comme intermédiaire entre peuplements purs</a:t>
            </a:r>
          </a:p>
        </p:txBody>
      </p:sp>
    </p:spTree>
    <p:extLst>
      <p:ext uri="{BB962C8B-B14F-4D97-AF65-F5344CB8AC3E}">
        <p14:creationId xmlns:p14="http://schemas.microsoft.com/office/powerpoint/2010/main" val="2316471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2510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oiseaux – RLQ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7C1AE62-BEBA-A199-8DDA-0EC68ED47480}"/>
              </a:ext>
            </a:extLst>
          </p:cNvPr>
          <p:cNvSpPr txBox="1"/>
          <p:nvPr/>
        </p:nvSpPr>
        <p:spPr>
          <a:xfrm>
            <a:off x="495359" y="1292574"/>
            <a:ext cx="52140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Traits (</a:t>
            </a:r>
            <a:r>
              <a:rPr lang="fr-FR" sz="1600" dirty="0" err="1"/>
              <a:t>avinet</a:t>
            </a:r>
            <a:r>
              <a:rPr lang="fr-FR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Diet (insectivore vs granivore vs omnivore)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Mobility</a:t>
            </a:r>
            <a:r>
              <a:rPr lang="fr-FR" sz="1400" dirty="0"/>
              <a:t> MOB (sédentaire/</a:t>
            </a:r>
            <a:r>
              <a:rPr lang="fr-FR" sz="1400" dirty="0" err="1"/>
              <a:t>migr</a:t>
            </a:r>
            <a:r>
              <a:rPr lang="fr-FR" sz="1400" dirty="0"/>
              <a:t> courte </a:t>
            </a:r>
            <a:r>
              <a:rPr lang="fr-FR" sz="1400" dirty="0" err="1"/>
              <a:t>dist</a:t>
            </a:r>
            <a:r>
              <a:rPr lang="fr-FR" sz="1400" dirty="0"/>
              <a:t> vs </a:t>
            </a:r>
            <a:r>
              <a:rPr lang="fr-FR" sz="1400" dirty="0" err="1"/>
              <a:t>migr</a:t>
            </a:r>
            <a:r>
              <a:rPr lang="fr-FR" sz="1400" dirty="0"/>
              <a:t> longue </a:t>
            </a:r>
            <a:r>
              <a:rPr lang="fr-FR" sz="1400" dirty="0" err="1"/>
              <a:t>dist</a:t>
            </a:r>
            <a:r>
              <a:rPr lang="fr-FR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Habitat (</a:t>
            </a:r>
            <a:r>
              <a:rPr lang="fr-FR" sz="1400" dirty="0" err="1"/>
              <a:t>forest</a:t>
            </a:r>
            <a:r>
              <a:rPr lang="fr-FR" sz="1400" dirty="0"/>
              <a:t> vs </a:t>
            </a:r>
            <a:r>
              <a:rPr lang="fr-FR" sz="1400" dirty="0" err="1"/>
              <a:t>wood</a:t>
            </a:r>
            <a:r>
              <a:rPr lang="fr-FR" sz="1400" dirty="0"/>
              <a:t> vs </a:t>
            </a:r>
            <a:r>
              <a:rPr lang="fr-FR" sz="1400" dirty="0" err="1"/>
              <a:t>other</a:t>
            </a:r>
            <a:r>
              <a:rPr lang="fr-FR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Tarsus </a:t>
            </a:r>
            <a:r>
              <a:rPr lang="fr-FR" sz="1400" dirty="0" err="1"/>
              <a:t>length</a:t>
            </a:r>
            <a:r>
              <a:rPr lang="fr-FR" sz="1400" dirty="0"/>
              <a:t>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8C8C7ED-94CD-BCD4-1DC3-0EAEAA863655}"/>
              </a:ext>
            </a:extLst>
          </p:cNvPr>
          <p:cNvSpPr txBox="1"/>
          <p:nvPr/>
        </p:nvSpPr>
        <p:spPr>
          <a:xfrm>
            <a:off x="495359" y="715753"/>
            <a:ext cx="1546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Sites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G et %feuillus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5B3211-F471-5620-E782-AA2F59C82924}"/>
              </a:ext>
            </a:extLst>
          </p:cNvPr>
          <p:cNvSpPr txBox="1"/>
          <p:nvPr/>
        </p:nvSpPr>
        <p:spPr>
          <a:xfrm>
            <a:off x="7166809" y="4399608"/>
            <a:ext cx="46887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</a:rPr>
              <a:t>Pas vraiment de traits sélectionnés par le mélange</a:t>
            </a:r>
          </a:p>
          <a:p>
            <a:r>
              <a:rPr lang="fr-FR" sz="1600" dirty="0">
                <a:solidFill>
                  <a:srgbClr val="FF0000"/>
                </a:solidFill>
              </a:rPr>
              <a:t>Tir groupé des mésanges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B5714B2-DDDA-80B3-2594-4996C879C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3" y="2405974"/>
            <a:ext cx="6802851" cy="432582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7E3642E-1CBF-4561-932F-C30ECEA81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415" y="126203"/>
            <a:ext cx="6267022" cy="3985098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E50B16B-043C-2717-E95C-275F571300CA}"/>
              </a:ext>
            </a:extLst>
          </p:cNvPr>
          <p:cNvSpPr txBox="1"/>
          <p:nvPr/>
        </p:nvSpPr>
        <p:spPr>
          <a:xfrm>
            <a:off x="3819728" y="336854"/>
            <a:ext cx="1837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Taux de mélange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7E1255E7-50D7-F510-5092-352A22A31ABF}"/>
              </a:ext>
            </a:extLst>
          </p:cNvPr>
          <p:cNvCxnSpPr/>
          <p:nvPr/>
        </p:nvCxnSpPr>
        <p:spPr>
          <a:xfrm>
            <a:off x="5322830" y="737121"/>
            <a:ext cx="386585" cy="255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901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2715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oiseaux – </a:t>
            </a:r>
            <a:r>
              <a:rPr lang="fr-FR" dirty="0" err="1"/>
              <a:t>IndVal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37AA6E6-9C9D-71F3-DEA9-554C578105A1}"/>
              </a:ext>
            </a:extLst>
          </p:cNvPr>
          <p:cNvSpPr txBox="1"/>
          <p:nvPr/>
        </p:nvSpPr>
        <p:spPr>
          <a:xfrm>
            <a:off x="6433691" y="940712"/>
            <a:ext cx="102754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&gt; </a:t>
            </a:r>
            <a:r>
              <a:rPr lang="fr-FR" sz="1400" dirty="0" err="1"/>
              <a:t>aa.Bird</a:t>
            </a:r>
            <a:r>
              <a:rPr lang="fr-FR" sz="1400" dirty="0"/>
              <a:t>&lt;-</a:t>
            </a:r>
            <a:r>
              <a:rPr lang="fr-FR" sz="1400" dirty="0" err="1"/>
              <a:t>betapart.core.abund</a:t>
            </a:r>
            <a:r>
              <a:rPr lang="fr-FR" sz="1400" dirty="0"/>
              <a:t>(</a:t>
            </a:r>
            <a:r>
              <a:rPr lang="fr-FR" sz="1400" dirty="0" err="1"/>
              <a:t>Bird.Rel.Env.Sp</a:t>
            </a:r>
            <a:r>
              <a:rPr lang="fr-FR" sz="1400" dirty="0"/>
              <a:t>[,c(8:46)])</a:t>
            </a:r>
          </a:p>
          <a:p>
            <a:r>
              <a:rPr lang="fr-FR" sz="1400" dirty="0"/>
              <a:t>&gt; </a:t>
            </a:r>
            <a:r>
              <a:rPr lang="fr-FR" sz="1400" dirty="0" err="1"/>
              <a:t>beta.multi.abund</a:t>
            </a:r>
            <a:r>
              <a:rPr lang="fr-FR" sz="1400" dirty="0"/>
              <a:t>(</a:t>
            </a:r>
            <a:r>
              <a:rPr lang="fr-FR" sz="1400" dirty="0" err="1"/>
              <a:t>aa.Bird</a:t>
            </a:r>
            <a:r>
              <a:rPr lang="fr-FR" sz="1400" dirty="0"/>
              <a:t>, </a:t>
            </a:r>
            <a:r>
              <a:rPr lang="fr-FR" sz="1400" dirty="0" err="1"/>
              <a:t>index.family</a:t>
            </a:r>
            <a:r>
              <a:rPr lang="fr-FR" sz="1400" dirty="0"/>
              <a:t>="</a:t>
            </a:r>
            <a:r>
              <a:rPr lang="fr-FR" sz="1400" dirty="0" err="1"/>
              <a:t>bray</a:t>
            </a:r>
            <a:r>
              <a:rPr lang="fr-FR" sz="1400" dirty="0"/>
              <a:t>")</a:t>
            </a:r>
          </a:p>
          <a:p>
            <a:r>
              <a:rPr lang="fr-FR" sz="1400" dirty="0"/>
              <a:t>$</a:t>
            </a:r>
            <a:r>
              <a:rPr lang="fr-FR" sz="1400" dirty="0" err="1"/>
              <a:t>beta.BRAY.BAL</a:t>
            </a:r>
            <a:endParaRPr lang="fr-FR" sz="1400" dirty="0"/>
          </a:p>
          <a:p>
            <a:r>
              <a:rPr lang="fr-FR" sz="1400" dirty="0"/>
              <a:t>[1] 0.9237699</a:t>
            </a:r>
          </a:p>
          <a:p>
            <a:endParaRPr lang="fr-FR" sz="1400" dirty="0"/>
          </a:p>
          <a:p>
            <a:r>
              <a:rPr lang="fr-FR" sz="1400" dirty="0"/>
              <a:t>$</a:t>
            </a:r>
            <a:r>
              <a:rPr lang="fr-FR" sz="1400" dirty="0" err="1"/>
              <a:t>beta.BRAY.GRA</a:t>
            </a:r>
            <a:endParaRPr lang="fr-FR" sz="1400" dirty="0"/>
          </a:p>
          <a:p>
            <a:r>
              <a:rPr lang="fr-FR" sz="1400" dirty="0"/>
              <a:t>[1] 0.02037705</a:t>
            </a:r>
          </a:p>
          <a:p>
            <a:endParaRPr lang="fr-FR" sz="1400" dirty="0"/>
          </a:p>
          <a:p>
            <a:r>
              <a:rPr lang="fr-FR" sz="1400" dirty="0"/>
              <a:t>$</a:t>
            </a:r>
            <a:r>
              <a:rPr lang="fr-FR" sz="1400" dirty="0" err="1"/>
              <a:t>beta.BRAY</a:t>
            </a:r>
            <a:endParaRPr lang="fr-FR" sz="1400" dirty="0"/>
          </a:p>
          <a:p>
            <a:r>
              <a:rPr lang="fr-FR" sz="1400" dirty="0"/>
              <a:t>[1] 0.944147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DC4B07E-316A-94EB-2767-834614F707B7}"/>
              </a:ext>
            </a:extLst>
          </p:cNvPr>
          <p:cNvSpPr txBox="1"/>
          <p:nvPr/>
        </p:nvSpPr>
        <p:spPr>
          <a:xfrm>
            <a:off x="6381064" y="360042"/>
            <a:ext cx="1826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Beta </a:t>
            </a:r>
            <a:r>
              <a:rPr lang="fr-FR" dirty="0" err="1"/>
              <a:t>partitioning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F132B76-16A2-3976-684A-7D755BD10CE9}"/>
              </a:ext>
            </a:extLst>
          </p:cNvPr>
          <p:cNvSpPr txBox="1"/>
          <p:nvPr/>
        </p:nvSpPr>
        <p:spPr>
          <a:xfrm>
            <a:off x="190774" y="618599"/>
            <a:ext cx="59863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&gt; </a:t>
            </a:r>
            <a:r>
              <a:rPr lang="fr-FR" sz="1200" dirty="0" err="1"/>
              <a:t>indval_Bird</a:t>
            </a:r>
            <a:r>
              <a:rPr lang="fr-FR" sz="1200" dirty="0"/>
              <a:t> &lt;- </a:t>
            </a:r>
            <a:r>
              <a:rPr lang="fr-FR" sz="1200" dirty="0" err="1"/>
              <a:t>multipatt</a:t>
            </a:r>
            <a:r>
              <a:rPr lang="fr-FR" sz="1200" dirty="0"/>
              <a:t>(</a:t>
            </a:r>
            <a:r>
              <a:rPr lang="fr-FR" sz="1200" dirty="0" err="1"/>
              <a:t>Bird.Rel.Env.Sp</a:t>
            </a:r>
            <a:r>
              <a:rPr lang="fr-FR" sz="1200" dirty="0"/>
              <a:t>[,c(8:46)], </a:t>
            </a:r>
            <a:r>
              <a:rPr lang="fr-FR" sz="1200" dirty="0" err="1"/>
              <a:t>Bird.Rel.Env.Sp$MEL_point_cat,control</a:t>
            </a:r>
            <a:r>
              <a:rPr lang="fr-FR" sz="1200" dirty="0"/>
              <a:t> = how(</a:t>
            </a:r>
            <a:r>
              <a:rPr lang="fr-FR" sz="1200" dirty="0" err="1"/>
              <a:t>nperm</a:t>
            </a:r>
            <a:r>
              <a:rPr lang="fr-FR" sz="1200" dirty="0"/>
              <a:t>=999)) </a:t>
            </a:r>
          </a:p>
          <a:p>
            <a:r>
              <a:rPr lang="fr-FR" sz="1200" dirty="0"/>
              <a:t>&gt; </a:t>
            </a:r>
            <a:r>
              <a:rPr lang="fr-FR" sz="1200" dirty="0" err="1"/>
              <a:t>summary</a:t>
            </a:r>
            <a:r>
              <a:rPr lang="fr-FR" sz="1200" dirty="0"/>
              <a:t>(</a:t>
            </a:r>
            <a:r>
              <a:rPr lang="fr-FR" sz="1200" dirty="0" err="1"/>
              <a:t>indval_Bird</a:t>
            </a:r>
            <a:r>
              <a:rPr lang="fr-FR" sz="1200" dirty="0"/>
              <a:t>)</a:t>
            </a:r>
          </a:p>
          <a:p>
            <a:endParaRPr lang="fr-FR" sz="1200" dirty="0"/>
          </a:p>
          <a:p>
            <a:r>
              <a:rPr lang="fr-FR" sz="1200" dirty="0"/>
              <a:t> </a:t>
            </a:r>
            <a:r>
              <a:rPr lang="fr-FR" sz="1200" dirty="0" err="1"/>
              <a:t>Multilevel</a:t>
            </a:r>
            <a:r>
              <a:rPr lang="fr-FR" sz="1200" dirty="0"/>
              <a:t> pattern </a:t>
            </a:r>
            <a:r>
              <a:rPr lang="fr-FR" sz="1200" dirty="0" err="1"/>
              <a:t>analysis</a:t>
            </a:r>
            <a:endParaRPr lang="fr-FR" sz="1200" dirty="0"/>
          </a:p>
          <a:p>
            <a:r>
              <a:rPr lang="fr-FR" sz="1200" dirty="0"/>
              <a:t> ---------------------------</a:t>
            </a:r>
          </a:p>
          <a:p>
            <a:endParaRPr lang="fr-FR" sz="1200" dirty="0"/>
          </a:p>
          <a:p>
            <a:r>
              <a:rPr lang="fr-FR" sz="1200" dirty="0"/>
              <a:t> Association </a:t>
            </a:r>
            <a:r>
              <a:rPr lang="fr-FR" sz="1200" dirty="0" err="1"/>
              <a:t>function</a:t>
            </a:r>
            <a:r>
              <a:rPr lang="fr-FR" sz="1200" dirty="0"/>
              <a:t>: </a:t>
            </a:r>
            <a:r>
              <a:rPr lang="fr-FR" sz="1200" dirty="0" err="1"/>
              <a:t>IndVal.g</a:t>
            </a:r>
            <a:endParaRPr lang="fr-FR" sz="1200" dirty="0"/>
          </a:p>
          <a:p>
            <a:r>
              <a:rPr lang="fr-FR" sz="1200" dirty="0"/>
              <a:t> </a:t>
            </a:r>
            <a:r>
              <a:rPr lang="fr-FR" sz="1200" dirty="0" err="1"/>
              <a:t>Significance</a:t>
            </a:r>
            <a:r>
              <a:rPr lang="fr-FR" sz="1200" dirty="0"/>
              <a:t> </a:t>
            </a:r>
            <a:r>
              <a:rPr lang="fr-FR" sz="1200" dirty="0" err="1"/>
              <a:t>level</a:t>
            </a:r>
            <a:r>
              <a:rPr lang="fr-FR" sz="1200" dirty="0"/>
              <a:t> (alpha): 0.05</a:t>
            </a:r>
          </a:p>
          <a:p>
            <a:endParaRPr lang="fr-FR" sz="1200" dirty="0"/>
          </a:p>
          <a:p>
            <a:r>
              <a:rPr lang="fr-FR" sz="1200" dirty="0"/>
              <a:t> Total </a:t>
            </a:r>
            <a:r>
              <a:rPr lang="fr-FR" sz="1200" dirty="0" err="1"/>
              <a:t>number</a:t>
            </a:r>
            <a:r>
              <a:rPr lang="fr-FR" sz="1200" dirty="0"/>
              <a:t> of </a:t>
            </a:r>
            <a:r>
              <a:rPr lang="fr-FR" sz="1200" dirty="0" err="1"/>
              <a:t>species</a:t>
            </a:r>
            <a:r>
              <a:rPr lang="fr-FR" sz="1200" dirty="0"/>
              <a:t>: 39</a:t>
            </a:r>
          </a:p>
          <a:p>
            <a:r>
              <a:rPr lang="fr-FR" sz="1200" dirty="0"/>
              <a:t> </a:t>
            </a:r>
            <a:r>
              <a:rPr lang="fr-FR" sz="1200" dirty="0" err="1"/>
              <a:t>Selected</a:t>
            </a:r>
            <a:r>
              <a:rPr lang="fr-FR" sz="1200" dirty="0"/>
              <a:t> </a:t>
            </a:r>
            <a:r>
              <a:rPr lang="fr-FR" sz="1200" dirty="0" err="1"/>
              <a:t>number</a:t>
            </a:r>
            <a:r>
              <a:rPr lang="fr-FR" sz="1200" dirty="0"/>
              <a:t> of </a:t>
            </a:r>
            <a:r>
              <a:rPr lang="fr-FR" sz="1200" dirty="0" err="1"/>
              <a:t>species</a:t>
            </a:r>
            <a:r>
              <a:rPr lang="fr-FR" sz="1200" dirty="0"/>
              <a:t>: 5 </a:t>
            </a:r>
          </a:p>
          <a:p>
            <a:r>
              <a:rPr lang="fr-FR" sz="1200" dirty="0"/>
              <a:t> </a:t>
            </a:r>
            <a:r>
              <a:rPr lang="fr-FR" sz="1200" dirty="0" err="1"/>
              <a:t>Number</a:t>
            </a:r>
            <a:r>
              <a:rPr lang="fr-FR" sz="1200" dirty="0"/>
              <a:t> of </a:t>
            </a:r>
            <a:r>
              <a:rPr lang="fr-FR" sz="1200" dirty="0" err="1"/>
              <a:t>species</a:t>
            </a:r>
            <a:r>
              <a:rPr lang="fr-FR" sz="1200" dirty="0"/>
              <a:t> </a:t>
            </a:r>
            <a:r>
              <a:rPr lang="fr-FR" sz="1200" dirty="0" err="1"/>
              <a:t>associated</a:t>
            </a:r>
            <a:r>
              <a:rPr lang="fr-FR" sz="1200" dirty="0"/>
              <a:t> to 1 group: 2 </a:t>
            </a:r>
          </a:p>
          <a:p>
            <a:r>
              <a:rPr lang="fr-FR" sz="1200" dirty="0"/>
              <a:t> </a:t>
            </a:r>
            <a:r>
              <a:rPr lang="fr-FR" sz="1200" dirty="0" err="1"/>
              <a:t>Number</a:t>
            </a:r>
            <a:r>
              <a:rPr lang="fr-FR" sz="1200" dirty="0"/>
              <a:t> of </a:t>
            </a:r>
            <a:r>
              <a:rPr lang="fr-FR" sz="1200" dirty="0" err="1"/>
              <a:t>species</a:t>
            </a:r>
            <a:r>
              <a:rPr lang="fr-FR" sz="1200" dirty="0"/>
              <a:t> </a:t>
            </a:r>
            <a:r>
              <a:rPr lang="fr-FR" sz="1200" dirty="0" err="1"/>
              <a:t>associated</a:t>
            </a:r>
            <a:r>
              <a:rPr lang="fr-FR" sz="1200" dirty="0"/>
              <a:t> to 2 groups: 3 </a:t>
            </a:r>
          </a:p>
          <a:p>
            <a:endParaRPr lang="fr-FR" sz="1200" dirty="0"/>
          </a:p>
          <a:p>
            <a:r>
              <a:rPr lang="fr-FR" sz="1200" dirty="0"/>
              <a:t> List of </a:t>
            </a:r>
            <a:r>
              <a:rPr lang="fr-FR" sz="1200" dirty="0" err="1"/>
              <a:t>species</a:t>
            </a:r>
            <a:r>
              <a:rPr lang="fr-FR" sz="1200" dirty="0"/>
              <a:t> </a:t>
            </a:r>
            <a:r>
              <a:rPr lang="fr-FR" sz="1200" dirty="0" err="1"/>
              <a:t>associated</a:t>
            </a:r>
            <a:r>
              <a:rPr lang="fr-FR" sz="1200" dirty="0"/>
              <a:t> to </a:t>
            </a:r>
            <a:r>
              <a:rPr lang="fr-FR" sz="1200" dirty="0" err="1"/>
              <a:t>each</a:t>
            </a:r>
            <a:r>
              <a:rPr lang="fr-FR" sz="1200" dirty="0"/>
              <a:t> combination: </a:t>
            </a:r>
          </a:p>
          <a:p>
            <a:endParaRPr lang="fr-FR" sz="1200" dirty="0"/>
          </a:p>
          <a:p>
            <a:r>
              <a:rPr lang="fr-FR" sz="1200" dirty="0"/>
              <a:t> Group </a:t>
            </a:r>
            <a:r>
              <a:rPr lang="fr-FR" sz="1200" dirty="0" err="1"/>
              <a:t>Oak</a:t>
            </a:r>
            <a:r>
              <a:rPr lang="fr-FR" sz="1200" dirty="0"/>
              <a:t>  #sps.  2 </a:t>
            </a:r>
          </a:p>
          <a:p>
            <a:r>
              <a:rPr lang="fr-FR" sz="1200" dirty="0"/>
              <a:t>        stat </a:t>
            </a:r>
            <a:r>
              <a:rPr lang="fr-FR" sz="1200" dirty="0" err="1"/>
              <a:t>p.value</a:t>
            </a:r>
            <a:r>
              <a:rPr lang="fr-FR" sz="1200" dirty="0"/>
              <a:t>   </a:t>
            </a:r>
          </a:p>
          <a:p>
            <a:r>
              <a:rPr lang="fr-FR" sz="1200" dirty="0"/>
              <a:t>PHOPHO 0.736   0.003 **</a:t>
            </a:r>
          </a:p>
          <a:p>
            <a:r>
              <a:rPr lang="fr-FR" sz="1200" dirty="0"/>
              <a:t>CARCAR 0.469   0.044 * </a:t>
            </a:r>
          </a:p>
          <a:p>
            <a:endParaRPr lang="fr-FR" sz="1200" dirty="0"/>
          </a:p>
          <a:p>
            <a:r>
              <a:rPr lang="fr-FR" sz="1200" dirty="0"/>
              <a:t> Group </a:t>
            </a:r>
            <a:r>
              <a:rPr lang="fr-FR" sz="1200" dirty="0" err="1"/>
              <a:t>Mixed+Oak</a:t>
            </a:r>
            <a:r>
              <a:rPr lang="fr-FR" sz="1200" dirty="0"/>
              <a:t>  #sps.  3 </a:t>
            </a:r>
          </a:p>
          <a:p>
            <a:r>
              <a:rPr lang="fr-FR" sz="1200" dirty="0"/>
              <a:t>        stat </a:t>
            </a:r>
            <a:r>
              <a:rPr lang="fr-FR" sz="1200" dirty="0" err="1"/>
              <a:t>p.value</a:t>
            </a:r>
            <a:r>
              <a:rPr lang="fr-FR" sz="1200" dirty="0"/>
              <a:t>    </a:t>
            </a:r>
          </a:p>
          <a:p>
            <a:r>
              <a:rPr lang="fr-FR" sz="1200" dirty="0"/>
              <a:t>CERBRA 0.879   0.001 ***</a:t>
            </a:r>
          </a:p>
          <a:p>
            <a:r>
              <a:rPr lang="fr-FR" sz="1200" dirty="0"/>
              <a:t>PARCAE 0.876   0.001 ***</a:t>
            </a:r>
          </a:p>
          <a:p>
            <a:r>
              <a:rPr lang="fr-FR" sz="1200" dirty="0"/>
              <a:t>SITEUR 0.870   0.001 ***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169C732-6229-F1DF-95DD-125C0EE1005A}"/>
              </a:ext>
            </a:extLst>
          </p:cNvPr>
          <p:cNvSpPr txBox="1"/>
          <p:nvPr/>
        </p:nvSpPr>
        <p:spPr>
          <a:xfrm>
            <a:off x="251882" y="5696912"/>
            <a:ext cx="52035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Préférence 5/39=12.8%</a:t>
            </a:r>
          </a:p>
          <a:p>
            <a:r>
              <a:rPr lang="fr-FR" sz="1400" dirty="0">
                <a:solidFill>
                  <a:srgbClr val="FF0000"/>
                </a:solidFill>
              </a:rPr>
              <a:t>Cohérent=pas d’espèces des pins (en fait si mais pas assez fréquents comme la mésange noire); pas mal d’espèces des feuillus/chênes supportant le mélange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0D956AD-5D6E-8786-EC5E-3904ABC23338}"/>
              </a:ext>
            </a:extLst>
          </p:cNvPr>
          <p:cNvSpPr txBox="1"/>
          <p:nvPr/>
        </p:nvSpPr>
        <p:spPr>
          <a:xfrm>
            <a:off x="5974299" y="3429000"/>
            <a:ext cx="5203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Plus des changements de composition que des gradients d’abondance (un peu plus marqué que chez les carabiques)</a:t>
            </a:r>
          </a:p>
        </p:txBody>
      </p:sp>
    </p:spTree>
    <p:extLst>
      <p:ext uri="{BB962C8B-B14F-4D97-AF65-F5344CB8AC3E}">
        <p14:creationId xmlns:p14="http://schemas.microsoft.com/office/powerpoint/2010/main" val="1633192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57DC33-C252-FC8E-5E60-062245B3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128" y="242062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FR" sz="9600" dirty="0"/>
              <a:t>COLEOS SAPROX</a:t>
            </a:r>
          </a:p>
        </p:txBody>
      </p:sp>
    </p:spTree>
    <p:extLst>
      <p:ext uri="{BB962C8B-B14F-4D97-AF65-F5344CB8AC3E}">
        <p14:creationId xmlns:p14="http://schemas.microsoft.com/office/powerpoint/2010/main" val="4136286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2505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</a:t>
            </a:r>
            <a:r>
              <a:rPr lang="fr-FR" dirty="0" err="1"/>
              <a:t>coléos</a:t>
            </a:r>
            <a:r>
              <a:rPr lang="fr-FR" dirty="0"/>
              <a:t> </a:t>
            </a:r>
            <a:r>
              <a:rPr lang="fr-FR" dirty="0" err="1"/>
              <a:t>saprox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7FFC552-D5B5-213C-5596-E871857D2DF5}"/>
              </a:ext>
            </a:extLst>
          </p:cNvPr>
          <p:cNvSpPr txBox="1"/>
          <p:nvPr/>
        </p:nvSpPr>
        <p:spPr>
          <a:xfrm>
            <a:off x="725383" y="891927"/>
            <a:ext cx="5211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Distribution richesse spécifique par site d’écoute (3 points par site)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46FF9E4-C21B-79EE-8F5B-1421D76B584B}"/>
              </a:ext>
            </a:extLst>
          </p:cNvPr>
          <p:cNvSpPr txBox="1"/>
          <p:nvPr/>
        </p:nvSpPr>
        <p:spPr>
          <a:xfrm>
            <a:off x="6668983" y="891927"/>
            <a:ext cx="5107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Distribution abondance totale par site d’écoute (3 points par site)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8337541-5060-A632-5FD7-9AF9DB0DE318}"/>
              </a:ext>
            </a:extLst>
          </p:cNvPr>
          <p:cNvSpPr txBox="1"/>
          <p:nvPr/>
        </p:nvSpPr>
        <p:spPr>
          <a:xfrm>
            <a:off x="7373567" y="5947002"/>
            <a:ext cx="287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Family=Négative binomiale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EB5AC7C-0328-6A33-116F-544258ED25E6}"/>
              </a:ext>
            </a:extLst>
          </p:cNvPr>
          <p:cNvSpPr txBox="1"/>
          <p:nvPr/>
        </p:nvSpPr>
        <p:spPr>
          <a:xfrm>
            <a:off x="1287294" y="6131668"/>
            <a:ext cx="1748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Family=Poisson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D0B399A-9EA4-FEFE-599E-0CC9A48E7AE8}"/>
              </a:ext>
            </a:extLst>
          </p:cNvPr>
          <p:cNvSpPr txBox="1"/>
          <p:nvPr/>
        </p:nvSpPr>
        <p:spPr>
          <a:xfrm>
            <a:off x="946825" y="526856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 err="1"/>
              <a:t>mean</a:t>
            </a:r>
            <a:r>
              <a:rPr lang="fr-FR" sz="1200" dirty="0"/>
              <a:t>(</a:t>
            </a:r>
            <a:r>
              <a:rPr lang="fr-FR" sz="1200" dirty="0" err="1"/>
              <a:t>Saprox.Rel.Sp$SR_all</a:t>
            </a:r>
            <a:r>
              <a:rPr lang="fr-FR" sz="1200" dirty="0"/>
              <a:t>) #38.29167</a:t>
            </a:r>
          </a:p>
          <a:p>
            <a:r>
              <a:rPr lang="fr-FR" sz="1200" dirty="0"/>
              <a:t>var(</a:t>
            </a:r>
            <a:r>
              <a:rPr lang="fr-FR" sz="1200" dirty="0" err="1"/>
              <a:t>Saprox.Rel.Sp$SR_all</a:t>
            </a:r>
            <a:r>
              <a:rPr lang="fr-FR" sz="1200" dirty="0"/>
              <a:t>) #59.70035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37FE6EE-EFF1-8535-7358-114020C27CA1}"/>
              </a:ext>
            </a:extLst>
          </p:cNvPr>
          <p:cNvSpPr txBox="1"/>
          <p:nvPr/>
        </p:nvSpPr>
        <p:spPr>
          <a:xfrm>
            <a:off x="7146588" y="52872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 err="1"/>
              <a:t>mean</a:t>
            </a:r>
            <a:r>
              <a:rPr lang="fr-FR" sz="1200" dirty="0"/>
              <a:t>(</a:t>
            </a:r>
            <a:r>
              <a:rPr lang="fr-FR" sz="1200" dirty="0" err="1"/>
              <a:t>Saprox.Rel.Sp$Abdce_all</a:t>
            </a:r>
            <a:r>
              <a:rPr lang="fr-FR" sz="1200" dirty="0"/>
              <a:t>) #170.0833</a:t>
            </a:r>
          </a:p>
          <a:p>
            <a:r>
              <a:rPr lang="fr-FR" sz="1200" dirty="0"/>
              <a:t>var(</a:t>
            </a:r>
            <a:r>
              <a:rPr lang="fr-FR" sz="1200" dirty="0" err="1"/>
              <a:t>Saprox.Rel.Sp$Abdce_all</a:t>
            </a:r>
            <a:r>
              <a:rPr lang="fr-FR" sz="1200" dirty="0"/>
              <a:t>) #6335.142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C28826B-F53E-310C-3BFD-F0F14A7AD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32" y="1751835"/>
            <a:ext cx="4899150" cy="311529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5299802-DCBA-2B6F-DCDA-1EB100F67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247" y="1538258"/>
            <a:ext cx="539249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70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2505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</a:t>
            </a:r>
            <a:r>
              <a:rPr lang="fr-FR" dirty="0" err="1"/>
              <a:t>coléos</a:t>
            </a:r>
            <a:r>
              <a:rPr lang="fr-FR" dirty="0"/>
              <a:t> </a:t>
            </a:r>
            <a:r>
              <a:rPr lang="fr-FR" dirty="0" err="1"/>
              <a:t>saprox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7FFC552-D5B5-213C-5596-E871857D2DF5}"/>
              </a:ext>
            </a:extLst>
          </p:cNvPr>
          <p:cNvSpPr txBox="1"/>
          <p:nvPr/>
        </p:nvSpPr>
        <p:spPr>
          <a:xfrm>
            <a:off x="54522" y="672708"/>
            <a:ext cx="4449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Distribution richesse spécifique par piège (taux de mélange continu ou en 3 classes)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DD3D11A-426E-52E7-E277-4707C5C87DFA}"/>
              </a:ext>
            </a:extLst>
          </p:cNvPr>
          <p:cNvSpPr txBox="1"/>
          <p:nvPr/>
        </p:nvSpPr>
        <p:spPr>
          <a:xfrm>
            <a:off x="4439179" y="5065381"/>
            <a:ext cx="3598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Pas d’effet de la proportion de feuillus sur la RS (échelle piège)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EF65D580-940A-4C6A-A52D-8F0813052FA4}"/>
              </a:ext>
            </a:extLst>
          </p:cNvPr>
          <p:cNvCxnSpPr>
            <a:cxnSpLocks/>
          </p:cNvCxnSpPr>
          <p:nvPr/>
        </p:nvCxnSpPr>
        <p:spPr>
          <a:xfrm flipV="1">
            <a:off x="6927073" y="4151069"/>
            <a:ext cx="46049" cy="914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CBEA2C73-787D-4419-1817-2E8905CC370E}"/>
              </a:ext>
            </a:extLst>
          </p:cNvPr>
          <p:cNvSpPr txBox="1"/>
          <p:nvPr/>
        </p:nvSpPr>
        <p:spPr>
          <a:xfrm>
            <a:off x="4953548" y="33503"/>
            <a:ext cx="6887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Analyse en GLMM avec effet aléatoire parcelle et effets fixe: surface terrière totale et % de feuillus (soit simple soit quadratique)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97F98D62-6907-7744-A839-B190E904445A}"/>
              </a:ext>
            </a:extLst>
          </p:cNvPr>
          <p:cNvCxnSpPr>
            <a:cxnSpLocks/>
          </p:cNvCxnSpPr>
          <p:nvPr/>
        </p:nvCxnSpPr>
        <p:spPr>
          <a:xfrm>
            <a:off x="7144161" y="5703488"/>
            <a:ext cx="1104129" cy="624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827F2464-671F-1AC0-2C72-35805F1C6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19" y="1279530"/>
            <a:ext cx="4081183" cy="259515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8FD1B23-5749-04DC-249B-69A6618D6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60" y="4151069"/>
            <a:ext cx="4256958" cy="2706931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BF353924-FEBF-C3A3-359A-A9E0B447EE2D}"/>
              </a:ext>
            </a:extLst>
          </p:cNvPr>
          <p:cNvSpPr txBox="1"/>
          <p:nvPr/>
        </p:nvSpPr>
        <p:spPr>
          <a:xfrm>
            <a:off x="4504254" y="667274"/>
            <a:ext cx="2310998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&gt; </a:t>
            </a:r>
            <a:r>
              <a:rPr lang="fr-FR" sz="1100" dirty="0" err="1"/>
              <a:t>summary</a:t>
            </a:r>
            <a:r>
              <a:rPr lang="fr-FR" sz="1100" dirty="0"/>
              <a:t>(</a:t>
            </a:r>
            <a:r>
              <a:rPr lang="fr-FR" sz="1100" dirty="0" err="1"/>
              <a:t>glmm_SR_all</a:t>
            </a:r>
            <a:r>
              <a:rPr lang="fr-FR" sz="1100" dirty="0"/>
              <a:t>) #simple </a:t>
            </a:r>
            <a:r>
              <a:rPr lang="fr-FR" sz="1100" dirty="0" err="1"/>
              <a:t>effect</a:t>
            </a:r>
            <a:r>
              <a:rPr lang="fr-FR" sz="1100" dirty="0"/>
              <a:t>, p=0.12, </a:t>
            </a:r>
            <a:r>
              <a:rPr lang="fr-FR" sz="1100" dirty="0" err="1"/>
              <a:t>quadratic</a:t>
            </a:r>
            <a:r>
              <a:rPr lang="fr-FR" sz="1100" dirty="0"/>
              <a:t> </a:t>
            </a:r>
            <a:r>
              <a:rPr lang="fr-FR" sz="1100" dirty="0" err="1"/>
              <a:t>effect</a:t>
            </a:r>
            <a:r>
              <a:rPr lang="fr-FR" sz="1100" dirty="0"/>
              <a:t> p=0.29, G p=0.31, taux_veg1=0.83, AIC=285.2</a:t>
            </a:r>
          </a:p>
          <a:p>
            <a:r>
              <a:rPr lang="fr-FR" sz="1100" dirty="0"/>
              <a:t> Family: poisson  ( log )</a:t>
            </a:r>
          </a:p>
          <a:p>
            <a:r>
              <a:rPr lang="fr-FR" sz="1100" dirty="0"/>
              <a:t>Formula:          </a:t>
            </a:r>
            <a:r>
              <a:rPr lang="fr-FR" sz="1100" dirty="0" err="1"/>
              <a:t>SR_all</a:t>
            </a:r>
            <a:r>
              <a:rPr lang="fr-FR" sz="1100" dirty="0"/>
              <a:t> ~ </a:t>
            </a:r>
            <a:r>
              <a:rPr lang="fr-FR" sz="1100" dirty="0" err="1"/>
              <a:t>G_all</a:t>
            </a:r>
            <a:r>
              <a:rPr lang="fr-FR" sz="1100" dirty="0"/>
              <a:t> + I(</a:t>
            </a:r>
            <a:r>
              <a:rPr lang="fr-FR" sz="1100" dirty="0" err="1"/>
              <a:t>mel_trap</a:t>
            </a:r>
            <a:r>
              <a:rPr lang="fr-FR" sz="1100" dirty="0"/>
              <a:t>/100) + I((</a:t>
            </a:r>
            <a:r>
              <a:rPr lang="fr-FR" sz="1100" dirty="0" err="1"/>
              <a:t>mel_trap</a:t>
            </a:r>
            <a:r>
              <a:rPr lang="fr-FR" sz="1100" dirty="0"/>
              <a:t>/100)^2) + (1 |      plot)</a:t>
            </a:r>
          </a:p>
          <a:p>
            <a:r>
              <a:rPr lang="fr-FR" sz="1100" dirty="0"/>
              <a:t>Data: </a:t>
            </a:r>
            <a:r>
              <a:rPr lang="fr-FR" sz="1100" dirty="0" err="1"/>
              <a:t>Saprox.Rel.Env</a:t>
            </a:r>
            <a:endParaRPr lang="fr-FR" sz="1100" dirty="0"/>
          </a:p>
          <a:p>
            <a:r>
              <a:rPr lang="fr-FR" sz="1100" dirty="0"/>
              <a:t>      AIC       BIC    </a:t>
            </a:r>
            <a:r>
              <a:rPr lang="fr-FR" sz="1100" dirty="0" err="1"/>
              <a:t>logLik</a:t>
            </a:r>
            <a:r>
              <a:rPr lang="fr-FR" sz="1100" dirty="0"/>
              <a:t> -2*log(L)  </a:t>
            </a:r>
            <a:r>
              <a:rPr lang="fr-FR" sz="1100" dirty="0" err="1"/>
              <a:t>df.resid</a:t>
            </a:r>
            <a:r>
              <a:rPr lang="fr-FR" sz="1100" dirty="0"/>
              <a:t> </a:t>
            </a:r>
          </a:p>
          <a:p>
            <a:r>
              <a:rPr lang="fr-FR" sz="1100" dirty="0"/>
              <a:t>    330.0     339.3    -160.0     320.0        43 </a:t>
            </a:r>
          </a:p>
          <a:p>
            <a:endParaRPr lang="fr-FR" sz="1100" dirty="0"/>
          </a:p>
          <a:p>
            <a:r>
              <a:rPr lang="fr-FR" sz="1100" dirty="0" err="1"/>
              <a:t>Random</a:t>
            </a:r>
            <a:r>
              <a:rPr lang="fr-FR" sz="1100" dirty="0"/>
              <a:t> </a:t>
            </a:r>
            <a:r>
              <a:rPr lang="fr-FR" sz="1100" dirty="0" err="1"/>
              <a:t>effects</a:t>
            </a:r>
            <a:r>
              <a:rPr lang="fr-FR" sz="1100" dirty="0"/>
              <a:t>:</a:t>
            </a:r>
          </a:p>
          <a:p>
            <a:endParaRPr lang="fr-FR" sz="1100" dirty="0"/>
          </a:p>
          <a:p>
            <a:r>
              <a:rPr lang="fr-FR" sz="1100" dirty="0" err="1"/>
              <a:t>Conditional</a:t>
            </a:r>
            <a:r>
              <a:rPr lang="fr-FR" sz="1100" dirty="0"/>
              <a:t> model:</a:t>
            </a:r>
          </a:p>
          <a:p>
            <a:r>
              <a:rPr lang="fr-FR" sz="1100" dirty="0"/>
              <a:t> Groups Name        Variance </a:t>
            </a:r>
            <a:r>
              <a:rPr lang="fr-FR" sz="1100" dirty="0" err="1"/>
              <a:t>Std.Dev</a:t>
            </a:r>
            <a:r>
              <a:rPr lang="fr-FR" sz="1100" dirty="0"/>
              <a:t>.</a:t>
            </a:r>
          </a:p>
          <a:p>
            <a:r>
              <a:rPr lang="fr-FR" sz="1100" dirty="0"/>
              <a:t> plot   (Intercept) 0.006482 0.08051 </a:t>
            </a:r>
          </a:p>
          <a:p>
            <a:r>
              <a:rPr lang="fr-FR" sz="1100" dirty="0" err="1"/>
              <a:t>Number</a:t>
            </a:r>
            <a:r>
              <a:rPr lang="fr-FR" sz="1100" dirty="0"/>
              <a:t> of </a:t>
            </a:r>
            <a:r>
              <a:rPr lang="fr-FR" sz="1100" dirty="0" err="1"/>
              <a:t>obs</a:t>
            </a:r>
            <a:r>
              <a:rPr lang="fr-FR" sz="1100" dirty="0"/>
              <a:t>: 48, groups:  plot, 48</a:t>
            </a:r>
          </a:p>
          <a:p>
            <a:endParaRPr lang="fr-FR" sz="1100" dirty="0"/>
          </a:p>
          <a:p>
            <a:r>
              <a:rPr lang="fr-FR" sz="1100" dirty="0" err="1"/>
              <a:t>Conditional</a:t>
            </a:r>
            <a:r>
              <a:rPr lang="fr-FR" sz="1100" dirty="0"/>
              <a:t> model:</a:t>
            </a:r>
          </a:p>
          <a:p>
            <a:r>
              <a:rPr lang="fr-FR" sz="1100" dirty="0"/>
              <a:t>                     </a:t>
            </a:r>
            <a:r>
              <a:rPr lang="fr-FR" sz="1100" dirty="0" err="1"/>
              <a:t>Estimate</a:t>
            </a:r>
            <a:r>
              <a:rPr lang="fr-FR" sz="1100" dirty="0"/>
              <a:t> Std. </a:t>
            </a:r>
            <a:r>
              <a:rPr lang="fr-FR" sz="1100" dirty="0" err="1"/>
              <a:t>Error</a:t>
            </a:r>
            <a:r>
              <a:rPr lang="fr-FR" sz="1100" dirty="0"/>
              <a:t> z value Pr(&gt;|z|)    </a:t>
            </a:r>
          </a:p>
          <a:p>
            <a:r>
              <a:rPr lang="fr-FR" sz="1100" dirty="0"/>
              <a:t>(Intercept)          3.852813   0.100305   38.41  &lt; 2e-16 ***</a:t>
            </a:r>
          </a:p>
          <a:p>
            <a:r>
              <a:rPr lang="fr-FR" sz="1100" dirty="0" err="1"/>
              <a:t>G_all</a:t>
            </a:r>
            <a:r>
              <a:rPr lang="fr-FR" sz="1100" dirty="0"/>
              <a:t>               -0.009823   0.003373   -2.91  0.00358 ** </a:t>
            </a:r>
          </a:p>
          <a:p>
            <a:r>
              <a:rPr lang="fr-FR" sz="1100" dirty="0">
                <a:highlight>
                  <a:srgbClr val="00FF00"/>
                </a:highlight>
              </a:rPr>
              <a:t>I(</a:t>
            </a:r>
            <a:r>
              <a:rPr lang="fr-FR" sz="1100" dirty="0" err="1">
                <a:highlight>
                  <a:srgbClr val="00FF00"/>
                </a:highlight>
              </a:rPr>
              <a:t>mel_trap</a:t>
            </a:r>
            <a:r>
              <a:rPr lang="fr-FR" sz="1100" dirty="0">
                <a:highlight>
                  <a:srgbClr val="00FF00"/>
                </a:highlight>
              </a:rPr>
              <a:t>/100)      0.400420   0.273439    1.46  0.14309    </a:t>
            </a:r>
          </a:p>
          <a:p>
            <a:r>
              <a:rPr lang="fr-FR" sz="1100" dirty="0">
                <a:highlight>
                  <a:srgbClr val="FFFF00"/>
                </a:highlight>
              </a:rPr>
              <a:t>I((</a:t>
            </a:r>
            <a:r>
              <a:rPr lang="fr-FR" sz="1100" dirty="0" err="1">
                <a:highlight>
                  <a:srgbClr val="FFFF00"/>
                </a:highlight>
              </a:rPr>
              <a:t>mel_trap</a:t>
            </a:r>
            <a:r>
              <a:rPr lang="fr-FR" sz="1100" dirty="0">
                <a:highlight>
                  <a:srgbClr val="FFFF00"/>
                </a:highlight>
              </a:rPr>
              <a:t>/100)^2) -0.435797   0.264574   -1.65  0.09952 . </a:t>
            </a:r>
          </a:p>
          <a:p>
            <a:r>
              <a:rPr lang="de-DE" sz="1100" dirty="0">
                <a:highlight>
                  <a:srgbClr val="00FFFF"/>
                </a:highlight>
              </a:rPr>
              <a:t>&gt; </a:t>
            </a:r>
            <a:r>
              <a:rPr lang="de-DE" sz="1100" dirty="0" err="1">
                <a:highlight>
                  <a:srgbClr val="00FFFF"/>
                </a:highlight>
              </a:rPr>
              <a:t>AICc</a:t>
            </a:r>
            <a:r>
              <a:rPr lang="de-DE" sz="1100" dirty="0">
                <a:highlight>
                  <a:srgbClr val="00FFFF"/>
                </a:highlight>
              </a:rPr>
              <a:t>(</a:t>
            </a:r>
            <a:r>
              <a:rPr lang="de-DE" sz="1100" dirty="0" err="1">
                <a:highlight>
                  <a:srgbClr val="00FFFF"/>
                </a:highlight>
              </a:rPr>
              <a:t>glmm_SR_all</a:t>
            </a:r>
            <a:r>
              <a:rPr lang="de-DE" sz="1100" dirty="0">
                <a:highlight>
                  <a:srgbClr val="00FFFF"/>
                </a:highlight>
              </a:rPr>
              <a:t>) #[1] 331.4145</a:t>
            </a:r>
            <a:endParaRPr lang="fr-FR" sz="1100" dirty="0">
              <a:highlight>
                <a:srgbClr val="00FFFF"/>
              </a:highlight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58E94AA-4479-50D1-44E5-12082033FCA9}"/>
              </a:ext>
            </a:extLst>
          </p:cNvPr>
          <p:cNvSpPr txBox="1"/>
          <p:nvPr/>
        </p:nvSpPr>
        <p:spPr>
          <a:xfrm>
            <a:off x="8196708" y="3160337"/>
            <a:ext cx="18880058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&gt; </a:t>
            </a:r>
            <a:r>
              <a:rPr lang="fr-FR" sz="1100" dirty="0" err="1"/>
              <a:t>summary</a:t>
            </a:r>
            <a:r>
              <a:rPr lang="fr-FR" sz="1100" dirty="0"/>
              <a:t>(</a:t>
            </a:r>
            <a:r>
              <a:rPr lang="fr-FR" sz="1100" dirty="0" err="1"/>
              <a:t>glmm_SR_all</a:t>
            </a:r>
            <a:r>
              <a:rPr lang="fr-FR" sz="1100" dirty="0"/>
              <a:t>)</a:t>
            </a:r>
          </a:p>
          <a:p>
            <a:r>
              <a:rPr lang="fr-FR" sz="1100" dirty="0"/>
              <a:t> Family: poisson  ( log )</a:t>
            </a:r>
          </a:p>
          <a:p>
            <a:r>
              <a:rPr lang="fr-FR" sz="1100" dirty="0"/>
              <a:t>Formula:          </a:t>
            </a:r>
            <a:r>
              <a:rPr lang="fr-FR" sz="1100" dirty="0" err="1"/>
              <a:t>SR_all</a:t>
            </a:r>
            <a:r>
              <a:rPr lang="fr-FR" sz="1100" dirty="0"/>
              <a:t> ~ </a:t>
            </a:r>
            <a:r>
              <a:rPr lang="fr-FR" sz="1100" dirty="0" err="1"/>
              <a:t>G_all</a:t>
            </a:r>
            <a:r>
              <a:rPr lang="fr-FR" sz="1100" dirty="0"/>
              <a:t> + I(</a:t>
            </a:r>
            <a:r>
              <a:rPr lang="fr-FR" sz="1100" dirty="0" err="1"/>
              <a:t>mel_trap</a:t>
            </a:r>
            <a:r>
              <a:rPr lang="fr-FR" sz="1100" dirty="0"/>
              <a:t>/100) + (1 | plot)</a:t>
            </a:r>
          </a:p>
          <a:p>
            <a:r>
              <a:rPr lang="fr-FR" sz="1100" dirty="0"/>
              <a:t>Data: </a:t>
            </a:r>
            <a:r>
              <a:rPr lang="fr-FR" sz="1100" dirty="0" err="1"/>
              <a:t>Saprox.Rel.Env</a:t>
            </a:r>
            <a:endParaRPr lang="fr-FR" sz="1100" dirty="0"/>
          </a:p>
          <a:p>
            <a:endParaRPr lang="fr-FR" sz="1100" dirty="0"/>
          </a:p>
          <a:p>
            <a:r>
              <a:rPr lang="fr-FR" sz="1100" dirty="0"/>
              <a:t>      AIC       BIC    </a:t>
            </a:r>
            <a:r>
              <a:rPr lang="fr-FR" sz="1100" dirty="0" err="1"/>
              <a:t>logLik</a:t>
            </a:r>
            <a:r>
              <a:rPr lang="fr-FR" sz="1100" dirty="0"/>
              <a:t> -2*log(L)  </a:t>
            </a:r>
            <a:r>
              <a:rPr lang="fr-FR" sz="1100" dirty="0" err="1"/>
              <a:t>df.resid</a:t>
            </a:r>
            <a:r>
              <a:rPr lang="fr-FR" sz="1100" dirty="0"/>
              <a:t> </a:t>
            </a:r>
          </a:p>
          <a:p>
            <a:r>
              <a:rPr lang="fr-FR" sz="1100" dirty="0"/>
              <a:t>    330.6     338.1    -161.3     322.6        44 </a:t>
            </a:r>
          </a:p>
          <a:p>
            <a:endParaRPr lang="fr-FR" sz="1100" dirty="0"/>
          </a:p>
          <a:p>
            <a:r>
              <a:rPr lang="fr-FR" sz="1100" dirty="0" err="1"/>
              <a:t>Random</a:t>
            </a:r>
            <a:r>
              <a:rPr lang="fr-FR" sz="1100" dirty="0"/>
              <a:t> </a:t>
            </a:r>
            <a:r>
              <a:rPr lang="fr-FR" sz="1100" dirty="0" err="1"/>
              <a:t>effects</a:t>
            </a:r>
            <a:r>
              <a:rPr lang="fr-FR" sz="1100" dirty="0"/>
              <a:t>:</a:t>
            </a:r>
          </a:p>
          <a:p>
            <a:endParaRPr lang="fr-FR" sz="1100" dirty="0"/>
          </a:p>
          <a:p>
            <a:r>
              <a:rPr lang="fr-FR" sz="1100" dirty="0" err="1"/>
              <a:t>Conditional</a:t>
            </a:r>
            <a:r>
              <a:rPr lang="fr-FR" sz="1100" dirty="0"/>
              <a:t> model:</a:t>
            </a:r>
          </a:p>
          <a:p>
            <a:r>
              <a:rPr lang="fr-FR" sz="1100" dirty="0"/>
              <a:t> Groups Name        Variance </a:t>
            </a:r>
            <a:r>
              <a:rPr lang="fr-FR" sz="1100" dirty="0" err="1"/>
              <a:t>Std.Dev</a:t>
            </a:r>
            <a:r>
              <a:rPr lang="fr-FR" sz="1100" dirty="0"/>
              <a:t>.</a:t>
            </a:r>
          </a:p>
          <a:p>
            <a:r>
              <a:rPr lang="fr-FR" sz="1100" dirty="0"/>
              <a:t> plot   (Intercept) 0.008134 0.09019 </a:t>
            </a:r>
          </a:p>
          <a:p>
            <a:r>
              <a:rPr lang="fr-FR" sz="1100" dirty="0" err="1"/>
              <a:t>Number</a:t>
            </a:r>
            <a:r>
              <a:rPr lang="fr-FR" sz="1100" dirty="0"/>
              <a:t> of </a:t>
            </a:r>
            <a:r>
              <a:rPr lang="fr-FR" sz="1100" dirty="0" err="1"/>
              <a:t>obs</a:t>
            </a:r>
            <a:r>
              <a:rPr lang="fr-FR" sz="1100" dirty="0"/>
              <a:t>: 48, groups:  plot, 48</a:t>
            </a:r>
          </a:p>
          <a:p>
            <a:endParaRPr lang="fr-FR" sz="1100" dirty="0"/>
          </a:p>
          <a:p>
            <a:r>
              <a:rPr lang="fr-FR" sz="1100" dirty="0" err="1"/>
              <a:t>Conditional</a:t>
            </a:r>
            <a:r>
              <a:rPr lang="fr-FR" sz="1100" dirty="0"/>
              <a:t> model:</a:t>
            </a:r>
          </a:p>
          <a:p>
            <a:r>
              <a:rPr lang="fr-FR" sz="1100" dirty="0"/>
              <a:t>                 </a:t>
            </a:r>
            <a:r>
              <a:rPr lang="fr-FR" sz="1100" dirty="0" err="1"/>
              <a:t>Estimate</a:t>
            </a:r>
            <a:r>
              <a:rPr lang="fr-FR" sz="1100" dirty="0"/>
              <a:t> Std. </a:t>
            </a:r>
            <a:r>
              <a:rPr lang="fr-FR" sz="1100" dirty="0" err="1"/>
              <a:t>Error</a:t>
            </a:r>
            <a:r>
              <a:rPr lang="fr-FR" sz="1100" dirty="0"/>
              <a:t> z value Pr(&gt;|z|)    </a:t>
            </a:r>
          </a:p>
          <a:p>
            <a:r>
              <a:rPr lang="fr-FR" sz="1100" dirty="0"/>
              <a:t>(Intercept)      3.900134   0.098241   39.70  &lt; 2e-16 ***</a:t>
            </a:r>
          </a:p>
          <a:p>
            <a:r>
              <a:rPr lang="fr-FR" sz="1100" dirty="0" err="1"/>
              <a:t>G_all</a:t>
            </a:r>
            <a:r>
              <a:rPr lang="fr-FR" sz="1100" dirty="0"/>
              <a:t>           -0.009581   0.003454   -2.77  0.00553 ** </a:t>
            </a:r>
          </a:p>
          <a:p>
            <a:r>
              <a:rPr lang="fr-FR" sz="1100" dirty="0">
                <a:highlight>
                  <a:srgbClr val="00FF00"/>
                </a:highlight>
              </a:rPr>
              <a:t>I(</a:t>
            </a:r>
            <a:r>
              <a:rPr lang="fr-FR" sz="1100" dirty="0" err="1">
                <a:highlight>
                  <a:srgbClr val="00FF00"/>
                </a:highlight>
              </a:rPr>
              <a:t>mel_trap</a:t>
            </a:r>
            <a:r>
              <a:rPr lang="fr-FR" sz="1100" dirty="0">
                <a:highlight>
                  <a:srgbClr val="00FF00"/>
                </a:highlight>
              </a:rPr>
              <a:t>/100) -0.033359   0.075763   -0.44  0.65971 </a:t>
            </a:r>
          </a:p>
          <a:p>
            <a:r>
              <a:rPr lang="de-DE" sz="1100" dirty="0" err="1">
                <a:highlight>
                  <a:srgbClr val="00FFFF"/>
                </a:highlight>
              </a:rPr>
              <a:t>AICc</a:t>
            </a:r>
            <a:r>
              <a:rPr lang="de-DE" sz="1100" dirty="0">
                <a:highlight>
                  <a:srgbClr val="00FFFF"/>
                </a:highlight>
              </a:rPr>
              <a:t>(</a:t>
            </a:r>
            <a:r>
              <a:rPr lang="de-DE" sz="1100" dirty="0" err="1">
                <a:highlight>
                  <a:srgbClr val="00FFFF"/>
                </a:highlight>
              </a:rPr>
              <a:t>glmm_SR_all</a:t>
            </a:r>
            <a:r>
              <a:rPr lang="de-DE" sz="1100" dirty="0">
                <a:highlight>
                  <a:srgbClr val="00FFFF"/>
                </a:highlight>
              </a:rPr>
              <a:t>) #[1] 331.572</a:t>
            </a:r>
            <a:endParaRPr lang="fr-FR" sz="1100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22214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2505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</a:t>
            </a:r>
            <a:r>
              <a:rPr lang="fr-FR" dirty="0" err="1"/>
              <a:t>coléos</a:t>
            </a:r>
            <a:r>
              <a:rPr lang="fr-FR" dirty="0"/>
              <a:t> </a:t>
            </a:r>
            <a:r>
              <a:rPr lang="fr-FR" dirty="0" err="1"/>
              <a:t>saprox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46FF9E4-C21B-79EE-8F5B-1421D76B584B}"/>
              </a:ext>
            </a:extLst>
          </p:cNvPr>
          <p:cNvSpPr txBox="1"/>
          <p:nvPr/>
        </p:nvSpPr>
        <p:spPr>
          <a:xfrm>
            <a:off x="122334" y="646197"/>
            <a:ext cx="4511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GAM abondance totale par site fonction taux de mélange (feuillus) (+par catégorie)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B880CFB-0797-1704-F212-BD3EBB41CFEA}"/>
              </a:ext>
            </a:extLst>
          </p:cNvPr>
          <p:cNvSpPr txBox="1"/>
          <p:nvPr/>
        </p:nvSpPr>
        <p:spPr>
          <a:xfrm>
            <a:off x="9142544" y="5483635"/>
            <a:ext cx="2923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</a:rPr>
              <a:t>Pas d’effet du mélange sur l’abondance totale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C0799EA-4BE3-46FF-838B-B32AB8C48D24}"/>
              </a:ext>
            </a:extLst>
          </p:cNvPr>
          <p:cNvSpPr txBox="1"/>
          <p:nvPr/>
        </p:nvSpPr>
        <p:spPr>
          <a:xfrm>
            <a:off x="5017688" y="32426"/>
            <a:ext cx="5251221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&gt; </a:t>
            </a:r>
            <a:r>
              <a:rPr lang="fr-FR" sz="1000" dirty="0" err="1"/>
              <a:t>summary</a:t>
            </a:r>
            <a:r>
              <a:rPr lang="fr-FR" sz="1000" dirty="0"/>
              <a:t>(</a:t>
            </a:r>
            <a:r>
              <a:rPr lang="fr-FR" sz="1000" dirty="0" err="1"/>
              <a:t>glmm_Abdce_all</a:t>
            </a:r>
            <a:r>
              <a:rPr lang="fr-FR" sz="1000" dirty="0"/>
              <a:t>)</a:t>
            </a:r>
          </a:p>
          <a:p>
            <a:r>
              <a:rPr lang="fr-FR" sz="1000" dirty="0"/>
              <a:t> Family: nbinom1  ( log )</a:t>
            </a:r>
          </a:p>
          <a:p>
            <a:r>
              <a:rPr lang="fr-FR" sz="1000" dirty="0"/>
              <a:t>Formula:          </a:t>
            </a:r>
            <a:r>
              <a:rPr lang="fr-FR" sz="1000" dirty="0" err="1"/>
              <a:t>Abdce_all</a:t>
            </a:r>
            <a:r>
              <a:rPr lang="fr-FR" sz="1000" dirty="0"/>
              <a:t> ~ </a:t>
            </a:r>
            <a:r>
              <a:rPr lang="fr-FR" sz="1000" dirty="0" err="1"/>
              <a:t>G_all</a:t>
            </a:r>
            <a:r>
              <a:rPr lang="fr-FR" sz="1000" dirty="0"/>
              <a:t> + I(</a:t>
            </a:r>
            <a:r>
              <a:rPr lang="fr-FR" sz="1000" dirty="0" err="1"/>
              <a:t>mel_trap</a:t>
            </a:r>
            <a:r>
              <a:rPr lang="fr-FR" sz="1000" dirty="0"/>
              <a:t>/100) + I((</a:t>
            </a:r>
            <a:r>
              <a:rPr lang="fr-FR" sz="1000" dirty="0" err="1"/>
              <a:t>mel_trap</a:t>
            </a:r>
            <a:r>
              <a:rPr lang="fr-FR" sz="1000" dirty="0"/>
              <a:t>/100)^2) + (1 |      plot)</a:t>
            </a:r>
          </a:p>
          <a:p>
            <a:r>
              <a:rPr lang="fr-FR" sz="1000" dirty="0"/>
              <a:t>Data: </a:t>
            </a:r>
            <a:r>
              <a:rPr lang="fr-FR" sz="1000" dirty="0" err="1"/>
              <a:t>Saprox.Rel.Env</a:t>
            </a:r>
            <a:endParaRPr lang="fr-FR" sz="1000" dirty="0"/>
          </a:p>
          <a:p>
            <a:r>
              <a:rPr lang="fr-FR" sz="1000" dirty="0"/>
              <a:t>      AIC       BIC    </a:t>
            </a:r>
            <a:r>
              <a:rPr lang="fr-FR" sz="1000" dirty="0" err="1"/>
              <a:t>logLik</a:t>
            </a:r>
            <a:r>
              <a:rPr lang="fr-FR" sz="1000" dirty="0"/>
              <a:t> -2*log(L)  </a:t>
            </a:r>
            <a:r>
              <a:rPr lang="fr-FR" sz="1000" dirty="0" err="1"/>
              <a:t>df.resid</a:t>
            </a:r>
            <a:r>
              <a:rPr lang="fr-FR" sz="1000" dirty="0"/>
              <a:t> </a:t>
            </a:r>
          </a:p>
          <a:p>
            <a:r>
              <a:rPr lang="fr-FR" sz="1000" dirty="0"/>
              <a:t>    553.7     565.0    -270.9     541.7        42 </a:t>
            </a:r>
          </a:p>
          <a:p>
            <a:endParaRPr lang="fr-FR" sz="1000" dirty="0"/>
          </a:p>
          <a:p>
            <a:r>
              <a:rPr lang="fr-FR" sz="1000" dirty="0" err="1"/>
              <a:t>Random</a:t>
            </a:r>
            <a:r>
              <a:rPr lang="fr-FR" sz="1000" dirty="0"/>
              <a:t> </a:t>
            </a:r>
            <a:r>
              <a:rPr lang="fr-FR" sz="1000" dirty="0" err="1"/>
              <a:t>effects</a:t>
            </a:r>
            <a:r>
              <a:rPr lang="fr-FR" sz="1000" dirty="0"/>
              <a:t>:</a:t>
            </a:r>
          </a:p>
          <a:p>
            <a:r>
              <a:rPr lang="fr-FR" sz="1000" dirty="0" err="1"/>
              <a:t>Conditional</a:t>
            </a:r>
            <a:r>
              <a:rPr lang="fr-FR" sz="1000" dirty="0"/>
              <a:t> model:</a:t>
            </a:r>
          </a:p>
          <a:p>
            <a:r>
              <a:rPr lang="fr-FR" sz="1000" dirty="0"/>
              <a:t> Groups Name        Variance </a:t>
            </a:r>
            <a:r>
              <a:rPr lang="fr-FR" sz="1000" dirty="0" err="1"/>
              <a:t>Std.Dev</a:t>
            </a:r>
            <a:r>
              <a:rPr lang="fr-FR" sz="1000" dirty="0"/>
              <a:t>.</a:t>
            </a:r>
          </a:p>
          <a:p>
            <a:r>
              <a:rPr lang="fr-FR" sz="1000" dirty="0"/>
              <a:t> plot   (Intercept) 0.1891   0.4349  </a:t>
            </a:r>
          </a:p>
          <a:p>
            <a:r>
              <a:rPr lang="fr-FR" sz="1000" dirty="0" err="1"/>
              <a:t>Number</a:t>
            </a:r>
            <a:r>
              <a:rPr lang="fr-FR" sz="1000" dirty="0"/>
              <a:t> of </a:t>
            </a:r>
            <a:r>
              <a:rPr lang="fr-FR" sz="1000" dirty="0" err="1"/>
              <a:t>obs</a:t>
            </a:r>
            <a:r>
              <a:rPr lang="fr-FR" sz="1000" dirty="0"/>
              <a:t>: 48, groups:  plot, 48</a:t>
            </a:r>
          </a:p>
          <a:p>
            <a:endParaRPr lang="fr-FR" sz="1000" dirty="0"/>
          </a:p>
          <a:p>
            <a:r>
              <a:rPr lang="fr-FR" sz="1000" dirty="0"/>
              <a:t>Dispersion </a:t>
            </a:r>
            <a:r>
              <a:rPr lang="fr-FR" sz="1000" dirty="0" err="1"/>
              <a:t>parameter</a:t>
            </a:r>
            <a:r>
              <a:rPr lang="fr-FR" sz="1000" dirty="0"/>
              <a:t> for nbinom1 </a:t>
            </a:r>
            <a:r>
              <a:rPr lang="fr-FR" sz="1000" dirty="0" err="1"/>
              <a:t>family</a:t>
            </a:r>
            <a:r>
              <a:rPr lang="fr-FR" sz="1000" dirty="0"/>
              <a:t> (): 2.29e-06 </a:t>
            </a:r>
          </a:p>
          <a:p>
            <a:endParaRPr lang="fr-FR" sz="1000" dirty="0"/>
          </a:p>
          <a:p>
            <a:r>
              <a:rPr lang="fr-FR" sz="1000" dirty="0" err="1"/>
              <a:t>Conditional</a:t>
            </a:r>
            <a:r>
              <a:rPr lang="fr-FR" sz="1000" dirty="0"/>
              <a:t> model:</a:t>
            </a:r>
          </a:p>
          <a:p>
            <a:r>
              <a:rPr lang="fr-FR" sz="1000" dirty="0"/>
              <a:t>                     </a:t>
            </a:r>
            <a:r>
              <a:rPr lang="fr-FR" sz="1000" dirty="0" err="1"/>
              <a:t>Estimate</a:t>
            </a:r>
            <a:r>
              <a:rPr lang="fr-FR" sz="1000" dirty="0"/>
              <a:t> Std. </a:t>
            </a:r>
            <a:r>
              <a:rPr lang="fr-FR" sz="1000" dirty="0" err="1"/>
              <a:t>Error</a:t>
            </a:r>
            <a:r>
              <a:rPr lang="fr-FR" sz="1000" dirty="0"/>
              <a:t> z value Pr(&gt;|z|)    </a:t>
            </a:r>
          </a:p>
          <a:p>
            <a:r>
              <a:rPr lang="fr-FR" sz="1000" dirty="0"/>
              <a:t>(Intercept)          5.258297   0.245479  21.421   &lt;2e-16 ***</a:t>
            </a:r>
          </a:p>
          <a:p>
            <a:r>
              <a:rPr lang="fr-FR" sz="1000" dirty="0" err="1"/>
              <a:t>G_all</a:t>
            </a:r>
            <a:r>
              <a:rPr lang="fr-FR" sz="1000" dirty="0"/>
              <a:t>               -0.012561   0.008165  -1.538    0.124    </a:t>
            </a:r>
          </a:p>
          <a:p>
            <a:r>
              <a:rPr lang="fr-FR" sz="1000" dirty="0">
                <a:highlight>
                  <a:srgbClr val="00FF00"/>
                </a:highlight>
              </a:rPr>
              <a:t>I(</a:t>
            </a:r>
            <a:r>
              <a:rPr lang="fr-FR" sz="1000" dirty="0" err="1">
                <a:highlight>
                  <a:srgbClr val="00FF00"/>
                </a:highlight>
              </a:rPr>
              <a:t>mel_trap</a:t>
            </a:r>
            <a:r>
              <a:rPr lang="fr-FR" sz="1000" dirty="0">
                <a:highlight>
                  <a:srgbClr val="00FF00"/>
                </a:highlight>
              </a:rPr>
              <a:t>/100)      0.732365   0.669244   1.094    0.274    </a:t>
            </a:r>
          </a:p>
          <a:p>
            <a:r>
              <a:rPr lang="fr-FR" sz="1000" dirty="0">
                <a:highlight>
                  <a:srgbClr val="FFFF00"/>
                </a:highlight>
              </a:rPr>
              <a:t>I((</a:t>
            </a:r>
            <a:r>
              <a:rPr lang="fr-FR" sz="1000" dirty="0" err="1">
                <a:highlight>
                  <a:srgbClr val="FFFF00"/>
                </a:highlight>
              </a:rPr>
              <a:t>mel_trap</a:t>
            </a:r>
            <a:r>
              <a:rPr lang="fr-FR" sz="1000" dirty="0">
                <a:highlight>
                  <a:srgbClr val="FFFF00"/>
                </a:highlight>
              </a:rPr>
              <a:t>/100)^2) -0.708099   0.645788  -1.096    0.273 </a:t>
            </a:r>
          </a:p>
          <a:p>
            <a:r>
              <a:rPr lang="fr-FR" sz="1000" dirty="0">
                <a:highlight>
                  <a:srgbClr val="00FFFF"/>
                </a:highlight>
              </a:rPr>
              <a:t>AICc(</a:t>
            </a:r>
            <a:r>
              <a:rPr lang="fr-FR" sz="1000" dirty="0" err="1">
                <a:highlight>
                  <a:srgbClr val="00FFFF"/>
                </a:highlight>
              </a:rPr>
              <a:t>glmm_Abdce_all</a:t>
            </a:r>
            <a:r>
              <a:rPr lang="fr-FR" sz="1000" dirty="0">
                <a:highlight>
                  <a:srgbClr val="00FFFF"/>
                </a:highlight>
              </a:rPr>
              <a:t>) #[1] 555.7867</a:t>
            </a:r>
          </a:p>
          <a:p>
            <a:endParaRPr lang="fr-FR" sz="1000" dirty="0">
              <a:highlight>
                <a:srgbClr val="FFFF00"/>
              </a:highlight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18427CF-E64D-5E8D-A6A5-00A9BEF16F21}"/>
              </a:ext>
            </a:extLst>
          </p:cNvPr>
          <p:cNvSpPr txBox="1"/>
          <p:nvPr/>
        </p:nvSpPr>
        <p:spPr>
          <a:xfrm>
            <a:off x="5017688" y="3721680"/>
            <a:ext cx="4021057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/>
              <a:t>&gt; </a:t>
            </a:r>
            <a:r>
              <a:rPr lang="fr-FR" sz="1000" dirty="0" err="1"/>
              <a:t>summary</a:t>
            </a:r>
            <a:r>
              <a:rPr lang="fr-FR" sz="1000" dirty="0"/>
              <a:t>(</a:t>
            </a:r>
            <a:r>
              <a:rPr lang="fr-FR" sz="1000" dirty="0" err="1"/>
              <a:t>glmm_Abdce_all</a:t>
            </a:r>
            <a:r>
              <a:rPr lang="fr-FR" sz="1000" dirty="0"/>
              <a:t>)</a:t>
            </a:r>
          </a:p>
          <a:p>
            <a:r>
              <a:rPr lang="fr-FR" sz="1000" dirty="0"/>
              <a:t> Family: poisson  ( log )</a:t>
            </a:r>
          </a:p>
          <a:p>
            <a:r>
              <a:rPr lang="fr-FR" sz="1000" dirty="0"/>
              <a:t>Formula:          </a:t>
            </a:r>
            <a:r>
              <a:rPr lang="fr-FR" sz="1000" dirty="0" err="1"/>
              <a:t>Abdce_all</a:t>
            </a:r>
            <a:r>
              <a:rPr lang="fr-FR" sz="1000" dirty="0"/>
              <a:t> ~ </a:t>
            </a:r>
            <a:r>
              <a:rPr lang="fr-FR" sz="1000" dirty="0" err="1"/>
              <a:t>G_all</a:t>
            </a:r>
            <a:r>
              <a:rPr lang="fr-FR" sz="1000" dirty="0"/>
              <a:t> + I(</a:t>
            </a:r>
            <a:r>
              <a:rPr lang="fr-FR" sz="1000" dirty="0" err="1"/>
              <a:t>mel_trap</a:t>
            </a:r>
            <a:r>
              <a:rPr lang="fr-FR" sz="1000" dirty="0"/>
              <a:t>/100) + (1 | plot)</a:t>
            </a:r>
          </a:p>
          <a:p>
            <a:r>
              <a:rPr lang="fr-FR" sz="1000" dirty="0"/>
              <a:t>Data: </a:t>
            </a:r>
            <a:r>
              <a:rPr lang="fr-FR" sz="1000" dirty="0" err="1"/>
              <a:t>Saprox.Rel.Env</a:t>
            </a:r>
            <a:endParaRPr lang="fr-FR" sz="1000" dirty="0"/>
          </a:p>
          <a:p>
            <a:r>
              <a:rPr lang="fr-FR" sz="1000" dirty="0"/>
              <a:t>      AIC       BIC    </a:t>
            </a:r>
            <a:r>
              <a:rPr lang="fr-FR" sz="1000" dirty="0" err="1"/>
              <a:t>logLik</a:t>
            </a:r>
            <a:r>
              <a:rPr lang="fr-FR" sz="1000" dirty="0"/>
              <a:t> -2*log(L)  </a:t>
            </a:r>
            <a:r>
              <a:rPr lang="fr-FR" sz="1000" dirty="0" err="1"/>
              <a:t>df.resid</a:t>
            </a:r>
            <a:r>
              <a:rPr lang="fr-FR" sz="1000" dirty="0"/>
              <a:t> </a:t>
            </a:r>
          </a:p>
          <a:p>
            <a:r>
              <a:rPr lang="fr-FR" sz="1000" dirty="0"/>
              <a:t>    550.9     558.4    -271.5     542.9        44 </a:t>
            </a:r>
          </a:p>
          <a:p>
            <a:endParaRPr lang="fr-FR" sz="1000" dirty="0"/>
          </a:p>
          <a:p>
            <a:r>
              <a:rPr lang="fr-FR" sz="1000" dirty="0" err="1"/>
              <a:t>Random</a:t>
            </a:r>
            <a:r>
              <a:rPr lang="fr-FR" sz="1000" dirty="0"/>
              <a:t> </a:t>
            </a:r>
            <a:r>
              <a:rPr lang="fr-FR" sz="1000" dirty="0" err="1"/>
              <a:t>effects</a:t>
            </a:r>
            <a:r>
              <a:rPr lang="fr-FR" sz="1000" dirty="0"/>
              <a:t>:</a:t>
            </a:r>
          </a:p>
          <a:p>
            <a:r>
              <a:rPr lang="fr-FR" sz="1000" dirty="0" err="1"/>
              <a:t>Conditional</a:t>
            </a:r>
            <a:r>
              <a:rPr lang="fr-FR" sz="1000" dirty="0"/>
              <a:t> model:</a:t>
            </a:r>
          </a:p>
          <a:p>
            <a:r>
              <a:rPr lang="fr-FR" sz="1000" dirty="0"/>
              <a:t> Groups Name        Variance </a:t>
            </a:r>
            <a:r>
              <a:rPr lang="fr-FR" sz="1000" dirty="0" err="1"/>
              <a:t>Std.Dev</a:t>
            </a:r>
            <a:r>
              <a:rPr lang="fr-FR" sz="1000" dirty="0"/>
              <a:t>.</a:t>
            </a:r>
          </a:p>
          <a:p>
            <a:r>
              <a:rPr lang="fr-FR" sz="1000" dirty="0"/>
              <a:t> plot   (Intercept) 0.194    0.4404  </a:t>
            </a:r>
          </a:p>
          <a:p>
            <a:r>
              <a:rPr lang="fr-FR" sz="1000" dirty="0" err="1"/>
              <a:t>Number</a:t>
            </a:r>
            <a:r>
              <a:rPr lang="fr-FR" sz="1000" dirty="0"/>
              <a:t> of </a:t>
            </a:r>
            <a:r>
              <a:rPr lang="fr-FR" sz="1000" dirty="0" err="1"/>
              <a:t>obs</a:t>
            </a:r>
            <a:r>
              <a:rPr lang="fr-FR" sz="1000" dirty="0"/>
              <a:t>: 48, groups:  plot, 48</a:t>
            </a:r>
          </a:p>
          <a:p>
            <a:endParaRPr lang="fr-FR" sz="1000" dirty="0"/>
          </a:p>
          <a:p>
            <a:r>
              <a:rPr lang="fr-FR" sz="1000" dirty="0" err="1"/>
              <a:t>Conditional</a:t>
            </a:r>
            <a:r>
              <a:rPr lang="fr-FR" sz="1000" dirty="0"/>
              <a:t> model:</a:t>
            </a:r>
          </a:p>
          <a:p>
            <a:r>
              <a:rPr lang="fr-FR" sz="1000" dirty="0"/>
              <a:t>                 </a:t>
            </a:r>
            <a:r>
              <a:rPr lang="fr-FR" sz="1000" dirty="0" err="1"/>
              <a:t>Estimate</a:t>
            </a:r>
            <a:r>
              <a:rPr lang="fr-FR" sz="1000" dirty="0"/>
              <a:t> Std. </a:t>
            </a:r>
            <a:r>
              <a:rPr lang="fr-FR" sz="1000" dirty="0" err="1"/>
              <a:t>Error</a:t>
            </a:r>
            <a:r>
              <a:rPr lang="fr-FR" sz="1000" dirty="0"/>
              <a:t> z value Pr(&gt;|z|)    </a:t>
            </a:r>
          </a:p>
          <a:p>
            <a:r>
              <a:rPr lang="fr-FR" sz="1000" dirty="0"/>
              <a:t>(Intercept)      5.335612   0.238032  22.416   &lt;2e-16 ***</a:t>
            </a:r>
          </a:p>
          <a:p>
            <a:r>
              <a:rPr lang="fr-FR" sz="1000" dirty="0" err="1"/>
              <a:t>G_all</a:t>
            </a:r>
            <a:r>
              <a:rPr lang="fr-FR" sz="1000" dirty="0"/>
              <a:t>           -0.012152   0.008255  -1.472    0.141    </a:t>
            </a:r>
          </a:p>
          <a:p>
            <a:r>
              <a:rPr lang="fr-FR" sz="1000" dirty="0">
                <a:highlight>
                  <a:srgbClr val="00FF00"/>
                </a:highlight>
              </a:rPr>
              <a:t>I(</a:t>
            </a:r>
            <a:r>
              <a:rPr lang="fr-FR" sz="1000" dirty="0" err="1">
                <a:highlight>
                  <a:srgbClr val="00FF00"/>
                </a:highlight>
              </a:rPr>
              <a:t>mel_trap</a:t>
            </a:r>
            <a:r>
              <a:rPr lang="fr-FR" sz="1000" dirty="0">
                <a:highlight>
                  <a:srgbClr val="00FF00"/>
                </a:highlight>
              </a:rPr>
              <a:t>/100)  0.025565   0.183189   0.140    0.889 </a:t>
            </a:r>
            <a:r>
              <a:rPr lang="fr-FR" sz="1000" dirty="0">
                <a:highlight>
                  <a:srgbClr val="00FFFF"/>
                </a:highlight>
              </a:rPr>
              <a:t>AICc(</a:t>
            </a:r>
            <a:r>
              <a:rPr lang="fr-FR" sz="1000" dirty="0" err="1">
                <a:highlight>
                  <a:srgbClr val="00FFFF"/>
                </a:highlight>
              </a:rPr>
              <a:t>glmm_Abdce_all</a:t>
            </a:r>
            <a:r>
              <a:rPr lang="fr-FR" sz="1000" dirty="0">
                <a:highlight>
                  <a:srgbClr val="00FFFF"/>
                </a:highlight>
              </a:rPr>
              <a:t>) #[1] 551.8564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3BCF0690-85D3-9846-4284-8CBB9766A2DB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7970196" y="5776023"/>
            <a:ext cx="1172348" cy="624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 3">
            <a:extLst>
              <a:ext uri="{FF2B5EF4-FFF2-40B4-BE49-F238E27FC236}">
                <a16:creationId xmlns:a16="http://schemas.microsoft.com/office/drawing/2014/main" id="{B33C1E34-8207-4595-C5AC-8C6DD2B1A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15" y="1424879"/>
            <a:ext cx="4477477" cy="284715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02C512D-9863-87D9-7EE9-36804971E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16" y="4272035"/>
            <a:ext cx="4066725" cy="258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051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8463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</a:t>
            </a:r>
            <a:r>
              <a:rPr lang="fr-FR" dirty="0" err="1"/>
              <a:t>coléos</a:t>
            </a:r>
            <a:r>
              <a:rPr lang="fr-FR" dirty="0"/>
              <a:t> </a:t>
            </a:r>
            <a:r>
              <a:rPr lang="fr-FR" dirty="0" err="1"/>
              <a:t>saprox</a:t>
            </a:r>
            <a:r>
              <a:rPr lang="fr-FR" dirty="0"/>
              <a:t> – composition ACP (toutes espèces, données d’abondance)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30CA7A0-047D-1465-AA12-C46A95F1AA37}"/>
              </a:ext>
            </a:extLst>
          </p:cNvPr>
          <p:cNvSpPr txBox="1"/>
          <p:nvPr/>
        </p:nvSpPr>
        <p:spPr>
          <a:xfrm>
            <a:off x="7976680" y="2359116"/>
            <a:ext cx="614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B99C1C3-97D2-AD83-07CB-6F5E104C8418}"/>
              </a:ext>
            </a:extLst>
          </p:cNvPr>
          <p:cNvSpPr txBox="1"/>
          <p:nvPr/>
        </p:nvSpPr>
        <p:spPr>
          <a:xfrm>
            <a:off x="5419807" y="1132620"/>
            <a:ext cx="63639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Emboîtement du chêne vers pin?</a:t>
            </a:r>
          </a:p>
          <a:p>
            <a:r>
              <a:rPr lang="fr-FR" dirty="0">
                <a:solidFill>
                  <a:srgbClr val="FF0000"/>
                </a:solidFill>
              </a:rPr>
              <a:t>Plus forte hétérogénéité des chênaies, que du mélange que des pins en RDA mais ccl « visuelle » assez différente en ACP?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AC649BF-91EC-D031-C139-0910A8629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80" y="687421"/>
            <a:ext cx="4961604" cy="315500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A94490A-89B3-BE7A-8919-311594E33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302" y="2728448"/>
            <a:ext cx="6494192" cy="412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52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2510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Données oiseaux – RLQ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7C1AE62-BEBA-A199-8DDA-0EC68ED47480}"/>
              </a:ext>
            </a:extLst>
          </p:cNvPr>
          <p:cNvSpPr txBox="1"/>
          <p:nvPr/>
        </p:nvSpPr>
        <p:spPr>
          <a:xfrm>
            <a:off x="495359" y="1292574"/>
            <a:ext cx="13604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Traits (</a:t>
            </a:r>
            <a:r>
              <a:rPr lang="fr-FR" sz="1600" dirty="0" err="1"/>
              <a:t>avinet</a:t>
            </a:r>
            <a:r>
              <a:rPr lang="fr-FR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Diet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Mobility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Habitat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Size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8C8C7ED-94CD-BCD4-1DC3-0EAEAA863655}"/>
              </a:ext>
            </a:extLst>
          </p:cNvPr>
          <p:cNvSpPr txBox="1"/>
          <p:nvPr/>
        </p:nvSpPr>
        <p:spPr>
          <a:xfrm>
            <a:off x="495359" y="715753"/>
            <a:ext cx="1546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Sites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G et %feuillus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5B3211-F471-5620-E782-AA2F59C82924}"/>
              </a:ext>
            </a:extLst>
          </p:cNvPr>
          <p:cNvSpPr txBox="1"/>
          <p:nvPr/>
        </p:nvSpPr>
        <p:spPr>
          <a:xfrm>
            <a:off x="3891063" y="2779161"/>
            <a:ext cx="4623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200" dirty="0">
                <a:solidFill>
                  <a:srgbClr val="FF0000"/>
                </a:solidFill>
              </a:rPr>
              <a:t>A faire</a:t>
            </a:r>
          </a:p>
        </p:txBody>
      </p:sp>
    </p:spTree>
    <p:extLst>
      <p:ext uri="{BB962C8B-B14F-4D97-AF65-F5344CB8AC3E}">
        <p14:creationId xmlns:p14="http://schemas.microsoft.com/office/powerpoint/2010/main" val="1955066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9D1ECC8F-BE11-6891-7F57-2FD99A2E194D}"/>
              </a:ext>
            </a:extLst>
          </p:cNvPr>
          <p:cNvSpPr txBox="1"/>
          <p:nvPr/>
        </p:nvSpPr>
        <p:spPr>
          <a:xfrm>
            <a:off x="138480" y="90791"/>
            <a:ext cx="3322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Données saproxyliques </a:t>
            </a:r>
            <a:r>
              <a:rPr lang="fr-FR" dirty="0"/>
              <a:t>– </a:t>
            </a:r>
            <a:r>
              <a:rPr lang="fr-FR" dirty="0" err="1"/>
              <a:t>IndVal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37AA6E6-9C9D-71F3-DEA9-554C578105A1}"/>
              </a:ext>
            </a:extLst>
          </p:cNvPr>
          <p:cNvSpPr txBox="1"/>
          <p:nvPr/>
        </p:nvSpPr>
        <p:spPr>
          <a:xfrm>
            <a:off x="6433691" y="940712"/>
            <a:ext cx="102754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&gt; </a:t>
            </a:r>
            <a:r>
              <a:rPr lang="fr-FR" sz="1400" dirty="0" err="1"/>
              <a:t>beta.multi.abund</a:t>
            </a:r>
            <a:r>
              <a:rPr lang="fr-FR" sz="1400" dirty="0"/>
              <a:t>(</a:t>
            </a:r>
            <a:r>
              <a:rPr lang="fr-FR" sz="1400" dirty="0" err="1"/>
              <a:t>aa.Saprox</a:t>
            </a:r>
            <a:r>
              <a:rPr lang="fr-FR" sz="1400" dirty="0"/>
              <a:t>, </a:t>
            </a:r>
            <a:r>
              <a:rPr lang="fr-FR" sz="1400" dirty="0" err="1"/>
              <a:t>index.family</a:t>
            </a:r>
            <a:r>
              <a:rPr lang="fr-FR" sz="1400" dirty="0"/>
              <a:t>="</a:t>
            </a:r>
            <a:r>
              <a:rPr lang="fr-FR" sz="1400" dirty="0" err="1"/>
              <a:t>bray</a:t>
            </a:r>
            <a:r>
              <a:rPr lang="fr-FR" sz="1400" dirty="0"/>
              <a:t>")</a:t>
            </a:r>
          </a:p>
          <a:p>
            <a:r>
              <a:rPr lang="fr-FR" sz="1400" dirty="0"/>
              <a:t>$</a:t>
            </a:r>
            <a:r>
              <a:rPr lang="fr-FR" sz="1400" dirty="0" err="1"/>
              <a:t>beta.BRAY.BAL</a:t>
            </a:r>
            <a:endParaRPr lang="fr-FR" sz="1400" dirty="0"/>
          </a:p>
          <a:p>
            <a:r>
              <a:rPr lang="fr-FR" sz="1400" dirty="0"/>
              <a:t>[1] 0.9219115</a:t>
            </a:r>
          </a:p>
          <a:p>
            <a:endParaRPr lang="fr-FR" sz="1400" dirty="0"/>
          </a:p>
          <a:p>
            <a:r>
              <a:rPr lang="fr-FR" sz="1400" dirty="0"/>
              <a:t>$</a:t>
            </a:r>
            <a:r>
              <a:rPr lang="fr-FR" sz="1400" dirty="0" err="1"/>
              <a:t>beta.BRAY.GRA</a:t>
            </a:r>
            <a:endParaRPr lang="fr-FR" sz="1400" dirty="0"/>
          </a:p>
          <a:p>
            <a:r>
              <a:rPr lang="fr-FR" sz="1400" dirty="0"/>
              <a:t>[1] 0.02802564</a:t>
            </a:r>
          </a:p>
          <a:p>
            <a:endParaRPr lang="fr-FR" sz="1400" dirty="0"/>
          </a:p>
          <a:p>
            <a:r>
              <a:rPr lang="fr-FR" sz="1400" dirty="0"/>
              <a:t>$</a:t>
            </a:r>
            <a:r>
              <a:rPr lang="fr-FR" sz="1400" dirty="0" err="1"/>
              <a:t>beta.BRAY</a:t>
            </a:r>
            <a:endParaRPr lang="fr-FR" sz="1400" dirty="0"/>
          </a:p>
          <a:p>
            <a:r>
              <a:rPr lang="fr-FR" sz="1400" dirty="0"/>
              <a:t>[1] 0.9499371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DC4B07E-316A-94EB-2767-834614F707B7}"/>
              </a:ext>
            </a:extLst>
          </p:cNvPr>
          <p:cNvSpPr txBox="1"/>
          <p:nvPr/>
        </p:nvSpPr>
        <p:spPr>
          <a:xfrm>
            <a:off x="6381064" y="360042"/>
            <a:ext cx="1826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Beta </a:t>
            </a:r>
            <a:r>
              <a:rPr lang="fr-FR" dirty="0" err="1"/>
              <a:t>partitioning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F132B76-16A2-3976-684A-7D755BD10CE9}"/>
              </a:ext>
            </a:extLst>
          </p:cNvPr>
          <p:cNvSpPr txBox="1"/>
          <p:nvPr/>
        </p:nvSpPr>
        <p:spPr>
          <a:xfrm>
            <a:off x="190774" y="618599"/>
            <a:ext cx="598636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dirty="0"/>
              <a:t>&gt; </a:t>
            </a:r>
            <a:r>
              <a:rPr lang="fr-FR" sz="800" dirty="0" err="1"/>
              <a:t>summary</a:t>
            </a:r>
            <a:r>
              <a:rPr lang="fr-FR" sz="800" dirty="0"/>
              <a:t>(</a:t>
            </a:r>
            <a:r>
              <a:rPr lang="fr-FR" sz="800" dirty="0" err="1"/>
              <a:t>indval_Saprox</a:t>
            </a:r>
            <a:r>
              <a:rPr lang="fr-FR" sz="800" dirty="0"/>
              <a:t>)</a:t>
            </a:r>
          </a:p>
          <a:p>
            <a:endParaRPr lang="fr-FR" sz="800" dirty="0"/>
          </a:p>
          <a:p>
            <a:r>
              <a:rPr lang="fr-FR" sz="800" dirty="0"/>
              <a:t> </a:t>
            </a:r>
            <a:r>
              <a:rPr lang="fr-FR" sz="800" dirty="0" err="1"/>
              <a:t>Multilevel</a:t>
            </a:r>
            <a:r>
              <a:rPr lang="fr-FR" sz="800" dirty="0"/>
              <a:t> pattern </a:t>
            </a:r>
            <a:r>
              <a:rPr lang="fr-FR" sz="800" dirty="0" err="1"/>
              <a:t>analysis</a:t>
            </a:r>
            <a:endParaRPr lang="fr-FR" sz="800" dirty="0"/>
          </a:p>
          <a:p>
            <a:r>
              <a:rPr lang="fr-FR" sz="800" dirty="0"/>
              <a:t> ---------------------------</a:t>
            </a:r>
          </a:p>
          <a:p>
            <a:endParaRPr lang="fr-FR" sz="800" dirty="0"/>
          </a:p>
          <a:p>
            <a:r>
              <a:rPr lang="fr-FR" sz="800" dirty="0"/>
              <a:t> Association </a:t>
            </a:r>
            <a:r>
              <a:rPr lang="fr-FR" sz="800" dirty="0" err="1"/>
              <a:t>function</a:t>
            </a:r>
            <a:r>
              <a:rPr lang="fr-FR" sz="800" dirty="0"/>
              <a:t>: </a:t>
            </a:r>
            <a:r>
              <a:rPr lang="fr-FR" sz="800" dirty="0" err="1"/>
              <a:t>IndVal.g</a:t>
            </a:r>
            <a:endParaRPr lang="fr-FR" sz="800" dirty="0"/>
          </a:p>
          <a:p>
            <a:r>
              <a:rPr lang="fr-FR" sz="800" dirty="0"/>
              <a:t> </a:t>
            </a:r>
            <a:r>
              <a:rPr lang="fr-FR" sz="800" dirty="0" err="1"/>
              <a:t>Significance</a:t>
            </a:r>
            <a:r>
              <a:rPr lang="fr-FR" sz="800" dirty="0"/>
              <a:t> </a:t>
            </a:r>
            <a:r>
              <a:rPr lang="fr-FR" sz="800" dirty="0" err="1"/>
              <a:t>level</a:t>
            </a:r>
            <a:r>
              <a:rPr lang="fr-FR" sz="800" dirty="0"/>
              <a:t> (alpha): 0.05</a:t>
            </a:r>
          </a:p>
          <a:p>
            <a:endParaRPr lang="fr-FR" sz="800" dirty="0"/>
          </a:p>
          <a:p>
            <a:r>
              <a:rPr lang="fr-FR" sz="800" dirty="0"/>
              <a:t> Total </a:t>
            </a:r>
            <a:r>
              <a:rPr lang="fr-FR" sz="800" dirty="0" err="1"/>
              <a:t>number</a:t>
            </a:r>
            <a:r>
              <a:rPr lang="fr-FR" sz="800" dirty="0"/>
              <a:t> of </a:t>
            </a:r>
            <a:r>
              <a:rPr lang="fr-FR" sz="800" dirty="0" err="1"/>
              <a:t>species</a:t>
            </a:r>
            <a:r>
              <a:rPr lang="fr-FR" sz="800" dirty="0"/>
              <a:t>: 204</a:t>
            </a:r>
          </a:p>
          <a:p>
            <a:r>
              <a:rPr lang="fr-FR" sz="800" dirty="0"/>
              <a:t> </a:t>
            </a:r>
            <a:r>
              <a:rPr lang="fr-FR" sz="800" dirty="0" err="1"/>
              <a:t>Selected</a:t>
            </a:r>
            <a:r>
              <a:rPr lang="fr-FR" sz="800" dirty="0"/>
              <a:t> </a:t>
            </a:r>
            <a:r>
              <a:rPr lang="fr-FR" sz="800" dirty="0" err="1"/>
              <a:t>number</a:t>
            </a:r>
            <a:r>
              <a:rPr lang="fr-FR" sz="800" dirty="0"/>
              <a:t> of </a:t>
            </a:r>
            <a:r>
              <a:rPr lang="fr-FR" sz="800" dirty="0" err="1"/>
              <a:t>species</a:t>
            </a:r>
            <a:r>
              <a:rPr lang="fr-FR" sz="800" dirty="0"/>
              <a:t>: 17 </a:t>
            </a:r>
          </a:p>
          <a:p>
            <a:r>
              <a:rPr lang="fr-FR" sz="800" dirty="0"/>
              <a:t> </a:t>
            </a:r>
            <a:r>
              <a:rPr lang="fr-FR" sz="800" dirty="0" err="1"/>
              <a:t>Number</a:t>
            </a:r>
            <a:r>
              <a:rPr lang="fr-FR" sz="800" dirty="0"/>
              <a:t> of </a:t>
            </a:r>
            <a:r>
              <a:rPr lang="fr-FR" sz="800" dirty="0" err="1"/>
              <a:t>species</a:t>
            </a:r>
            <a:r>
              <a:rPr lang="fr-FR" sz="800" dirty="0"/>
              <a:t> </a:t>
            </a:r>
            <a:r>
              <a:rPr lang="fr-FR" sz="800" dirty="0" err="1"/>
              <a:t>associated</a:t>
            </a:r>
            <a:r>
              <a:rPr lang="fr-FR" sz="800" dirty="0"/>
              <a:t> to 1 group: 8 </a:t>
            </a:r>
          </a:p>
          <a:p>
            <a:r>
              <a:rPr lang="fr-FR" sz="800" dirty="0"/>
              <a:t> </a:t>
            </a:r>
            <a:r>
              <a:rPr lang="fr-FR" sz="800" dirty="0" err="1"/>
              <a:t>Number</a:t>
            </a:r>
            <a:r>
              <a:rPr lang="fr-FR" sz="800" dirty="0"/>
              <a:t> of </a:t>
            </a:r>
            <a:r>
              <a:rPr lang="fr-FR" sz="800" dirty="0" err="1"/>
              <a:t>species</a:t>
            </a:r>
            <a:r>
              <a:rPr lang="fr-FR" sz="800" dirty="0"/>
              <a:t> </a:t>
            </a:r>
            <a:r>
              <a:rPr lang="fr-FR" sz="800" dirty="0" err="1"/>
              <a:t>associated</a:t>
            </a:r>
            <a:r>
              <a:rPr lang="fr-FR" sz="800" dirty="0"/>
              <a:t> to 2 groups: 9 </a:t>
            </a:r>
          </a:p>
          <a:p>
            <a:endParaRPr lang="fr-FR" sz="800" dirty="0"/>
          </a:p>
          <a:p>
            <a:r>
              <a:rPr lang="fr-FR" sz="800" dirty="0"/>
              <a:t> List of </a:t>
            </a:r>
            <a:r>
              <a:rPr lang="fr-FR" sz="800" dirty="0" err="1"/>
              <a:t>species</a:t>
            </a:r>
            <a:r>
              <a:rPr lang="fr-FR" sz="800" dirty="0"/>
              <a:t> </a:t>
            </a:r>
            <a:r>
              <a:rPr lang="fr-FR" sz="800" dirty="0" err="1"/>
              <a:t>associated</a:t>
            </a:r>
            <a:r>
              <a:rPr lang="fr-FR" sz="800" dirty="0"/>
              <a:t> to </a:t>
            </a:r>
            <a:r>
              <a:rPr lang="fr-FR" sz="800" dirty="0" err="1"/>
              <a:t>each</a:t>
            </a:r>
            <a:r>
              <a:rPr lang="fr-FR" sz="800" dirty="0"/>
              <a:t> combination: </a:t>
            </a:r>
          </a:p>
          <a:p>
            <a:endParaRPr lang="fr-FR" sz="800" dirty="0"/>
          </a:p>
          <a:p>
            <a:r>
              <a:rPr lang="fr-FR" sz="800" dirty="0"/>
              <a:t> Group </a:t>
            </a:r>
            <a:r>
              <a:rPr lang="fr-FR" sz="800" dirty="0">
                <a:highlight>
                  <a:srgbClr val="FFFF00"/>
                </a:highlight>
              </a:rPr>
              <a:t>Pine</a:t>
            </a:r>
            <a:r>
              <a:rPr lang="fr-FR" sz="800" dirty="0"/>
              <a:t>  #sps.  4 </a:t>
            </a:r>
          </a:p>
          <a:p>
            <a:r>
              <a:rPr lang="fr-FR" sz="800" dirty="0"/>
              <a:t>                         stat </a:t>
            </a:r>
            <a:r>
              <a:rPr lang="fr-FR" sz="800" dirty="0" err="1"/>
              <a:t>p.value</a:t>
            </a:r>
            <a:r>
              <a:rPr lang="fr-FR" sz="800" dirty="0"/>
              <a:t>    </a:t>
            </a:r>
          </a:p>
          <a:p>
            <a:r>
              <a:rPr lang="fr-FR" sz="800" dirty="0" err="1"/>
              <a:t>Hylurgops.palliatus</a:t>
            </a:r>
            <a:r>
              <a:rPr lang="fr-FR" sz="800" dirty="0"/>
              <a:t>     0.856   0.001 ***</a:t>
            </a:r>
          </a:p>
          <a:p>
            <a:r>
              <a:rPr lang="fr-FR" sz="800" dirty="0" err="1"/>
              <a:t>Tomicus.piniperda</a:t>
            </a:r>
            <a:r>
              <a:rPr lang="fr-FR" sz="800" dirty="0"/>
              <a:t>       0.839   0.001 ***</a:t>
            </a:r>
          </a:p>
          <a:p>
            <a:r>
              <a:rPr lang="fr-FR" sz="800" dirty="0" err="1"/>
              <a:t>Pityophthorus.pubescens</a:t>
            </a:r>
            <a:r>
              <a:rPr lang="fr-FR" sz="800" dirty="0"/>
              <a:t> 0.652   0.006 ** </a:t>
            </a:r>
          </a:p>
          <a:p>
            <a:r>
              <a:rPr lang="fr-FR" sz="800" dirty="0" err="1"/>
              <a:t>Rhizophagus.depressus</a:t>
            </a:r>
            <a:r>
              <a:rPr lang="fr-FR" sz="800" dirty="0"/>
              <a:t>   0.612   0.011 *  </a:t>
            </a:r>
          </a:p>
          <a:p>
            <a:endParaRPr lang="fr-FR" sz="800" dirty="0"/>
          </a:p>
          <a:p>
            <a:r>
              <a:rPr lang="fr-FR" sz="800" dirty="0"/>
              <a:t> Group </a:t>
            </a:r>
            <a:r>
              <a:rPr lang="fr-FR" sz="800" dirty="0">
                <a:highlight>
                  <a:srgbClr val="FFFF00"/>
                </a:highlight>
              </a:rPr>
              <a:t>Mixed</a:t>
            </a:r>
            <a:r>
              <a:rPr lang="fr-FR" sz="800" dirty="0"/>
              <a:t>  #sps.  3 </a:t>
            </a:r>
          </a:p>
          <a:p>
            <a:r>
              <a:rPr lang="fr-FR" sz="800" dirty="0"/>
              <a:t>                        stat </a:t>
            </a:r>
            <a:r>
              <a:rPr lang="fr-FR" sz="800" dirty="0" err="1"/>
              <a:t>p.value</a:t>
            </a:r>
            <a:r>
              <a:rPr lang="fr-FR" sz="800" dirty="0"/>
              <a:t>   </a:t>
            </a:r>
          </a:p>
          <a:p>
            <a:r>
              <a:rPr lang="fr-FR" sz="800" dirty="0" err="1"/>
              <a:t>Silvanus.unidentatus</a:t>
            </a:r>
            <a:r>
              <a:rPr lang="fr-FR" sz="800" dirty="0"/>
              <a:t>   0.520   0.025 * </a:t>
            </a:r>
          </a:p>
          <a:p>
            <a:r>
              <a:rPr lang="fr-FR" sz="800" dirty="0" err="1"/>
              <a:t>Thymalus.limbatus</a:t>
            </a:r>
            <a:r>
              <a:rPr lang="fr-FR" sz="800" dirty="0"/>
              <a:t>      0.513   0.010 **</a:t>
            </a:r>
          </a:p>
          <a:p>
            <a:r>
              <a:rPr lang="fr-FR" sz="800" dirty="0" err="1"/>
              <a:t>Octotemnus.glabriculus</a:t>
            </a:r>
            <a:r>
              <a:rPr lang="fr-FR" sz="800" dirty="0"/>
              <a:t> 0.459   0.036 * </a:t>
            </a:r>
          </a:p>
          <a:p>
            <a:endParaRPr lang="fr-FR" sz="800" dirty="0"/>
          </a:p>
          <a:p>
            <a:r>
              <a:rPr lang="fr-FR" sz="800" dirty="0"/>
              <a:t> Group </a:t>
            </a:r>
            <a:r>
              <a:rPr lang="fr-FR" sz="800" dirty="0" err="1">
                <a:highlight>
                  <a:srgbClr val="FFFF00"/>
                </a:highlight>
              </a:rPr>
              <a:t>Oak</a:t>
            </a:r>
            <a:r>
              <a:rPr lang="fr-FR" sz="800" dirty="0">
                <a:highlight>
                  <a:srgbClr val="FFFF00"/>
                </a:highlight>
              </a:rPr>
              <a:t> </a:t>
            </a:r>
            <a:r>
              <a:rPr lang="fr-FR" sz="800" dirty="0"/>
              <a:t> #sps.  1 </a:t>
            </a:r>
          </a:p>
          <a:p>
            <a:r>
              <a:rPr lang="fr-FR" sz="800" dirty="0"/>
              <a:t>                   stat </a:t>
            </a:r>
            <a:r>
              <a:rPr lang="fr-FR" sz="800" dirty="0" err="1"/>
              <a:t>p.value</a:t>
            </a:r>
            <a:r>
              <a:rPr lang="fr-FR" sz="800" dirty="0"/>
              <a:t>   </a:t>
            </a:r>
          </a:p>
          <a:p>
            <a:r>
              <a:rPr lang="fr-FR" sz="800" dirty="0" err="1"/>
              <a:t>Cryptarcha.undata</a:t>
            </a:r>
            <a:r>
              <a:rPr lang="fr-FR" sz="800" dirty="0"/>
              <a:t> 0.598   0.003 **</a:t>
            </a:r>
          </a:p>
          <a:p>
            <a:endParaRPr lang="fr-FR" sz="800" dirty="0"/>
          </a:p>
          <a:p>
            <a:r>
              <a:rPr lang="fr-FR" sz="800" dirty="0"/>
              <a:t> Group </a:t>
            </a:r>
            <a:r>
              <a:rPr lang="fr-FR" sz="800" dirty="0" err="1">
                <a:highlight>
                  <a:srgbClr val="FFFF00"/>
                </a:highlight>
              </a:rPr>
              <a:t>Pine+Mixed</a:t>
            </a:r>
            <a:r>
              <a:rPr lang="fr-FR" sz="800" dirty="0">
                <a:highlight>
                  <a:srgbClr val="FFFF00"/>
                </a:highlight>
              </a:rPr>
              <a:t>  </a:t>
            </a:r>
            <a:r>
              <a:rPr lang="fr-FR" sz="800" dirty="0"/>
              <a:t>#sps.  6 </a:t>
            </a:r>
          </a:p>
          <a:p>
            <a:r>
              <a:rPr lang="fr-FR" sz="800" dirty="0"/>
              <a:t>                               stat </a:t>
            </a:r>
            <a:r>
              <a:rPr lang="fr-FR" sz="800" dirty="0" err="1"/>
              <a:t>p.value</a:t>
            </a:r>
            <a:r>
              <a:rPr lang="fr-FR" sz="800" dirty="0"/>
              <a:t>   </a:t>
            </a:r>
          </a:p>
          <a:p>
            <a:r>
              <a:rPr lang="fr-FR" sz="800" dirty="0" err="1"/>
              <a:t>Hylastes.linearis</a:t>
            </a:r>
            <a:r>
              <a:rPr lang="fr-FR" sz="800" dirty="0"/>
              <a:t>             0.854   0.004 **</a:t>
            </a:r>
          </a:p>
          <a:p>
            <a:r>
              <a:rPr lang="fr-FR" sz="800" dirty="0" err="1"/>
              <a:t>Hylastes.attenuatus</a:t>
            </a:r>
            <a:r>
              <a:rPr lang="fr-FR" sz="800" dirty="0"/>
              <a:t>           0.806   0.011 * </a:t>
            </a:r>
          </a:p>
          <a:p>
            <a:r>
              <a:rPr lang="fr-FR" sz="800" dirty="0" err="1"/>
              <a:t>Rhagium.mordax</a:t>
            </a:r>
            <a:r>
              <a:rPr lang="fr-FR" sz="800" dirty="0"/>
              <a:t>                0.664   0.010 **</a:t>
            </a:r>
          </a:p>
          <a:p>
            <a:r>
              <a:rPr lang="fr-FR" sz="800" dirty="0" err="1"/>
              <a:t>Ampedus.sanguinolentus</a:t>
            </a:r>
            <a:r>
              <a:rPr lang="fr-FR" sz="800" dirty="0"/>
              <a:t>        0.652   0.019 * </a:t>
            </a:r>
          </a:p>
          <a:p>
            <a:r>
              <a:rPr lang="fr-FR" sz="800" dirty="0" err="1"/>
              <a:t>Glischrochilus.quadriguttatus</a:t>
            </a:r>
            <a:r>
              <a:rPr lang="fr-FR" sz="800" dirty="0"/>
              <a:t> 0.628   0.024 * </a:t>
            </a:r>
          </a:p>
          <a:p>
            <a:r>
              <a:rPr lang="fr-FR" sz="800" dirty="0" err="1"/>
              <a:t>Hylastes.opacus</a:t>
            </a:r>
            <a:r>
              <a:rPr lang="fr-FR" sz="800" dirty="0"/>
              <a:t>               0.594   0.042 * </a:t>
            </a:r>
          </a:p>
          <a:p>
            <a:endParaRPr lang="fr-FR" sz="800" dirty="0"/>
          </a:p>
          <a:p>
            <a:r>
              <a:rPr lang="fr-FR" sz="800" dirty="0"/>
              <a:t> Group </a:t>
            </a:r>
            <a:r>
              <a:rPr lang="fr-FR" sz="800" dirty="0" err="1">
                <a:highlight>
                  <a:srgbClr val="FFFF00"/>
                </a:highlight>
              </a:rPr>
              <a:t>Pine+Oak</a:t>
            </a:r>
            <a:r>
              <a:rPr lang="fr-FR" sz="800" dirty="0">
                <a:highlight>
                  <a:srgbClr val="FFFF00"/>
                </a:highlight>
              </a:rPr>
              <a:t>  </a:t>
            </a:r>
            <a:r>
              <a:rPr lang="fr-FR" sz="800" dirty="0"/>
              <a:t>#sps.  1 </a:t>
            </a:r>
          </a:p>
          <a:p>
            <a:r>
              <a:rPr lang="fr-FR" sz="800" dirty="0"/>
              <a:t>                         stat </a:t>
            </a:r>
            <a:r>
              <a:rPr lang="fr-FR" sz="800" dirty="0" err="1"/>
              <a:t>p.value</a:t>
            </a:r>
            <a:r>
              <a:rPr lang="fr-FR" sz="800" dirty="0"/>
              <a:t>  </a:t>
            </a:r>
          </a:p>
          <a:p>
            <a:r>
              <a:rPr lang="fr-FR" sz="800" dirty="0" err="1"/>
              <a:t>Vincenzellus.ruficollis</a:t>
            </a:r>
            <a:r>
              <a:rPr lang="fr-FR" sz="800" dirty="0"/>
              <a:t> 0.707   0.023 *</a:t>
            </a:r>
          </a:p>
          <a:p>
            <a:endParaRPr lang="fr-FR" sz="800" dirty="0"/>
          </a:p>
          <a:p>
            <a:r>
              <a:rPr lang="fr-FR" sz="800" dirty="0"/>
              <a:t> Group </a:t>
            </a:r>
            <a:r>
              <a:rPr lang="fr-FR" sz="800" dirty="0" err="1">
                <a:highlight>
                  <a:srgbClr val="FFFF00"/>
                </a:highlight>
              </a:rPr>
              <a:t>Mixed+Oak</a:t>
            </a:r>
            <a:r>
              <a:rPr lang="fr-FR" sz="800" dirty="0">
                <a:highlight>
                  <a:srgbClr val="FFFF00"/>
                </a:highlight>
              </a:rPr>
              <a:t>  </a:t>
            </a:r>
            <a:r>
              <a:rPr lang="fr-FR" sz="800" dirty="0"/>
              <a:t>#sps.  2 </a:t>
            </a:r>
          </a:p>
          <a:p>
            <a:r>
              <a:rPr lang="fr-FR" sz="800" dirty="0"/>
              <a:t>                      stat </a:t>
            </a:r>
            <a:r>
              <a:rPr lang="fr-FR" sz="800" dirty="0" err="1"/>
              <a:t>p.value</a:t>
            </a:r>
            <a:r>
              <a:rPr lang="fr-FR" sz="800" dirty="0"/>
              <a:t>  </a:t>
            </a:r>
          </a:p>
          <a:p>
            <a:r>
              <a:rPr lang="fr-FR" sz="800" dirty="0" err="1"/>
              <a:t>Ampedus.quercicola</a:t>
            </a:r>
            <a:r>
              <a:rPr lang="fr-FR" sz="800" dirty="0"/>
              <a:t>   0.792   0.024 *</a:t>
            </a:r>
          </a:p>
          <a:p>
            <a:r>
              <a:rPr lang="fr-FR" sz="800" dirty="0" err="1"/>
              <a:t>Isoriphis.melasoides</a:t>
            </a:r>
            <a:r>
              <a:rPr lang="fr-FR" sz="800" dirty="0"/>
              <a:t> 0.744   0.049 *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169C732-6229-F1DF-95DD-125C0EE1005A}"/>
              </a:ext>
            </a:extLst>
          </p:cNvPr>
          <p:cNvSpPr txBox="1"/>
          <p:nvPr/>
        </p:nvSpPr>
        <p:spPr>
          <a:xfrm>
            <a:off x="4043772" y="4729066"/>
            <a:ext cx="6139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Préférence 17/204=8.3%</a:t>
            </a:r>
          </a:p>
          <a:p>
            <a:r>
              <a:rPr lang="fr-FR" sz="1400" dirty="0">
                <a:solidFill>
                  <a:srgbClr val="FF0000"/>
                </a:solidFill>
              </a:rPr>
              <a:t>Espèces des pins tolèrent mieux le mélange que les espèces des chênes</a:t>
            </a:r>
          </a:p>
          <a:p>
            <a:r>
              <a:rPr lang="fr-FR" sz="1400" dirty="0">
                <a:solidFill>
                  <a:srgbClr val="FF0000"/>
                </a:solidFill>
              </a:rPr>
              <a:t>Plus d’espèces des pins que des chênes (</a:t>
            </a:r>
            <a:r>
              <a:rPr lang="fr-FR" sz="1400" dirty="0" err="1">
                <a:solidFill>
                  <a:srgbClr val="FF0000"/>
                </a:solidFill>
              </a:rPr>
              <a:t>oak</a:t>
            </a:r>
            <a:r>
              <a:rPr lang="fr-FR" sz="1400" dirty="0">
                <a:solidFill>
                  <a:srgbClr val="FF0000"/>
                </a:solidFill>
              </a:rPr>
              <a:t> 1; mixed+oak:2; </a:t>
            </a:r>
            <a:r>
              <a:rPr lang="fr-FR" sz="1400" dirty="0" err="1">
                <a:solidFill>
                  <a:srgbClr val="FF0000"/>
                </a:solidFill>
              </a:rPr>
              <a:t>pine+oak</a:t>
            </a:r>
            <a:r>
              <a:rPr lang="fr-FR" sz="1400" dirty="0">
                <a:solidFill>
                  <a:srgbClr val="FF0000"/>
                </a:solidFill>
              </a:rPr>
              <a:t>: 1 versus pine: 4; pine+mixed:6; pine+oak:1)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0D956AD-5D6E-8786-EC5E-3904ABC23338}"/>
              </a:ext>
            </a:extLst>
          </p:cNvPr>
          <p:cNvSpPr txBox="1"/>
          <p:nvPr/>
        </p:nvSpPr>
        <p:spPr>
          <a:xfrm>
            <a:off x="5974299" y="3429000"/>
            <a:ext cx="5203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Plus des changements de composition que des gradients d’abondance (pas différenciant par rapport aux autres groupes)</a:t>
            </a:r>
          </a:p>
        </p:txBody>
      </p:sp>
    </p:spTree>
    <p:extLst>
      <p:ext uri="{BB962C8B-B14F-4D97-AF65-F5344CB8AC3E}">
        <p14:creationId xmlns:p14="http://schemas.microsoft.com/office/powerpoint/2010/main" val="6517998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3912</Words>
  <Application>Microsoft Office PowerPoint</Application>
  <PresentationFormat>Grand écran</PresentationFormat>
  <Paragraphs>495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Lucida Console</vt:lpstr>
      <vt:lpstr>Thème Office</vt:lpstr>
      <vt:lpstr>CARABES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OISEAUX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COLEOS SAPROX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INRAE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frederic.archaux</dc:creator>
  <cp:lastModifiedBy>frederic.archaux</cp:lastModifiedBy>
  <cp:revision>3</cp:revision>
  <dcterms:created xsi:type="dcterms:W3CDTF">2026-03-19T10:02:32Z</dcterms:created>
  <dcterms:modified xsi:type="dcterms:W3CDTF">2026-05-06T06:51:18Z</dcterms:modified>
</cp:coreProperties>
</file>