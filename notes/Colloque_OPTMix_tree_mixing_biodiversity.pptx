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wdp" ContentType="image/vnd.ms-photo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22"/>
  </p:notesMasterIdLst>
  <p:sldIdLst>
    <p:sldId id="266" r:id="rId2"/>
    <p:sldId id="298" r:id="rId3"/>
    <p:sldId id="314" r:id="rId4"/>
    <p:sldId id="315" r:id="rId5"/>
    <p:sldId id="317" r:id="rId6"/>
    <p:sldId id="316" r:id="rId7"/>
    <p:sldId id="318" r:id="rId8"/>
    <p:sldId id="321" r:id="rId9"/>
    <p:sldId id="322" r:id="rId10"/>
    <p:sldId id="324" r:id="rId11"/>
    <p:sldId id="320" r:id="rId12"/>
    <p:sldId id="325" r:id="rId13"/>
    <p:sldId id="326" r:id="rId14"/>
    <p:sldId id="327" r:id="rId15"/>
    <p:sldId id="313" r:id="rId16"/>
    <p:sldId id="319" r:id="rId17"/>
    <p:sldId id="323" r:id="rId18"/>
    <p:sldId id="329" r:id="rId19"/>
    <p:sldId id="328" r:id="rId20"/>
    <p:sldId id="294" r:id="rId21"/>
  </p:sldIdLst>
  <p:sldSz cx="12192000" cy="6858000"/>
  <p:notesSz cx="6858000" cy="9144000"/>
  <p:defaultTextStyle>
    <a:defPPr>
      <a:defRPr lang="fr-FR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0E1317"/>
    <a:srgbClr val="188963"/>
    <a:srgbClr val="6CB546"/>
    <a:srgbClr val="F4C74E"/>
    <a:srgbClr val="C20102"/>
    <a:srgbClr val="D7AA14"/>
    <a:srgbClr val="009196"/>
    <a:srgbClr val="008C48"/>
    <a:srgbClr val="004537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6026" autoAdjust="0"/>
    <p:restoredTop sz="94660"/>
  </p:normalViewPr>
  <p:slideViewPr>
    <p:cSldViewPr snapToGrid="0">
      <p:cViewPr varScale="1">
        <p:scale>
          <a:sx n="107" d="100"/>
          <a:sy n="107" d="100"/>
        </p:scale>
        <p:origin x="612" y="10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tableStyles" Target="tableStyles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viewProps" Target="view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presProps" Target="pres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notesMaster" Target="notesMasters/notes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en-tête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fr-FR"/>
          </a:p>
        </p:txBody>
      </p:sp>
      <p:sp>
        <p:nvSpPr>
          <p:cNvPr id="3" name="Espace réservé de la date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7C9D11E9-6D16-41A5-968F-A88F80B11349}" type="datetimeFigureOut">
              <a:rPr lang="fr-FR" smtClean="0"/>
              <a:t>07/05/2026</a:t>
            </a:fld>
            <a:endParaRPr lang="fr-FR"/>
          </a:p>
        </p:txBody>
      </p:sp>
      <p:sp>
        <p:nvSpPr>
          <p:cNvPr id="4" name="Espace réservé de l'image des diapositives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fr-FR"/>
          </a:p>
        </p:txBody>
      </p:sp>
      <p:sp>
        <p:nvSpPr>
          <p:cNvPr id="5" name="Espace réservé des notes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fr-FR"/>
              <a:t>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fr-FR"/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5EF05A88-E4CC-4534-B79C-E3319D0E8140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4151910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2" name="Google Shape;162;g28808c7f580_2_1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163" name="Google Shape;163;g28808c7f580_2_1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285750" lvl="0" indent="-22225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Calibri"/>
              <a:buNone/>
            </a:pPr>
            <a:endParaRPr sz="1000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4" name="Google Shape;164;g28808c7f580_2_1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-FR"/>
              <a:t>2</a:t>
            </a:fld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2" name="Google Shape;162;g28808c7f580_2_1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163" name="Google Shape;163;g28808c7f580_2_1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285750" lvl="0" indent="-22225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Calibri"/>
              <a:buNone/>
            </a:pPr>
            <a:endParaRPr sz="1000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4" name="Google Shape;164;g28808c7f580_2_1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-FR"/>
              <a:t>3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303009183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2" name="Google Shape;162;g28808c7f580_2_1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163" name="Google Shape;163;g28808c7f580_2_1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285750" lvl="0" indent="-22225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Calibri"/>
              <a:buNone/>
            </a:pPr>
            <a:endParaRPr sz="1000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4" name="Google Shape;164;g28808c7f580_2_1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-FR"/>
              <a:t>4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2748069120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2" name="Google Shape;162;g28808c7f580_2_1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163" name="Google Shape;163;g28808c7f580_2_1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285750" lvl="0" indent="-22225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Calibri"/>
              <a:buNone/>
            </a:pPr>
            <a:endParaRPr sz="1000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4" name="Google Shape;164;g28808c7f580_2_1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-FR"/>
              <a:t>5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2043700977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ce réservé des not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fr-FR" dirty="0"/>
              <a:t>Carte 2020 V3 masque OSO : donc tous peuplements feuillus représenté</a:t>
            </a:r>
          </a:p>
          <a:p>
            <a:r>
              <a:rPr lang="fr-FR" sz="1900" dirty="0">
                <a:latin typeface="Arial" panose="020B0604020202020204" pitchFamily="34" charset="0"/>
                <a:ea typeface="Arial" panose="020B0604020202020204" pitchFamily="34" charset="0"/>
              </a:rPr>
              <a:t>Evolution de l’état sanitaire des chênaies de 2017 à 2022 (a) sur notre zone d’étude et (b) par département (avec utilisation du masque BD Forêt® version 2).</a:t>
            </a:r>
            <a:endParaRPr lang="fr-FR" dirty="0"/>
          </a:p>
          <a:p>
            <a:r>
              <a:rPr lang="fr-FR" dirty="0"/>
              <a:t>Autres plateformes : Foret Bouge, </a:t>
            </a:r>
            <a:r>
              <a:rPr lang="fr-FR" dirty="0" err="1"/>
              <a:t>géoportail</a:t>
            </a:r>
            <a:r>
              <a:rPr lang="fr-FR" dirty="0"/>
              <a:t>, SI …</a:t>
            </a:r>
          </a:p>
          <a:p>
            <a:endParaRPr lang="fr-FR" dirty="0"/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E4F93B8-F018-4800-8025-4613B8FEEE34}" type="slidenum">
              <a:rPr lang="fr-FR" smtClean="0"/>
              <a:t>6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98613297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ce réservé des not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fr-FR" dirty="0"/>
              <a:t>Carte 2020 V3 masque OSO : donc tous peuplements feuillus représenté</a:t>
            </a:r>
          </a:p>
          <a:p>
            <a:r>
              <a:rPr lang="fr-FR" sz="1900" dirty="0">
                <a:latin typeface="Arial" panose="020B0604020202020204" pitchFamily="34" charset="0"/>
                <a:ea typeface="Arial" panose="020B0604020202020204" pitchFamily="34" charset="0"/>
              </a:rPr>
              <a:t>Evolution de l’état sanitaire des chênaies de 2017 à 2022 (a) sur notre zone d’étude et (b) par département (avec utilisation du masque BD Forêt® version 2).</a:t>
            </a:r>
            <a:endParaRPr lang="fr-FR" dirty="0"/>
          </a:p>
          <a:p>
            <a:r>
              <a:rPr lang="fr-FR" dirty="0"/>
              <a:t>Autres plateformes : Foret Bouge, </a:t>
            </a:r>
            <a:r>
              <a:rPr lang="fr-FR" dirty="0" err="1"/>
              <a:t>géoportail</a:t>
            </a:r>
            <a:r>
              <a:rPr lang="fr-FR" dirty="0"/>
              <a:t>, SI …</a:t>
            </a:r>
          </a:p>
          <a:p>
            <a:endParaRPr lang="fr-FR" dirty="0"/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E4F93B8-F018-4800-8025-4613B8FEEE34}" type="slidenum">
              <a:rPr lang="fr-FR" smtClean="0"/>
              <a:t>7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843944026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ce réservé des not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fr-FR" dirty="0"/>
              <a:t>Carte 2020 V3 masque OSO : donc tous peuplements feuillus représenté</a:t>
            </a:r>
          </a:p>
          <a:p>
            <a:r>
              <a:rPr lang="fr-FR" sz="1900" dirty="0">
                <a:latin typeface="Arial" panose="020B0604020202020204" pitchFamily="34" charset="0"/>
                <a:ea typeface="Arial" panose="020B0604020202020204" pitchFamily="34" charset="0"/>
              </a:rPr>
              <a:t>Evolution de l’état sanitaire des chênaies de 2017 à 2022 (a) sur notre zone d’étude et (b) par département (avec utilisation du masque BD Forêt® version 2).</a:t>
            </a:r>
            <a:endParaRPr lang="fr-FR" dirty="0"/>
          </a:p>
          <a:p>
            <a:r>
              <a:rPr lang="fr-FR" dirty="0"/>
              <a:t>Autres plateformes : Foret Bouge, </a:t>
            </a:r>
            <a:r>
              <a:rPr lang="fr-FR" dirty="0" err="1"/>
              <a:t>géoportail</a:t>
            </a:r>
            <a:r>
              <a:rPr lang="fr-FR" dirty="0"/>
              <a:t>, SI …</a:t>
            </a:r>
          </a:p>
          <a:p>
            <a:endParaRPr lang="fr-FR" dirty="0"/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E4F93B8-F018-4800-8025-4613B8FEEE34}" type="slidenum">
              <a:rPr lang="fr-FR" smtClean="0"/>
              <a:t>8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85431764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ce réservé des not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fr-FR" dirty="0"/>
              <a:t>Carte 2020 V3 masque OSO : donc tous peuplements feuillus représenté</a:t>
            </a:r>
          </a:p>
          <a:p>
            <a:r>
              <a:rPr lang="fr-FR" sz="1900" dirty="0">
                <a:latin typeface="Arial" panose="020B0604020202020204" pitchFamily="34" charset="0"/>
                <a:ea typeface="Arial" panose="020B0604020202020204" pitchFamily="34" charset="0"/>
              </a:rPr>
              <a:t>Evolution de l’état sanitaire des chênaies de 2017 à 2022 (a) sur notre zone d’étude et (b) par département (avec utilisation du masque BD Forêt® version 2).</a:t>
            </a:r>
            <a:endParaRPr lang="fr-FR" dirty="0"/>
          </a:p>
          <a:p>
            <a:r>
              <a:rPr lang="fr-FR" dirty="0"/>
              <a:t>Autres plateformes : Foret Bouge, </a:t>
            </a:r>
            <a:r>
              <a:rPr lang="fr-FR" dirty="0" err="1"/>
              <a:t>géoportail</a:t>
            </a:r>
            <a:r>
              <a:rPr lang="fr-FR" dirty="0"/>
              <a:t>, SI …</a:t>
            </a:r>
          </a:p>
          <a:p>
            <a:endParaRPr lang="fr-FR" dirty="0"/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E4F93B8-F018-4800-8025-4613B8FEEE34}" type="slidenum">
              <a:rPr lang="fr-FR" smtClean="0"/>
              <a:t>9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238271794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ce réservé des not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fr-FR" dirty="0"/>
              <a:t>Carte 2020 V3 masque OSO : donc tous peuplements feuillus représenté</a:t>
            </a:r>
          </a:p>
          <a:p>
            <a:r>
              <a:rPr lang="fr-FR" sz="1900" dirty="0">
                <a:latin typeface="Arial" panose="020B0604020202020204" pitchFamily="34" charset="0"/>
                <a:ea typeface="Arial" panose="020B0604020202020204" pitchFamily="34" charset="0"/>
              </a:rPr>
              <a:t>Evolution de l’état sanitaire des chênaies de 2017 à 2022 (a) sur notre zone d’étude et (b) par département (avec utilisation du masque BD Forêt® version 2).</a:t>
            </a:r>
            <a:endParaRPr lang="fr-FR" dirty="0"/>
          </a:p>
          <a:p>
            <a:r>
              <a:rPr lang="fr-FR" dirty="0"/>
              <a:t>Autres plateformes : Foret Bouge, </a:t>
            </a:r>
            <a:r>
              <a:rPr lang="fr-FR" dirty="0" err="1"/>
              <a:t>géoportail</a:t>
            </a:r>
            <a:r>
              <a:rPr lang="fr-FR" dirty="0"/>
              <a:t>, SI …</a:t>
            </a:r>
          </a:p>
          <a:p>
            <a:endParaRPr lang="fr-FR" dirty="0"/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E4F93B8-F018-4800-8025-4613B8FEEE34}" type="slidenum">
              <a:rPr lang="fr-FR" smtClean="0"/>
              <a:t>10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579432085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ce réservé des not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fr-FR" dirty="0"/>
              <a:t>Carte 2020 V3 masque OSO : donc tous peuplements feuillus représenté</a:t>
            </a:r>
          </a:p>
          <a:p>
            <a:r>
              <a:rPr lang="fr-FR" sz="1900" dirty="0">
                <a:latin typeface="Arial" panose="020B0604020202020204" pitchFamily="34" charset="0"/>
                <a:ea typeface="Arial" panose="020B0604020202020204" pitchFamily="34" charset="0"/>
              </a:rPr>
              <a:t>Evolution de l’état sanitaire des chênaies de 2017 à 2022 (a) sur notre zone d’étude et (b) par département (avec utilisation du masque BD Forêt® version 2).</a:t>
            </a:r>
            <a:endParaRPr lang="fr-FR" dirty="0"/>
          </a:p>
          <a:p>
            <a:r>
              <a:rPr lang="fr-FR" dirty="0"/>
              <a:t>Autres plateformes : Foret Bouge, </a:t>
            </a:r>
            <a:r>
              <a:rPr lang="fr-FR" dirty="0" err="1"/>
              <a:t>géoportail</a:t>
            </a:r>
            <a:r>
              <a:rPr lang="fr-FR" dirty="0"/>
              <a:t>, SI …</a:t>
            </a:r>
          </a:p>
          <a:p>
            <a:endParaRPr lang="fr-FR" dirty="0"/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E4F93B8-F018-4800-8025-4613B8FEEE34}" type="slidenum">
              <a:rPr lang="fr-FR" smtClean="0"/>
              <a:t>11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851515035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ce réservé des not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fr-FR" dirty="0"/>
              <a:t>Carte 2020 V3 masque OSO : donc tous peuplements feuillus représenté</a:t>
            </a:r>
          </a:p>
          <a:p>
            <a:r>
              <a:rPr lang="fr-FR" sz="1900" dirty="0">
                <a:latin typeface="Arial" panose="020B0604020202020204" pitchFamily="34" charset="0"/>
                <a:ea typeface="Arial" panose="020B0604020202020204" pitchFamily="34" charset="0"/>
              </a:rPr>
              <a:t>Evolution de l’état sanitaire des chênaies de 2017 à 2022 (a) sur notre zone d’étude et (b) par département (avec utilisation du masque BD Forêt® version 2).</a:t>
            </a:r>
            <a:endParaRPr lang="fr-FR" dirty="0"/>
          </a:p>
          <a:p>
            <a:r>
              <a:rPr lang="fr-FR" dirty="0"/>
              <a:t>Autres plateformes : Foret Bouge, </a:t>
            </a:r>
            <a:r>
              <a:rPr lang="fr-FR" dirty="0" err="1"/>
              <a:t>géoportail</a:t>
            </a:r>
            <a:r>
              <a:rPr lang="fr-FR" dirty="0"/>
              <a:t>, SI …</a:t>
            </a:r>
          </a:p>
          <a:p>
            <a:endParaRPr lang="fr-FR" dirty="0"/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E4F93B8-F018-4800-8025-4613B8FEEE34}" type="slidenum">
              <a:rPr lang="fr-FR" smtClean="0"/>
              <a:t>12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334994542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ce réservé des not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fr-FR" dirty="0"/>
              <a:t>Carte 2020 V3 masque OSO : donc tous peuplements feuillus représenté</a:t>
            </a:r>
          </a:p>
          <a:p>
            <a:r>
              <a:rPr lang="fr-FR" sz="1900" dirty="0">
                <a:latin typeface="Arial" panose="020B0604020202020204" pitchFamily="34" charset="0"/>
                <a:ea typeface="Arial" panose="020B0604020202020204" pitchFamily="34" charset="0"/>
              </a:rPr>
              <a:t>Evolution de l’état sanitaire des chênaies de 2017 à 2022 (a) sur notre zone d’étude et (b) par département (avec utilisation du masque BD Forêt® version 2).</a:t>
            </a:r>
            <a:endParaRPr lang="fr-FR" dirty="0"/>
          </a:p>
          <a:p>
            <a:r>
              <a:rPr lang="fr-FR" dirty="0"/>
              <a:t>Autres plateformes : Foret Bouge, </a:t>
            </a:r>
            <a:r>
              <a:rPr lang="fr-FR" dirty="0" err="1"/>
              <a:t>géoportail</a:t>
            </a:r>
            <a:r>
              <a:rPr lang="fr-FR" dirty="0"/>
              <a:t>, SI …</a:t>
            </a:r>
          </a:p>
          <a:p>
            <a:endParaRPr lang="fr-FR" dirty="0"/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E4F93B8-F018-4800-8025-4613B8FEEE34}" type="slidenum">
              <a:rPr lang="fr-FR" smtClean="0"/>
              <a:t>13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4170524409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ce réservé des not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fr-FR" dirty="0"/>
              <a:t>Carte 2020 V3 masque OSO : donc tous peuplements feuillus représenté</a:t>
            </a:r>
          </a:p>
          <a:p>
            <a:r>
              <a:rPr lang="fr-FR" sz="1900" dirty="0">
                <a:latin typeface="Arial" panose="020B0604020202020204" pitchFamily="34" charset="0"/>
                <a:ea typeface="Arial" panose="020B0604020202020204" pitchFamily="34" charset="0"/>
              </a:rPr>
              <a:t>Evolution de l’état sanitaire des chênaies de 2017 à 2022 (a) sur notre zone d’étude et (b) par département (avec utilisation du masque BD Forêt® version 2).</a:t>
            </a:r>
            <a:endParaRPr lang="fr-FR" dirty="0"/>
          </a:p>
          <a:p>
            <a:r>
              <a:rPr lang="fr-FR" dirty="0"/>
              <a:t>Autres plateformes : Foret Bouge, </a:t>
            </a:r>
            <a:r>
              <a:rPr lang="fr-FR" dirty="0" err="1"/>
              <a:t>géoportail</a:t>
            </a:r>
            <a:r>
              <a:rPr lang="fr-FR" dirty="0"/>
              <a:t>, SI …</a:t>
            </a:r>
          </a:p>
          <a:p>
            <a:endParaRPr lang="fr-FR" dirty="0"/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E4F93B8-F018-4800-8025-4613B8FEEE34}" type="slidenum">
              <a:rPr lang="fr-FR" smtClean="0"/>
              <a:t>14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904686872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ce réservé des not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fr-FR" dirty="0"/>
              <a:t>Carte 2020 V3 masque OSO : donc tous peuplements feuillus représenté</a:t>
            </a:r>
          </a:p>
          <a:p>
            <a:r>
              <a:rPr lang="fr-FR" sz="1900" dirty="0">
                <a:latin typeface="Arial" panose="020B0604020202020204" pitchFamily="34" charset="0"/>
                <a:ea typeface="Arial" panose="020B0604020202020204" pitchFamily="34" charset="0"/>
              </a:rPr>
              <a:t>Evolution de l’état sanitaire des chênaies de 2017 à 2022 (a) sur notre zone d’étude et (b) par département (avec utilisation du masque BD Forêt® version 2).</a:t>
            </a:r>
            <a:endParaRPr lang="fr-FR" dirty="0"/>
          </a:p>
          <a:p>
            <a:r>
              <a:rPr lang="fr-FR" dirty="0"/>
              <a:t>Autres plateformes : Foret Bouge, </a:t>
            </a:r>
            <a:r>
              <a:rPr lang="fr-FR" dirty="0" err="1"/>
              <a:t>géoportail</a:t>
            </a:r>
            <a:r>
              <a:rPr lang="fr-FR" dirty="0"/>
              <a:t>, SI …</a:t>
            </a:r>
          </a:p>
          <a:p>
            <a:endParaRPr lang="fr-FR" dirty="0"/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E4F93B8-F018-4800-8025-4613B8FEEE34}" type="slidenum">
              <a:rPr lang="fr-FR" smtClean="0"/>
              <a:t>15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90835003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ce réservé des not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fr-FR" dirty="0"/>
              <a:t>Carte 2020 V3 masque OSO : donc tous peuplements feuillus représenté</a:t>
            </a:r>
          </a:p>
          <a:p>
            <a:r>
              <a:rPr lang="fr-FR" sz="1900" dirty="0">
                <a:latin typeface="Arial" panose="020B0604020202020204" pitchFamily="34" charset="0"/>
                <a:ea typeface="Arial" panose="020B0604020202020204" pitchFamily="34" charset="0"/>
              </a:rPr>
              <a:t>Evolution de l’état sanitaire des chênaies de 2017 à 2022 (a) sur notre zone d’étude et (b) par département (avec utilisation du masque BD Forêt® version 2).</a:t>
            </a:r>
            <a:endParaRPr lang="fr-FR" dirty="0"/>
          </a:p>
          <a:p>
            <a:r>
              <a:rPr lang="fr-FR" dirty="0"/>
              <a:t>Autres plateformes : Foret Bouge, </a:t>
            </a:r>
            <a:r>
              <a:rPr lang="fr-FR" dirty="0" err="1"/>
              <a:t>géoportail</a:t>
            </a:r>
            <a:r>
              <a:rPr lang="fr-FR" dirty="0"/>
              <a:t>, SI …</a:t>
            </a:r>
          </a:p>
          <a:p>
            <a:endParaRPr lang="fr-FR" dirty="0"/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E4F93B8-F018-4800-8025-4613B8FEEE34}" type="slidenum">
              <a:rPr lang="fr-FR" smtClean="0"/>
              <a:t>16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810131170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ce réservé des not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fr-FR" dirty="0"/>
              <a:t>Carte 2020 V3 masque OSO : donc tous peuplements feuillus représenté</a:t>
            </a:r>
          </a:p>
          <a:p>
            <a:r>
              <a:rPr lang="fr-FR" sz="1900" dirty="0">
                <a:latin typeface="Arial" panose="020B0604020202020204" pitchFamily="34" charset="0"/>
                <a:ea typeface="Arial" panose="020B0604020202020204" pitchFamily="34" charset="0"/>
              </a:rPr>
              <a:t>Evolution de l’état sanitaire des chênaies de 2017 à 2022 (a) sur notre zone d’étude et (b) par département (avec utilisation du masque BD Forêt® version 2).</a:t>
            </a:r>
            <a:endParaRPr lang="fr-FR" dirty="0"/>
          </a:p>
          <a:p>
            <a:r>
              <a:rPr lang="fr-FR" dirty="0"/>
              <a:t>Autres plateformes : Foret Bouge, </a:t>
            </a:r>
            <a:r>
              <a:rPr lang="fr-FR" dirty="0" err="1"/>
              <a:t>géoportail</a:t>
            </a:r>
            <a:r>
              <a:rPr lang="fr-FR" dirty="0"/>
              <a:t>, SI …</a:t>
            </a:r>
          </a:p>
          <a:p>
            <a:endParaRPr lang="fr-FR" dirty="0"/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E4F93B8-F018-4800-8025-4613B8FEEE34}" type="slidenum">
              <a:rPr lang="fr-FR" smtClean="0"/>
              <a:t>17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559611794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2" name="Google Shape;162;g28808c7f580_2_1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163" name="Google Shape;163;g28808c7f580_2_1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285750" lvl="0" indent="-22225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Calibri"/>
              <a:buNone/>
            </a:pPr>
            <a:endParaRPr sz="1000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4" name="Google Shape;164;g28808c7f580_2_1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-FR"/>
              <a:t>18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2919993840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2" name="Google Shape;162;g28808c7f580_2_1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163" name="Google Shape;163;g28808c7f580_2_1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285750" lvl="0" indent="-22225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Calibri"/>
              <a:buNone/>
            </a:pPr>
            <a:endParaRPr sz="1000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4" name="Google Shape;164;g28808c7f580_2_1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-FR"/>
              <a:t>19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4130394306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Diapositive de tit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fr-FR"/>
              <a:t>Modifiez le style du titre</a:t>
            </a:r>
          </a:p>
        </p:txBody>
      </p:sp>
      <p:sp>
        <p:nvSpPr>
          <p:cNvPr id="3" name="Sous-titre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fr-FR"/>
              <a:t>Modifier le style des sous-titres du masque</a:t>
            </a:r>
          </a:p>
        </p:txBody>
      </p:sp>
      <p:sp>
        <p:nvSpPr>
          <p:cNvPr id="4" name="Espace réservé de la date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F41B150-801F-4271-B188-F6E1042EBAAC}" type="datetimeFigureOut">
              <a:rPr lang="fr-FR" smtClean="0"/>
              <a:t>07/05/2026</a:t>
            </a:fld>
            <a:endParaRPr lang="fr-FR"/>
          </a:p>
        </p:txBody>
      </p:sp>
      <p:sp>
        <p:nvSpPr>
          <p:cNvPr id="5" name="Espace réservé du pied de page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5F77A45-31CF-41A0-B76F-35716B58F8C3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03349241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re et contenu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contenu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fr-FR"/>
              <a:t>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e la date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F41B150-801F-4271-B188-F6E1042EBAAC}" type="datetimeFigureOut">
              <a:rPr lang="fr-FR" smtClean="0"/>
              <a:t>07/05/2026</a:t>
            </a:fld>
            <a:endParaRPr lang="fr-FR"/>
          </a:p>
        </p:txBody>
      </p:sp>
      <p:sp>
        <p:nvSpPr>
          <p:cNvPr id="5" name="Espace réservé du pied de page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5F77A45-31CF-41A0-B76F-35716B58F8C3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10622910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Titre de sec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fr-FR"/>
              <a:t>Modifiez le style du titre</a:t>
            </a:r>
          </a:p>
        </p:txBody>
      </p:sp>
      <p:sp>
        <p:nvSpPr>
          <p:cNvPr id="3" name="Espace réservé du texte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fr-FR"/>
              <a:t>Modifier les styles du texte du masque</a:t>
            </a:r>
          </a:p>
        </p:txBody>
      </p:sp>
      <p:sp>
        <p:nvSpPr>
          <p:cNvPr id="4" name="Espace réservé de la date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F41B150-801F-4271-B188-F6E1042EBAAC}" type="datetimeFigureOut">
              <a:rPr lang="fr-FR" smtClean="0"/>
              <a:t>07/05/2026</a:t>
            </a:fld>
            <a:endParaRPr lang="fr-FR"/>
          </a:p>
        </p:txBody>
      </p:sp>
      <p:sp>
        <p:nvSpPr>
          <p:cNvPr id="5" name="Espace réservé du pied de page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5F77A45-31CF-41A0-B76F-35716B58F8C3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076326732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eux contenu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contenu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fr-FR"/>
              <a:t>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u contenu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fr-FR"/>
              <a:t>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5" name="Espace réservé de la date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F41B150-801F-4271-B188-F6E1042EBAAC}" type="datetimeFigureOut">
              <a:rPr lang="fr-FR" smtClean="0"/>
              <a:t>07/05/2026</a:t>
            </a:fld>
            <a:endParaRPr lang="fr-FR"/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5F77A45-31CF-41A0-B76F-35716B58F8C3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2711798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texte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fr-FR"/>
              <a:t>Modifier les styles du texte du masque</a:t>
            </a:r>
          </a:p>
        </p:txBody>
      </p:sp>
      <p:sp>
        <p:nvSpPr>
          <p:cNvPr id="4" name="Espace réservé du contenu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fr-FR"/>
              <a:t>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5" name="Espace réservé du texte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fr-FR"/>
              <a:t>Modifier les styles du texte du masque</a:t>
            </a:r>
          </a:p>
        </p:txBody>
      </p:sp>
      <p:sp>
        <p:nvSpPr>
          <p:cNvPr id="6" name="Espace réservé du contenu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fr-FR"/>
              <a:t>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7" name="Espace réservé de la date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F41B150-801F-4271-B188-F6E1042EBAAC}" type="datetimeFigureOut">
              <a:rPr lang="fr-FR" smtClean="0"/>
              <a:t>07/05/2026</a:t>
            </a:fld>
            <a:endParaRPr lang="fr-FR"/>
          </a:p>
        </p:txBody>
      </p:sp>
      <p:sp>
        <p:nvSpPr>
          <p:cNvPr id="8" name="Espace réservé du pied de page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9" name="Espace réservé du numéro de diapositive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5F77A45-31CF-41A0-B76F-35716B58F8C3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97074014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re seu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e la date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F41B150-801F-4271-B188-F6E1042EBAAC}" type="datetimeFigureOut">
              <a:rPr lang="fr-FR" smtClean="0"/>
              <a:t>07/05/2026</a:t>
            </a:fld>
            <a:endParaRPr lang="fr-FR"/>
          </a:p>
        </p:txBody>
      </p:sp>
      <p:sp>
        <p:nvSpPr>
          <p:cNvPr id="4" name="Espace réservé du pied de page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5" name="Espace réservé du numéro de diapositive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5F77A45-31CF-41A0-B76F-35716B58F8C3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45715193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V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a date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F41B150-801F-4271-B188-F6E1042EBAAC}" type="datetimeFigureOut">
              <a:rPr lang="fr-FR" smtClean="0"/>
              <a:t>07/05/2026</a:t>
            </a:fld>
            <a:endParaRPr lang="fr-FR"/>
          </a:p>
        </p:txBody>
      </p:sp>
      <p:sp>
        <p:nvSpPr>
          <p:cNvPr id="3" name="Espace réservé du pied de page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5F77A45-31CF-41A0-B76F-35716B58F8C3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71953425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u avec lége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fr-FR"/>
              <a:t>Modifiez le style du titre</a:t>
            </a:r>
          </a:p>
        </p:txBody>
      </p:sp>
      <p:sp>
        <p:nvSpPr>
          <p:cNvPr id="3" name="Espace réservé du contenu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fr-FR"/>
              <a:t>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u texte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fr-FR"/>
              <a:t>Modifier les styles du texte du masque</a:t>
            </a:r>
          </a:p>
        </p:txBody>
      </p:sp>
      <p:sp>
        <p:nvSpPr>
          <p:cNvPr id="5" name="Espace réservé de la date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F41B150-801F-4271-B188-F6E1042EBAAC}" type="datetimeFigureOut">
              <a:rPr lang="fr-FR" smtClean="0"/>
              <a:t>07/05/2026</a:t>
            </a:fld>
            <a:endParaRPr lang="fr-FR"/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5F77A45-31CF-41A0-B76F-35716B58F8C3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64783781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 avec lége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fr-FR"/>
              <a:t>Modifiez le style du titre</a:t>
            </a:r>
          </a:p>
        </p:txBody>
      </p:sp>
      <p:sp>
        <p:nvSpPr>
          <p:cNvPr id="3" name="Espace réservé pour une image  2"/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fr-FR"/>
          </a:p>
        </p:txBody>
      </p:sp>
      <p:sp>
        <p:nvSpPr>
          <p:cNvPr id="4" name="Espace réservé du texte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fr-FR"/>
              <a:t>Modifier les styles du texte du masque</a:t>
            </a:r>
          </a:p>
        </p:txBody>
      </p:sp>
      <p:sp>
        <p:nvSpPr>
          <p:cNvPr id="5" name="Espace réservé de la date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F41B150-801F-4271-B188-F6E1042EBAAC}" type="datetimeFigureOut">
              <a:rPr lang="fr-FR" smtClean="0"/>
              <a:t>07/05/2026</a:t>
            </a:fld>
            <a:endParaRPr lang="fr-FR"/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5F77A45-31CF-41A0-B76F-35716B58F8C3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48925918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re et texte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texte vertical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fr-FR"/>
              <a:t>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e la date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F41B150-801F-4271-B188-F6E1042EBAAC}" type="datetimeFigureOut">
              <a:rPr lang="fr-FR" smtClean="0"/>
              <a:t>07/05/2026</a:t>
            </a:fld>
            <a:endParaRPr lang="fr-FR"/>
          </a:p>
        </p:txBody>
      </p:sp>
      <p:sp>
        <p:nvSpPr>
          <p:cNvPr id="5" name="Espace réservé du pied de page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5F77A45-31CF-41A0-B76F-35716B58F8C3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41697043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itre vertical et tex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vertical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texte vertical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fr-FR"/>
              <a:t>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e la date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F41B150-801F-4271-B188-F6E1042EBAAC}" type="datetimeFigureOut">
              <a:rPr lang="fr-FR" smtClean="0"/>
              <a:t>07/05/2026</a:t>
            </a:fld>
            <a:endParaRPr lang="fr-FR"/>
          </a:p>
        </p:txBody>
      </p:sp>
      <p:sp>
        <p:nvSpPr>
          <p:cNvPr id="5" name="Espace réservé du pied de page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5F77A45-31CF-41A0-B76F-35716B58F8C3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78929268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u titre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texte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fr-FR"/>
              <a:t>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e la date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F41B150-801F-4271-B188-F6E1042EBAAC}" type="datetimeFigureOut">
              <a:rPr lang="fr-FR" smtClean="0"/>
              <a:t>07/05/2026</a:t>
            </a:fld>
            <a:endParaRPr lang="fr-FR"/>
          </a:p>
        </p:txBody>
      </p:sp>
      <p:sp>
        <p:nvSpPr>
          <p:cNvPr id="5" name="Espace réservé du pied de page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fr-FR"/>
          </a:p>
        </p:txBody>
      </p:sp>
      <p:sp>
        <p:nvSpPr>
          <p:cNvPr id="6" name="Espace réservé du numéro de diapositive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5F77A45-31CF-41A0-B76F-35716B58F8C3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420992390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fr-FR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jp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4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jp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5.jpe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jp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6.jpe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jp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8" Type="http://schemas.microsoft.com/office/2007/relationships/hdphoto" Target="../media/hdphoto2.wdp"/><Relationship Id="rId3" Type="http://schemas.openxmlformats.org/officeDocument/2006/relationships/image" Target="../media/image8.png"/><Relationship Id="rId7" Type="http://schemas.openxmlformats.org/officeDocument/2006/relationships/image" Target="../media/image11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Relationship Id="rId6" Type="http://schemas.microsoft.com/office/2007/relationships/hdphoto" Target="../media/hdphoto1.wdp"/><Relationship Id="rId5" Type="http://schemas.openxmlformats.org/officeDocument/2006/relationships/image" Target="../media/image10.png"/><Relationship Id="rId10" Type="http://schemas.microsoft.com/office/2007/relationships/hdphoto" Target="../media/hdphoto3.wdp"/><Relationship Id="rId4" Type="http://schemas.openxmlformats.org/officeDocument/2006/relationships/image" Target="../media/image9.png"/><Relationship Id="rId9" Type="http://schemas.openxmlformats.org/officeDocument/2006/relationships/image" Target="../media/image12.png"/></Relationships>
</file>

<file path=ppt/slides/_rels/slide10.xml.rels><?xml version="1.0" encoding="UTF-8" standalone="yes"?>
<Relationships xmlns="http://schemas.openxmlformats.org/package/2006/relationships"><Relationship Id="rId8" Type="http://schemas.microsoft.com/office/2007/relationships/hdphoto" Target="../media/hdphoto3.wdp"/><Relationship Id="rId3" Type="http://schemas.openxmlformats.org/officeDocument/2006/relationships/image" Target="../media/image10.png"/><Relationship Id="rId7" Type="http://schemas.openxmlformats.org/officeDocument/2006/relationships/image" Target="../media/image12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Relationship Id="rId6" Type="http://schemas.microsoft.com/office/2007/relationships/hdphoto" Target="../media/hdphoto2.wdp"/><Relationship Id="rId5" Type="http://schemas.openxmlformats.org/officeDocument/2006/relationships/image" Target="../media/image11.png"/><Relationship Id="rId4" Type="http://schemas.microsoft.com/office/2007/relationships/hdphoto" Target="../media/hdphoto1.wdp"/></Relationships>
</file>

<file path=ppt/slides/_rels/slide11.xml.rels><?xml version="1.0" encoding="UTF-8" standalone="yes"?>
<Relationships xmlns="http://schemas.openxmlformats.org/package/2006/relationships"><Relationship Id="rId8" Type="http://schemas.openxmlformats.org/officeDocument/2006/relationships/image" Target="../media/image15.png"/><Relationship Id="rId13" Type="http://schemas.openxmlformats.org/officeDocument/2006/relationships/image" Target="../media/image18.png"/><Relationship Id="rId18" Type="http://schemas.microsoft.com/office/2007/relationships/hdphoto" Target="../media/hdphoto7.wdp"/><Relationship Id="rId3" Type="http://schemas.openxmlformats.org/officeDocument/2006/relationships/image" Target="../media/image13.png"/><Relationship Id="rId7" Type="http://schemas.microsoft.com/office/2007/relationships/hdphoto" Target="../media/hdphoto2.wdp"/><Relationship Id="rId12" Type="http://schemas.openxmlformats.org/officeDocument/2006/relationships/image" Target="../media/image17.jpeg"/><Relationship Id="rId17" Type="http://schemas.openxmlformats.org/officeDocument/2006/relationships/image" Target="../media/image22.png"/><Relationship Id="rId2" Type="http://schemas.openxmlformats.org/officeDocument/2006/relationships/notesSlide" Target="../notesSlides/notesSlide10.xml"/><Relationship Id="rId16" Type="http://schemas.openxmlformats.org/officeDocument/2006/relationships/image" Target="../media/image21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1.png"/><Relationship Id="rId11" Type="http://schemas.microsoft.com/office/2007/relationships/hdphoto" Target="../media/hdphoto6.wdp"/><Relationship Id="rId5" Type="http://schemas.microsoft.com/office/2007/relationships/hdphoto" Target="../media/hdphoto4.wdp"/><Relationship Id="rId15" Type="http://schemas.openxmlformats.org/officeDocument/2006/relationships/image" Target="../media/image20.png"/><Relationship Id="rId10" Type="http://schemas.openxmlformats.org/officeDocument/2006/relationships/image" Target="../media/image16.png"/><Relationship Id="rId4" Type="http://schemas.openxmlformats.org/officeDocument/2006/relationships/image" Target="../media/image14.png"/><Relationship Id="rId9" Type="http://schemas.microsoft.com/office/2007/relationships/hdphoto" Target="../media/hdphoto5.wdp"/><Relationship Id="rId14" Type="http://schemas.openxmlformats.org/officeDocument/2006/relationships/image" Target="../media/image19.png"/></Relationships>
</file>

<file path=ppt/slides/_rels/slide12.xml.rels><?xml version="1.0" encoding="UTF-8" standalone="yes"?>
<Relationships xmlns="http://schemas.openxmlformats.org/package/2006/relationships"><Relationship Id="rId8" Type="http://schemas.microsoft.com/office/2007/relationships/hdphoto" Target="../media/hdphoto3.wdp"/><Relationship Id="rId3" Type="http://schemas.openxmlformats.org/officeDocument/2006/relationships/image" Target="../media/image10.png"/><Relationship Id="rId7" Type="http://schemas.openxmlformats.org/officeDocument/2006/relationships/image" Target="../media/image12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Relationship Id="rId6" Type="http://schemas.microsoft.com/office/2007/relationships/hdphoto" Target="../media/hdphoto2.wdp"/><Relationship Id="rId5" Type="http://schemas.openxmlformats.org/officeDocument/2006/relationships/image" Target="../media/image11.png"/><Relationship Id="rId4" Type="http://schemas.microsoft.com/office/2007/relationships/hdphoto" Target="../media/hdphoto1.wdp"/></Relationships>
</file>

<file path=ppt/slides/_rels/slide13.xml.rels><?xml version="1.0" encoding="UTF-8" standalone="yes"?>
<Relationships xmlns="http://schemas.openxmlformats.org/package/2006/relationships"><Relationship Id="rId8" Type="http://schemas.microsoft.com/office/2007/relationships/hdphoto" Target="../media/hdphoto3.wdp"/><Relationship Id="rId3" Type="http://schemas.openxmlformats.org/officeDocument/2006/relationships/image" Target="../media/image10.png"/><Relationship Id="rId7" Type="http://schemas.openxmlformats.org/officeDocument/2006/relationships/image" Target="../media/image12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2.xml"/><Relationship Id="rId6" Type="http://schemas.microsoft.com/office/2007/relationships/hdphoto" Target="../media/hdphoto2.wdp"/><Relationship Id="rId5" Type="http://schemas.openxmlformats.org/officeDocument/2006/relationships/image" Target="../media/image11.png"/><Relationship Id="rId4" Type="http://schemas.microsoft.com/office/2007/relationships/hdphoto" Target="../media/hdphoto1.wdp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jpeg"/><Relationship Id="rId7" Type="http://schemas.openxmlformats.org/officeDocument/2006/relationships/image" Target="../media/image27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6.png"/><Relationship Id="rId5" Type="http://schemas.openxmlformats.org/officeDocument/2006/relationships/image" Target="../media/image25.jpeg"/><Relationship Id="rId4" Type="http://schemas.openxmlformats.org/officeDocument/2006/relationships/image" Target="../media/image24.jpeg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8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23.jpeg"/><Relationship Id="rId4" Type="http://schemas.openxmlformats.org/officeDocument/2006/relationships/image" Target="../media/image29.jpeg"/></Relationships>
</file>

<file path=ppt/slides/_rels/slide17.xml.rels><?xml version="1.0" encoding="UTF-8" standalone="yes"?>
<Relationships xmlns="http://schemas.openxmlformats.org/package/2006/relationships"><Relationship Id="rId8" Type="http://schemas.openxmlformats.org/officeDocument/2006/relationships/image" Target="../media/image11.png"/><Relationship Id="rId13" Type="http://schemas.openxmlformats.org/officeDocument/2006/relationships/image" Target="../media/image32.png"/><Relationship Id="rId3" Type="http://schemas.openxmlformats.org/officeDocument/2006/relationships/image" Target="../media/image29.jpeg"/><Relationship Id="rId7" Type="http://schemas.microsoft.com/office/2007/relationships/hdphoto" Target="../media/hdphoto4.wdp"/><Relationship Id="rId12" Type="http://schemas.openxmlformats.org/officeDocument/2006/relationships/image" Target="../media/image31.pn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4.png"/><Relationship Id="rId11" Type="http://schemas.microsoft.com/office/2007/relationships/hdphoto" Target="../media/hdphoto5.wdp"/><Relationship Id="rId5" Type="http://schemas.openxmlformats.org/officeDocument/2006/relationships/image" Target="../media/image30.png"/><Relationship Id="rId10" Type="http://schemas.openxmlformats.org/officeDocument/2006/relationships/image" Target="../media/image15.png"/><Relationship Id="rId4" Type="http://schemas.openxmlformats.org/officeDocument/2006/relationships/image" Target="../media/image23.jpeg"/><Relationship Id="rId9" Type="http://schemas.microsoft.com/office/2007/relationships/hdphoto" Target="../media/hdphoto2.wdp"/><Relationship Id="rId14" Type="http://schemas.openxmlformats.org/officeDocument/2006/relationships/image" Target="../media/image33.png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jp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jpg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Image 4">
            <a:extLst>
              <a:ext uri="{FF2B5EF4-FFF2-40B4-BE49-F238E27FC236}">
                <a16:creationId xmlns:a16="http://schemas.microsoft.com/office/drawing/2014/main" id="{B138A5ED-F0E6-0041-9117-F39DD2CD736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6" name="Rectangle 5">
            <a:extLst>
              <a:ext uri="{FF2B5EF4-FFF2-40B4-BE49-F238E27FC236}">
                <a16:creationId xmlns:a16="http://schemas.microsoft.com/office/drawing/2014/main" id="{D6A2F171-794B-B345-B610-6BE121D9ABB9}"/>
              </a:ext>
            </a:extLst>
          </p:cNvPr>
          <p:cNvSpPr/>
          <p:nvPr/>
        </p:nvSpPr>
        <p:spPr>
          <a:xfrm>
            <a:off x="0" y="1838130"/>
            <a:ext cx="12192000" cy="3181739"/>
          </a:xfrm>
          <a:prstGeom prst="rect">
            <a:avLst/>
          </a:prstGeom>
          <a:solidFill>
            <a:srgbClr val="004537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dirty="0"/>
          </a:p>
        </p:txBody>
      </p:sp>
      <p:sp>
        <p:nvSpPr>
          <p:cNvPr id="11" name="ZoneTexte 10">
            <a:extLst>
              <a:ext uri="{FF2B5EF4-FFF2-40B4-BE49-F238E27FC236}">
                <a16:creationId xmlns:a16="http://schemas.microsoft.com/office/drawing/2014/main" id="{679587FE-B0C4-DF4D-ACDA-99ED1763A293}"/>
              </a:ext>
            </a:extLst>
          </p:cNvPr>
          <p:cNvSpPr txBox="1"/>
          <p:nvPr/>
        </p:nvSpPr>
        <p:spPr>
          <a:xfrm>
            <a:off x="-137747" y="2019065"/>
            <a:ext cx="12191999" cy="2308324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algn="ctr">
              <a:spcAft>
                <a:spcPts val="2400"/>
              </a:spcAft>
            </a:pPr>
            <a:r>
              <a:rPr lang="fr-FR" sz="3200" b="1" dirty="0">
                <a:solidFill>
                  <a:schemeClr val="bg1"/>
                </a:solidFill>
                <a:latin typeface="Poppins" panose="00000500000000000000" pitchFamily="2" charset="0"/>
                <a:cs typeface="Poppins" panose="00000500000000000000" pitchFamily="2" charset="0"/>
              </a:rPr>
              <a:t>Does </a:t>
            </a:r>
            <a:r>
              <a:rPr lang="fr-FR" sz="3200" b="1" dirty="0" err="1">
                <a:solidFill>
                  <a:schemeClr val="bg1"/>
                </a:solidFill>
                <a:latin typeface="Poppins" panose="00000500000000000000" pitchFamily="2" charset="0"/>
                <a:cs typeface="Poppins" panose="00000500000000000000" pitchFamily="2" charset="0"/>
              </a:rPr>
              <a:t>biodiversity</a:t>
            </a:r>
            <a:r>
              <a:rPr lang="fr-FR" sz="3200" b="1" dirty="0">
                <a:solidFill>
                  <a:schemeClr val="bg1"/>
                </a:solidFill>
                <a:latin typeface="Poppins" panose="00000500000000000000" pitchFamily="2" charset="0"/>
                <a:cs typeface="Poppins" panose="00000500000000000000" pitchFamily="2" charset="0"/>
              </a:rPr>
              <a:t> </a:t>
            </a:r>
            <a:r>
              <a:rPr lang="fr-FR" sz="3200" b="1" dirty="0" err="1">
                <a:solidFill>
                  <a:schemeClr val="bg1"/>
                </a:solidFill>
                <a:latin typeface="Poppins" panose="00000500000000000000" pitchFamily="2" charset="0"/>
                <a:cs typeface="Poppins" panose="00000500000000000000" pitchFamily="2" charset="0"/>
              </a:rPr>
              <a:t>benefit</a:t>
            </a:r>
            <a:r>
              <a:rPr lang="fr-FR" sz="3200" b="1" dirty="0">
                <a:solidFill>
                  <a:schemeClr val="bg1"/>
                </a:solidFill>
                <a:latin typeface="Poppins" panose="00000500000000000000" pitchFamily="2" charset="0"/>
                <a:cs typeface="Poppins" panose="00000500000000000000" pitchFamily="2" charset="0"/>
              </a:rPr>
              <a:t> </a:t>
            </a:r>
            <a:r>
              <a:rPr lang="fr-FR" sz="3200" b="1" dirty="0" err="1">
                <a:solidFill>
                  <a:schemeClr val="bg1"/>
                </a:solidFill>
                <a:latin typeface="Poppins" panose="00000500000000000000" pitchFamily="2" charset="0"/>
                <a:cs typeface="Poppins" panose="00000500000000000000" pitchFamily="2" charset="0"/>
              </a:rPr>
              <a:t>from</a:t>
            </a:r>
            <a:r>
              <a:rPr lang="fr-FR" sz="3200" b="1" dirty="0">
                <a:solidFill>
                  <a:schemeClr val="bg1"/>
                </a:solidFill>
                <a:latin typeface="Poppins" panose="00000500000000000000" pitchFamily="2" charset="0"/>
                <a:cs typeface="Poppins" panose="00000500000000000000" pitchFamily="2" charset="0"/>
              </a:rPr>
              <a:t> </a:t>
            </a:r>
            <a:r>
              <a:rPr lang="fr-FR" sz="3200" b="1" dirty="0" err="1">
                <a:solidFill>
                  <a:schemeClr val="bg1"/>
                </a:solidFill>
                <a:latin typeface="Poppins" panose="00000500000000000000" pitchFamily="2" charset="0"/>
                <a:cs typeface="Poppins" panose="00000500000000000000" pitchFamily="2" charset="0"/>
              </a:rPr>
              <a:t>tree</a:t>
            </a:r>
            <a:r>
              <a:rPr lang="fr-FR" sz="3200" b="1" dirty="0">
                <a:solidFill>
                  <a:schemeClr val="bg1"/>
                </a:solidFill>
                <a:latin typeface="Poppins" panose="00000500000000000000" pitchFamily="2" charset="0"/>
                <a:cs typeface="Poppins" panose="00000500000000000000" pitchFamily="2" charset="0"/>
              </a:rPr>
              <a:t> </a:t>
            </a:r>
            <a:r>
              <a:rPr lang="fr-FR" sz="3200" b="1" dirty="0" err="1">
                <a:solidFill>
                  <a:schemeClr val="bg1"/>
                </a:solidFill>
                <a:latin typeface="Poppins" panose="00000500000000000000" pitchFamily="2" charset="0"/>
                <a:cs typeface="Poppins" panose="00000500000000000000" pitchFamily="2" charset="0"/>
              </a:rPr>
              <a:t>mixing</a:t>
            </a:r>
            <a:r>
              <a:rPr lang="fr-FR" sz="3200" b="1" dirty="0">
                <a:solidFill>
                  <a:schemeClr val="bg1"/>
                </a:solidFill>
                <a:latin typeface="Poppins" panose="00000500000000000000" pitchFamily="2" charset="0"/>
                <a:cs typeface="Poppins" panose="00000500000000000000" pitchFamily="2" charset="0"/>
              </a:rPr>
              <a:t> at stand </a:t>
            </a:r>
            <a:r>
              <a:rPr lang="fr-FR" sz="3200" b="1" dirty="0" err="1">
                <a:solidFill>
                  <a:schemeClr val="bg1"/>
                </a:solidFill>
                <a:latin typeface="Poppins" panose="00000500000000000000" pitchFamily="2" charset="0"/>
                <a:cs typeface="Poppins" panose="00000500000000000000" pitchFamily="2" charset="0"/>
              </a:rPr>
              <a:t>scale</a:t>
            </a:r>
            <a:r>
              <a:rPr lang="fr-FR" sz="3200" b="1" dirty="0">
                <a:solidFill>
                  <a:schemeClr val="bg1"/>
                </a:solidFill>
                <a:latin typeface="Poppins" panose="00000500000000000000" pitchFamily="2" charset="0"/>
                <a:cs typeface="Poppins" panose="00000500000000000000" pitchFamily="2" charset="0"/>
              </a:rPr>
              <a:t>? A test on </a:t>
            </a:r>
            <a:r>
              <a:rPr lang="fr-FR" sz="3200" b="1" dirty="0" err="1">
                <a:solidFill>
                  <a:schemeClr val="bg1"/>
                </a:solidFill>
                <a:latin typeface="Poppins" panose="00000500000000000000" pitchFamily="2" charset="0"/>
                <a:cs typeface="Poppins" panose="00000500000000000000" pitchFamily="2" charset="0"/>
              </a:rPr>
              <a:t>birds</a:t>
            </a:r>
            <a:r>
              <a:rPr lang="fr-FR" sz="3200" b="1" dirty="0">
                <a:solidFill>
                  <a:schemeClr val="bg1"/>
                </a:solidFill>
                <a:latin typeface="Poppins" panose="00000500000000000000" pitchFamily="2" charset="0"/>
                <a:cs typeface="Poppins" panose="00000500000000000000" pitchFamily="2" charset="0"/>
              </a:rPr>
              <a:t> and  </a:t>
            </a:r>
            <a:r>
              <a:rPr lang="fr-FR" sz="3200" b="1" dirty="0" err="1">
                <a:solidFill>
                  <a:schemeClr val="bg1"/>
                </a:solidFill>
                <a:latin typeface="Poppins" panose="00000500000000000000" pitchFamily="2" charset="0"/>
                <a:cs typeface="Poppins" panose="00000500000000000000" pitchFamily="2" charset="0"/>
              </a:rPr>
              <a:t>saproxylic</a:t>
            </a:r>
            <a:r>
              <a:rPr lang="fr-FR" sz="3200" b="1" dirty="0">
                <a:solidFill>
                  <a:schemeClr val="bg1"/>
                </a:solidFill>
                <a:latin typeface="Poppins" panose="00000500000000000000" pitchFamily="2" charset="0"/>
                <a:cs typeface="Poppins" panose="00000500000000000000" pitchFamily="2" charset="0"/>
              </a:rPr>
              <a:t> and </a:t>
            </a:r>
            <a:r>
              <a:rPr lang="fr-FR" sz="3200" b="1" dirty="0" err="1">
                <a:solidFill>
                  <a:schemeClr val="bg1"/>
                </a:solidFill>
                <a:latin typeface="Poppins" panose="00000500000000000000" pitchFamily="2" charset="0"/>
                <a:cs typeface="Poppins" panose="00000500000000000000" pitchFamily="2" charset="0"/>
              </a:rPr>
              <a:t>ground</a:t>
            </a:r>
            <a:r>
              <a:rPr lang="fr-FR" sz="3200" b="1" dirty="0">
                <a:solidFill>
                  <a:schemeClr val="bg1"/>
                </a:solidFill>
                <a:latin typeface="Poppins" panose="00000500000000000000" pitchFamily="2" charset="0"/>
                <a:cs typeface="Poppins" panose="00000500000000000000" pitchFamily="2" charset="0"/>
              </a:rPr>
              <a:t> </a:t>
            </a:r>
            <a:r>
              <a:rPr lang="fr-FR" sz="3200" b="1" dirty="0" err="1">
                <a:solidFill>
                  <a:schemeClr val="bg1"/>
                </a:solidFill>
                <a:latin typeface="Poppins" panose="00000500000000000000" pitchFamily="2" charset="0"/>
                <a:cs typeface="Poppins" panose="00000500000000000000" pitchFamily="2" charset="0"/>
              </a:rPr>
              <a:t>beetles</a:t>
            </a:r>
            <a:r>
              <a:rPr lang="fr-FR" sz="3200" b="1" dirty="0">
                <a:solidFill>
                  <a:schemeClr val="bg1"/>
                </a:solidFill>
                <a:latin typeface="Poppins" panose="00000500000000000000" pitchFamily="2" charset="0"/>
                <a:cs typeface="Poppins" panose="00000500000000000000" pitchFamily="2" charset="0"/>
              </a:rPr>
              <a:t> </a:t>
            </a:r>
            <a:r>
              <a:rPr lang="fr-FR" sz="3200" b="1" dirty="0" err="1">
                <a:solidFill>
                  <a:schemeClr val="bg1"/>
                </a:solidFill>
                <a:latin typeface="Poppins" panose="00000500000000000000" pitchFamily="2" charset="0"/>
                <a:cs typeface="Poppins" panose="00000500000000000000" pitchFamily="2" charset="0"/>
              </a:rPr>
              <a:t>along</a:t>
            </a:r>
            <a:r>
              <a:rPr lang="fr-FR" sz="3200" b="1" dirty="0">
                <a:solidFill>
                  <a:schemeClr val="bg1"/>
                </a:solidFill>
                <a:latin typeface="Poppins" panose="00000500000000000000" pitchFamily="2" charset="0"/>
                <a:cs typeface="Poppins" panose="00000500000000000000" pitchFamily="2" charset="0"/>
              </a:rPr>
              <a:t> a </a:t>
            </a:r>
            <a:r>
              <a:rPr lang="fr-FR" sz="3200" b="1" dirty="0" err="1">
                <a:solidFill>
                  <a:schemeClr val="bg1"/>
                </a:solidFill>
                <a:latin typeface="Poppins" panose="00000500000000000000" pitchFamily="2" charset="0"/>
                <a:cs typeface="Poppins" panose="00000500000000000000" pitchFamily="2" charset="0"/>
              </a:rPr>
              <a:t>oak</a:t>
            </a:r>
            <a:r>
              <a:rPr lang="fr-FR" sz="3200" b="1" dirty="0">
                <a:solidFill>
                  <a:schemeClr val="bg1"/>
                </a:solidFill>
                <a:latin typeface="Poppins" panose="00000500000000000000" pitchFamily="2" charset="0"/>
                <a:cs typeface="Poppins" panose="00000500000000000000" pitchFamily="2" charset="0"/>
              </a:rPr>
              <a:t>-pine </a:t>
            </a:r>
            <a:r>
              <a:rPr lang="fr-FR" sz="3200" b="1" dirty="0" err="1">
                <a:solidFill>
                  <a:schemeClr val="bg1"/>
                </a:solidFill>
                <a:latin typeface="Poppins" panose="00000500000000000000" pitchFamily="2" charset="0"/>
                <a:cs typeface="Poppins" panose="00000500000000000000" pitchFamily="2" charset="0"/>
              </a:rPr>
              <a:t>mixing</a:t>
            </a:r>
            <a:r>
              <a:rPr lang="fr-FR" sz="3200" b="1" dirty="0">
                <a:solidFill>
                  <a:schemeClr val="bg1"/>
                </a:solidFill>
                <a:latin typeface="Poppins" panose="00000500000000000000" pitchFamily="2" charset="0"/>
                <a:cs typeface="Poppins" panose="00000500000000000000" pitchFamily="2" charset="0"/>
              </a:rPr>
              <a:t> gradient</a:t>
            </a:r>
          </a:p>
          <a:p>
            <a:pPr algn="ctr"/>
            <a:r>
              <a:rPr lang="fr-FR" sz="2800" dirty="0">
                <a:solidFill>
                  <a:schemeClr val="bg1"/>
                </a:solidFill>
                <a:latin typeface="Poppins" panose="00000500000000000000" pitchFamily="2" charset="0"/>
                <a:cs typeface="Poppins" panose="00000500000000000000" pitchFamily="2" charset="0"/>
              </a:rPr>
              <a:t>F. Archaux, J-Y </a:t>
            </a:r>
            <a:r>
              <a:rPr lang="fr-FR" sz="2800" dirty="0" err="1">
                <a:solidFill>
                  <a:schemeClr val="bg1"/>
                </a:solidFill>
                <a:latin typeface="Poppins" panose="00000500000000000000" pitchFamily="2" charset="0"/>
                <a:cs typeface="Poppins" panose="00000500000000000000" pitchFamily="2" charset="0"/>
              </a:rPr>
              <a:t>Barnagaud</a:t>
            </a:r>
            <a:r>
              <a:rPr lang="fr-FR" sz="2800" dirty="0">
                <a:solidFill>
                  <a:schemeClr val="bg1"/>
                </a:solidFill>
                <a:latin typeface="Poppins" panose="00000500000000000000" pitchFamily="2" charset="0"/>
                <a:cs typeface="Poppins" panose="00000500000000000000" pitchFamily="2" charset="0"/>
              </a:rPr>
              <a:t>, C. Bouget, E. </a:t>
            </a:r>
            <a:r>
              <a:rPr lang="fr-FR" sz="2800" dirty="0" err="1">
                <a:solidFill>
                  <a:schemeClr val="bg1"/>
                </a:solidFill>
                <a:latin typeface="Poppins" panose="00000500000000000000" pitchFamily="2" charset="0"/>
                <a:cs typeface="Poppins" panose="00000500000000000000" pitchFamily="2" charset="0"/>
              </a:rPr>
              <a:t>Dauffy</a:t>
            </a:r>
            <a:r>
              <a:rPr lang="fr-FR" sz="2800" dirty="0">
                <a:solidFill>
                  <a:schemeClr val="bg1"/>
                </a:solidFill>
                <a:latin typeface="Poppins" panose="00000500000000000000" pitchFamily="2" charset="0"/>
                <a:cs typeface="Poppins" panose="00000500000000000000" pitchFamily="2" charset="0"/>
              </a:rPr>
              <a:t>-Richard</a:t>
            </a:r>
          </a:p>
        </p:txBody>
      </p:sp>
      <p:pic>
        <p:nvPicPr>
          <p:cNvPr id="7" name="Image 6" descr="Une image contenant Police, Graphique, logo, symbole&#10;&#10;Description générée automatiquement">
            <a:extLst>
              <a:ext uri="{FF2B5EF4-FFF2-40B4-BE49-F238E27FC236}">
                <a16:creationId xmlns:a16="http://schemas.microsoft.com/office/drawing/2014/main" id="{498A347A-32F4-C55D-9C2D-0753E45ED2F0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104390" y="5832268"/>
            <a:ext cx="1715310" cy="45294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5483527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66" name="Google Shape;166;g28808c7f580_2_1"/>
          <p:cNvPicPr preferRelativeResize="0">
            <a:picLocks noGrp="1"/>
          </p:cNvPicPr>
          <p:nvPr>
            <p:ph type="body" idx="1"/>
          </p:nvPr>
        </p:nvPicPr>
        <p:blipFill rotWithShape="1">
          <a:blip r:embed="rId3">
            <a:alphaModFix/>
          </a:blip>
          <a:srcRect l="47673" r="30985"/>
          <a:stretch/>
        </p:blipFill>
        <p:spPr>
          <a:xfrm>
            <a:off x="-68094" y="0"/>
            <a:ext cx="2193000" cy="6858000"/>
          </a:xfrm>
          <a:prstGeom prst="rect">
            <a:avLst/>
          </a:prstGeom>
          <a:noFill/>
          <a:ln>
            <a:noFill/>
          </a:ln>
        </p:spPr>
      </p:pic>
      <p:sp>
        <p:nvSpPr>
          <p:cNvPr id="167" name="Google Shape;167;g28808c7f580_2_1"/>
          <p:cNvSpPr txBox="1"/>
          <p:nvPr/>
        </p:nvSpPr>
        <p:spPr>
          <a:xfrm>
            <a:off x="2098244" y="35130"/>
            <a:ext cx="10067100" cy="769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fr-FR" sz="4400" b="1" dirty="0" err="1">
                <a:solidFill>
                  <a:srgbClr val="1F9032"/>
                </a:solidFill>
                <a:latin typeface="Poppins"/>
                <a:ea typeface="Poppins"/>
                <a:cs typeface="Poppins"/>
                <a:sym typeface="Poppins"/>
              </a:rPr>
              <a:t>Context</a:t>
            </a:r>
            <a:endParaRPr b="1" dirty="0"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171" name="Google Shape;171;g28808c7f580_2_1"/>
          <p:cNvSpPr txBox="1">
            <a:spLocks noGrp="1"/>
          </p:cNvSpPr>
          <p:nvPr>
            <p:ph type="sldNum" idx="12"/>
          </p:nvPr>
        </p:nvSpPr>
        <p:spPr>
          <a:xfrm>
            <a:off x="10780776" y="6356350"/>
            <a:ext cx="573000" cy="36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</a:pPr>
            <a:fld id="{00000000-1234-1234-1234-123412341234}" type="slidenum">
              <a:rPr lang="fr-FR"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rPr>
              <a:t>2</a:t>
            </a:fld>
            <a:endParaRPr sz="1200" b="0" i="0" u="none" strike="noStrike" cap="none">
              <a:solidFill>
                <a:srgbClr val="888888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3" name="Google Shape;173;g28808c7f580_2_1"/>
          <p:cNvSpPr txBox="1"/>
          <p:nvPr/>
        </p:nvSpPr>
        <p:spPr>
          <a:xfrm>
            <a:off x="2612376" y="883992"/>
            <a:ext cx="8168400" cy="18004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lvl="0"/>
            <a:r>
              <a:rPr lang="en-US" sz="2100" dirty="0">
                <a:latin typeface="Poppins"/>
                <a:ea typeface="Poppins"/>
                <a:cs typeface="Poppins"/>
                <a:sym typeface="Poppins"/>
              </a:rPr>
              <a:t>Generic effects of forest management on biodiversity</a:t>
            </a:r>
          </a:p>
          <a:p>
            <a:pPr lvl="0"/>
            <a:endParaRPr lang="en-US" sz="2100" dirty="0">
              <a:latin typeface="Poppins"/>
              <a:ea typeface="Poppins"/>
              <a:cs typeface="Poppins"/>
              <a:sym typeface="Poppins"/>
            </a:endParaRP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100" dirty="0">
                <a:latin typeface="Poppins"/>
                <a:ea typeface="Poppins"/>
                <a:cs typeface="Poppins"/>
                <a:sym typeface="Poppins"/>
              </a:rPr>
              <a:t>Reducing mature stages while shortening early stages</a:t>
            </a:r>
          </a:p>
          <a:p>
            <a:pPr marL="342900" lvl="0" indent="-342900">
              <a:buFont typeface="Arial" panose="020B0604020202020204" pitchFamily="34" charset="0"/>
              <a:buChar char="•"/>
            </a:pPr>
            <a:r>
              <a:rPr lang="en-US" sz="2100" dirty="0">
                <a:latin typeface="Poppins"/>
                <a:ea typeface="Poppins"/>
                <a:cs typeface="Poppins"/>
                <a:sym typeface="Poppins"/>
              </a:rPr>
              <a:t>Reducing vertical and horizontal heterogeneity</a:t>
            </a:r>
          </a:p>
          <a:p>
            <a:pPr marL="342900" lvl="0" indent="-342900">
              <a:buFont typeface="Arial" panose="020B0604020202020204" pitchFamily="34" charset="0"/>
              <a:buChar char="•"/>
            </a:pPr>
            <a:r>
              <a:rPr lang="en-US" sz="2100" dirty="0">
                <a:latin typeface="Poppins"/>
                <a:ea typeface="Poppins"/>
                <a:cs typeface="Poppins"/>
                <a:sym typeface="Poppins"/>
              </a:rPr>
              <a:t>Reducing tree species diversity</a:t>
            </a:r>
          </a:p>
        </p:txBody>
      </p:sp>
      <p:pic>
        <p:nvPicPr>
          <p:cNvPr id="6146" name="Picture 2" descr="La diversité des peuplements forestiers - INVENTAIRE FORESTIER">
            <a:extLst>
              <a:ext uri="{FF2B5EF4-FFF2-40B4-BE49-F238E27FC236}">
                <a16:creationId xmlns:a16="http://schemas.microsoft.com/office/drawing/2014/main" id="{F5693C3A-593D-2DD1-D6DB-35A9EA79E64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071009" y="2759050"/>
            <a:ext cx="4762500" cy="39624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" name="ZoneTexte 1">
            <a:extLst>
              <a:ext uri="{FF2B5EF4-FFF2-40B4-BE49-F238E27FC236}">
                <a16:creationId xmlns:a16="http://schemas.microsoft.com/office/drawing/2014/main" id="{DA333E01-0C24-A6DD-A881-8EDA2ECE7296}"/>
              </a:ext>
            </a:extLst>
          </p:cNvPr>
          <p:cNvSpPr txBox="1"/>
          <p:nvPr/>
        </p:nvSpPr>
        <p:spPr>
          <a:xfrm>
            <a:off x="8203172" y="3671520"/>
            <a:ext cx="1152880" cy="120032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dirty="0"/>
              <a:t>1 </a:t>
            </a:r>
            <a:r>
              <a:rPr lang="fr-FR" dirty="0" err="1"/>
              <a:t>species</a:t>
            </a:r>
            <a:endParaRPr lang="fr-FR" dirty="0"/>
          </a:p>
          <a:p>
            <a:r>
              <a:rPr lang="fr-FR" dirty="0"/>
              <a:t>2 </a:t>
            </a:r>
            <a:r>
              <a:rPr lang="fr-FR" dirty="0" err="1"/>
              <a:t>species</a:t>
            </a:r>
            <a:endParaRPr lang="fr-FR" dirty="0"/>
          </a:p>
          <a:p>
            <a:r>
              <a:rPr lang="fr-FR" dirty="0"/>
              <a:t>3 </a:t>
            </a:r>
            <a:r>
              <a:rPr lang="fr-FR" dirty="0" err="1"/>
              <a:t>species</a:t>
            </a:r>
            <a:endParaRPr lang="fr-FR" dirty="0"/>
          </a:p>
          <a:p>
            <a:r>
              <a:rPr lang="fr-FR" dirty="0"/>
              <a:t>4+ </a:t>
            </a:r>
            <a:r>
              <a:rPr lang="fr-FR" dirty="0" err="1"/>
              <a:t>species</a:t>
            </a:r>
            <a:endParaRPr lang="fr-FR" dirty="0"/>
          </a:p>
        </p:txBody>
      </p:sp>
      <p:sp>
        <p:nvSpPr>
          <p:cNvPr id="5" name="Forme libre : forme 4">
            <a:extLst>
              <a:ext uri="{FF2B5EF4-FFF2-40B4-BE49-F238E27FC236}">
                <a16:creationId xmlns:a16="http://schemas.microsoft.com/office/drawing/2014/main" id="{C7BBC5D0-228D-E23D-458D-84079E8AF08E}"/>
              </a:ext>
            </a:extLst>
          </p:cNvPr>
          <p:cNvSpPr/>
          <p:nvPr/>
        </p:nvSpPr>
        <p:spPr>
          <a:xfrm>
            <a:off x="2868706" y="4285129"/>
            <a:ext cx="1640541" cy="1201271"/>
          </a:xfrm>
          <a:custGeom>
            <a:avLst/>
            <a:gdLst>
              <a:gd name="connsiteX0" fmla="*/ 125506 w 1640541"/>
              <a:gd name="connsiteY0" fmla="*/ 0 h 1201271"/>
              <a:gd name="connsiteX1" fmla="*/ 1129553 w 1640541"/>
              <a:gd name="connsiteY1" fmla="*/ 98612 h 1201271"/>
              <a:gd name="connsiteX2" fmla="*/ 1488141 w 1640541"/>
              <a:gd name="connsiteY2" fmla="*/ 528918 h 1201271"/>
              <a:gd name="connsiteX3" fmla="*/ 1640541 w 1640541"/>
              <a:gd name="connsiteY3" fmla="*/ 932330 h 1201271"/>
              <a:gd name="connsiteX4" fmla="*/ 1568823 w 1640541"/>
              <a:gd name="connsiteY4" fmla="*/ 1156447 h 1201271"/>
              <a:gd name="connsiteX5" fmla="*/ 197223 w 1640541"/>
              <a:gd name="connsiteY5" fmla="*/ 1201271 h 1201271"/>
              <a:gd name="connsiteX6" fmla="*/ 0 w 1640541"/>
              <a:gd name="connsiteY6" fmla="*/ 815789 h 1201271"/>
              <a:gd name="connsiteX7" fmla="*/ 125506 w 1640541"/>
              <a:gd name="connsiteY7" fmla="*/ 0 h 120127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1640541" h="1201271">
                <a:moveTo>
                  <a:pt x="125506" y="0"/>
                </a:moveTo>
                <a:lnTo>
                  <a:pt x="1129553" y="98612"/>
                </a:lnTo>
                <a:lnTo>
                  <a:pt x="1488141" y="528918"/>
                </a:lnTo>
                <a:lnTo>
                  <a:pt x="1640541" y="932330"/>
                </a:lnTo>
                <a:lnTo>
                  <a:pt x="1568823" y="1156447"/>
                </a:lnTo>
                <a:lnTo>
                  <a:pt x="197223" y="1201271"/>
                </a:lnTo>
                <a:lnTo>
                  <a:pt x="0" y="815789"/>
                </a:lnTo>
                <a:lnTo>
                  <a:pt x="125506" y="0"/>
                </a:lnTo>
                <a:close/>
              </a:path>
            </a:pathLst>
          </a:cu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D9909C84-EE45-BA5F-DBD5-7204846A23F3}"/>
              </a:ext>
            </a:extLst>
          </p:cNvPr>
          <p:cNvSpPr/>
          <p:nvPr/>
        </p:nvSpPr>
        <p:spPr>
          <a:xfrm>
            <a:off x="7440706" y="3774144"/>
            <a:ext cx="197223" cy="995082"/>
          </a:xfrm>
          <a:prstGeom prst="rect">
            <a:avLst/>
          </a:prstGeom>
          <a:solidFill>
            <a:srgbClr val="F4C74E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>
              <a:solidFill>
                <a:srgbClr val="F4C74E"/>
              </a:solidFill>
            </a:endParaRP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0D0A56FD-7D35-4FEE-E2B9-8ADB6F55EDD4}"/>
              </a:ext>
            </a:extLst>
          </p:cNvPr>
          <p:cNvSpPr/>
          <p:nvPr/>
        </p:nvSpPr>
        <p:spPr>
          <a:xfrm>
            <a:off x="7637108" y="4173545"/>
            <a:ext cx="197223" cy="595681"/>
          </a:xfrm>
          <a:prstGeom prst="rect">
            <a:avLst/>
          </a:prstGeom>
          <a:solidFill>
            <a:srgbClr val="6CB546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>
              <a:solidFill>
                <a:srgbClr val="F4C74E"/>
              </a:solidFill>
            </a:endParaRP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FECEFFA7-AF95-362B-D8E4-C4F1BE5948C1}"/>
              </a:ext>
            </a:extLst>
          </p:cNvPr>
          <p:cNvSpPr/>
          <p:nvPr/>
        </p:nvSpPr>
        <p:spPr>
          <a:xfrm>
            <a:off x="7838590" y="4427216"/>
            <a:ext cx="197222" cy="342010"/>
          </a:xfrm>
          <a:prstGeom prst="rect">
            <a:avLst/>
          </a:prstGeom>
          <a:solidFill>
            <a:srgbClr val="188963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>
              <a:solidFill>
                <a:srgbClr val="F4C74E"/>
              </a:solidFill>
            </a:endParaRP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E3DC3888-A9EF-DD92-B2F6-8F68EF7D86E9}"/>
              </a:ext>
            </a:extLst>
          </p:cNvPr>
          <p:cNvSpPr/>
          <p:nvPr/>
        </p:nvSpPr>
        <p:spPr>
          <a:xfrm>
            <a:off x="8024900" y="4584131"/>
            <a:ext cx="206216" cy="185095"/>
          </a:xfrm>
          <a:prstGeom prst="rect">
            <a:avLst/>
          </a:prstGeom>
          <a:solidFill>
            <a:srgbClr val="0E1317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>
              <a:solidFill>
                <a:srgbClr val="F4C74E"/>
              </a:solidFill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66" name="Google Shape;166;g28808c7f580_2_1"/>
          <p:cNvPicPr preferRelativeResize="0">
            <a:picLocks noGrp="1"/>
          </p:cNvPicPr>
          <p:nvPr>
            <p:ph type="body" idx="1"/>
          </p:nvPr>
        </p:nvPicPr>
        <p:blipFill rotWithShape="1">
          <a:blip r:embed="rId3">
            <a:alphaModFix/>
          </a:blip>
          <a:srcRect l="47673" r="30985"/>
          <a:stretch/>
        </p:blipFill>
        <p:spPr>
          <a:xfrm>
            <a:off x="-68094" y="0"/>
            <a:ext cx="2193000" cy="6858000"/>
          </a:xfrm>
          <a:prstGeom prst="rect">
            <a:avLst/>
          </a:prstGeom>
          <a:noFill/>
          <a:ln>
            <a:noFill/>
          </a:ln>
        </p:spPr>
      </p:pic>
      <p:sp>
        <p:nvSpPr>
          <p:cNvPr id="167" name="Google Shape;167;g28808c7f580_2_1"/>
          <p:cNvSpPr txBox="1"/>
          <p:nvPr/>
        </p:nvSpPr>
        <p:spPr>
          <a:xfrm>
            <a:off x="2098244" y="35130"/>
            <a:ext cx="10067100" cy="769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fr-FR" sz="4400" b="1" dirty="0" err="1">
                <a:solidFill>
                  <a:srgbClr val="1F9032"/>
                </a:solidFill>
                <a:latin typeface="Poppins"/>
                <a:ea typeface="Poppins"/>
                <a:cs typeface="Poppins"/>
                <a:sym typeface="Poppins"/>
              </a:rPr>
              <a:t>Context</a:t>
            </a:r>
            <a:endParaRPr b="1" dirty="0"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171" name="Google Shape;171;g28808c7f580_2_1"/>
          <p:cNvSpPr txBox="1">
            <a:spLocks noGrp="1"/>
          </p:cNvSpPr>
          <p:nvPr>
            <p:ph type="sldNum" idx="12"/>
          </p:nvPr>
        </p:nvSpPr>
        <p:spPr>
          <a:xfrm>
            <a:off x="10780776" y="6356350"/>
            <a:ext cx="573000" cy="36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</a:pPr>
            <a:fld id="{00000000-1234-1234-1234-123412341234}" type="slidenum">
              <a:rPr lang="fr-FR"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rPr>
              <a:t>3</a:t>
            </a:fld>
            <a:endParaRPr sz="1200" b="0" i="0" u="none" strike="noStrike" cap="none">
              <a:solidFill>
                <a:srgbClr val="888888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2050" name="Picture 2" descr="Fig. 5">
            <a:extLst>
              <a:ext uri="{FF2B5EF4-FFF2-40B4-BE49-F238E27FC236}">
                <a16:creationId xmlns:a16="http://schemas.microsoft.com/office/drawing/2014/main" id="{477B69FF-87F0-80DA-94B0-FF4F4C921F40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5002"/>
          <a:stretch/>
        </p:blipFill>
        <p:spPr bwMode="auto">
          <a:xfrm>
            <a:off x="5815584" y="1394388"/>
            <a:ext cx="4965192" cy="52006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5" name="ZoneTexte 4">
            <a:extLst>
              <a:ext uri="{FF2B5EF4-FFF2-40B4-BE49-F238E27FC236}">
                <a16:creationId xmlns:a16="http://schemas.microsoft.com/office/drawing/2014/main" id="{8115D638-340D-5A74-1874-70FBD38BE89E}"/>
              </a:ext>
            </a:extLst>
          </p:cNvPr>
          <p:cNvSpPr txBox="1"/>
          <p:nvPr/>
        </p:nvSpPr>
        <p:spPr>
          <a:xfrm>
            <a:off x="2183941" y="6461486"/>
            <a:ext cx="6131858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sz="1400" b="0" i="0" u="none" strike="noStrike" dirty="0">
                <a:solidFill>
                  <a:srgbClr val="000000"/>
                </a:solidFill>
                <a:effectLst/>
                <a:latin typeface="Aptos Narrow" panose="020B0004020202020204" pitchFamily="34" charset="0"/>
              </a:rPr>
              <a:t>Kremer et al. 2025. Biol. </a:t>
            </a:r>
            <a:r>
              <a:rPr lang="fr-FR" sz="1400" b="0" i="0" u="none" strike="noStrike" dirty="0" err="1">
                <a:solidFill>
                  <a:srgbClr val="000000"/>
                </a:solidFill>
                <a:effectLst/>
                <a:latin typeface="Aptos Narrow" panose="020B0004020202020204" pitchFamily="34" charset="0"/>
              </a:rPr>
              <a:t>Conserv</a:t>
            </a:r>
            <a:r>
              <a:rPr lang="fr-FR" sz="1400" b="0" i="0" u="none" strike="noStrike" dirty="0">
                <a:solidFill>
                  <a:srgbClr val="000000"/>
                </a:solidFill>
                <a:effectLst/>
                <a:latin typeface="Aptos Narrow" panose="020B0004020202020204" pitchFamily="34" charset="0"/>
              </a:rPr>
              <a:t>.</a:t>
            </a:r>
            <a:endParaRPr lang="fr-FR" sz="1400" dirty="0"/>
          </a:p>
        </p:txBody>
      </p:sp>
      <p:sp>
        <p:nvSpPr>
          <p:cNvPr id="6" name="ZoneTexte 5">
            <a:extLst>
              <a:ext uri="{FF2B5EF4-FFF2-40B4-BE49-F238E27FC236}">
                <a16:creationId xmlns:a16="http://schemas.microsoft.com/office/drawing/2014/main" id="{B3A981F4-0C23-6C58-E71D-F3125D1FEF02}"/>
              </a:ext>
            </a:extLst>
          </p:cNvPr>
          <p:cNvSpPr txBox="1"/>
          <p:nvPr/>
        </p:nvSpPr>
        <p:spPr>
          <a:xfrm>
            <a:off x="5672935" y="1466087"/>
            <a:ext cx="84612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dirty="0" err="1"/>
              <a:t>Overall</a:t>
            </a:r>
            <a:endParaRPr lang="fr-FR" dirty="0"/>
          </a:p>
        </p:txBody>
      </p:sp>
      <p:sp>
        <p:nvSpPr>
          <p:cNvPr id="7" name="ZoneTexte 6">
            <a:extLst>
              <a:ext uri="{FF2B5EF4-FFF2-40B4-BE49-F238E27FC236}">
                <a16:creationId xmlns:a16="http://schemas.microsoft.com/office/drawing/2014/main" id="{B010F769-1963-0BC3-B5D2-371D362C556E}"/>
              </a:ext>
            </a:extLst>
          </p:cNvPr>
          <p:cNvSpPr txBox="1"/>
          <p:nvPr/>
        </p:nvSpPr>
        <p:spPr>
          <a:xfrm>
            <a:off x="5249870" y="2120378"/>
            <a:ext cx="136787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dirty="0" err="1"/>
              <a:t>Climate</a:t>
            </a:r>
            <a:r>
              <a:rPr lang="fr-FR" dirty="0"/>
              <a:t> type</a:t>
            </a:r>
          </a:p>
        </p:txBody>
      </p:sp>
      <p:sp>
        <p:nvSpPr>
          <p:cNvPr id="8" name="ZoneTexte 7">
            <a:extLst>
              <a:ext uri="{FF2B5EF4-FFF2-40B4-BE49-F238E27FC236}">
                <a16:creationId xmlns:a16="http://schemas.microsoft.com/office/drawing/2014/main" id="{C90289D1-E322-14B4-AE8C-FAB79E707E28}"/>
              </a:ext>
            </a:extLst>
          </p:cNvPr>
          <p:cNvSpPr txBox="1"/>
          <p:nvPr/>
        </p:nvSpPr>
        <p:spPr>
          <a:xfrm>
            <a:off x="4821708" y="3095042"/>
            <a:ext cx="152862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dirty="0"/>
              <a:t>Plantation </a:t>
            </a:r>
            <a:r>
              <a:rPr lang="fr-FR" dirty="0" err="1"/>
              <a:t>age</a:t>
            </a:r>
            <a:endParaRPr lang="fr-FR" dirty="0"/>
          </a:p>
        </p:txBody>
      </p:sp>
      <p:sp>
        <p:nvSpPr>
          <p:cNvPr id="9" name="ZoneTexte 8">
            <a:extLst>
              <a:ext uri="{FF2B5EF4-FFF2-40B4-BE49-F238E27FC236}">
                <a16:creationId xmlns:a16="http://schemas.microsoft.com/office/drawing/2014/main" id="{DBF9F3FD-7490-775C-BDC3-49AD13FB73B2}"/>
              </a:ext>
            </a:extLst>
          </p:cNvPr>
          <p:cNvSpPr txBox="1"/>
          <p:nvPr/>
        </p:nvSpPr>
        <p:spPr>
          <a:xfrm>
            <a:off x="4159778" y="4069706"/>
            <a:ext cx="206999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dirty="0" err="1"/>
              <a:t>Nber</a:t>
            </a:r>
            <a:r>
              <a:rPr lang="fr-FR" dirty="0"/>
              <a:t> of </a:t>
            </a:r>
            <a:r>
              <a:rPr lang="fr-FR" dirty="0" err="1"/>
              <a:t>tree</a:t>
            </a:r>
            <a:r>
              <a:rPr lang="fr-FR" dirty="0"/>
              <a:t> </a:t>
            </a:r>
            <a:r>
              <a:rPr lang="fr-FR" dirty="0" err="1"/>
              <a:t>species</a:t>
            </a:r>
            <a:endParaRPr lang="fr-FR" dirty="0"/>
          </a:p>
        </p:txBody>
      </p:sp>
      <p:sp>
        <p:nvSpPr>
          <p:cNvPr id="10" name="ZoneTexte 9">
            <a:extLst>
              <a:ext uri="{FF2B5EF4-FFF2-40B4-BE49-F238E27FC236}">
                <a16:creationId xmlns:a16="http://schemas.microsoft.com/office/drawing/2014/main" id="{6893680D-5A02-24A9-9BB4-20A88E20FB98}"/>
              </a:ext>
            </a:extLst>
          </p:cNvPr>
          <p:cNvSpPr txBox="1"/>
          <p:nvPr/>
        </p:nvSpPr>
        <p:spPr>
          <a:xfrm>
            <a:off x="2512147" y="4963040"/>
            <a:ext cx="371762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dirty="0"/>
              <a:t>Relative </a:t>
            </a:r>
            <a:r>
              <a:rPr lang="fr-FR" dirty="0" err="1"/>
              <a:t>abundance</a:t>
            </a:r>
            <a:r>
              <a:rPr lang="fr-FR" dirty="0"/>
              <a:t> of mixed </a:t>
            </a:r>
            <a:r>
              <a:rPr lang="fr-FR" dirty="0" err="1"/>
              <a:t>species</a:t>
            </a:r>
            <a:endParaRPr lang="fr-FR" dirty="0"/>
          </a:p>
        </p:txBody>
      </p:sp>
      <p:sp>
        <p:nvSpPr>
          <p:cNvPr id="11" name="ZoneTexte 10">
            <a:extLst>
              <a:ext uri="{FF2B5EF4-FFF2-40B4-BE49-F238E27FC236}">
                <a16:creationId xmlns:a16="http://schemas.microsoft.com/office/drawing/2014/main" id="{BB2B771C-25BA-B598-DDB8-18258ED7BE83}"/>
              </a:ext>
            </a:extLst>
          </p:cNvPr>
          <p:cNvSpPr txBox="1"/>
          <p:nvPr/>
        </p:nvSpPr>
        <p:spPr>
          <a:xfrm>
            <a:off x="4370958" y="5632179"/>
            <a:ext cx="144462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dirty="0" err="1"/>
              <a:t>Species</a:t>
            </a:r>
            <a:r>
              <a:rPr lang="fr-FR" dirty="0"/>
              <a:t> types</a:t>
            </a:r>
          </a:p>
        </p:txBody>
      </p:sp>
      <p:sp>
        <p:nvSpPr>
          <p:cNvPr id="12" name="ZoneTexte 11">
            <a:extLst>
              <a:ext uri="{FF2B5EF4-FFF2-40B4-BE49-F238E27FC236}">
                <a16:creationId xmlns:a16="http://schemas.microsoft.com/office/drawing/2014/main" id="{BE6F21E1-4936-E733-45B3-37C319DB40DD}"/>
              </a:ext>
            </a:extLst>
          </p:cNvPr>
          <p:cNvSpPr txBox="1"/>
          <p:nvPr/>
        </p:nvSpPr>
        <p:spPr>
          <a:xfrm>
            <a:off x="2512147" y="842338"/>
            <a:ext cx="9241697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2000" dirty="0">
                <a:sym typeface="Wingdings" panose="05000000000000000000" pitchFamily="2" charset="2"/>
              </a:rPr>
              <a:t> </a:t>
            </a:r>
            <a:r>
              <a:rPr lang="fr-FR" sz="2000" dirty="0" err="1">
                <a:sym typeface="Wingdings" panose="05000000000000000000" pitchFamily="2" charset="2"/>
              </a:rPr>
              <a:t>E</a:t>
            </a:r>
            <a:r>
              <a:rPr lang="fr-FR" sz="2000" dirty="0" err="1"/>
              <a:t>ffect</a:t>
            </a:r>
            <a:r>
              <a:rPr lang="fr-FR" sz="2000" dirty="0"/>
              <a:t> of </a:t>
            </a:r>
            <a:r>
              <a:rPr lang="fr-FR" sz="2000" dirty="0" err="1"/>
              <a:t>tree</a:t>
            </a:r>
            <a:r>
              <a:rPr lang="fr-FR" sz="2000" dirty="0"/>
              <a:t> mixture on </a:t>
            </a:r>
            <a:r>
              <a:rPr lang="fr-FR" sz="2000" dirty="0" err="1"/>
              <a:t>biodiversity</a:t>
            </a:r>
            <a:r>
              <a:rPr lang="fr-FR" sz="2000" dirty="0"/>
              <a:t>: </a:t>
            </a:r>
            <a:r>
              <a:rPr lang="fr-FR" sz="2000" dirty="0" err="1"/>
              <a:t>mostly</a:t>
            </a:r>
            <a:r>
              <a:rPr lang="fr-FR" sz="2000" dirty="0"/>
              <a:t> neutral and, to a </a:t>
            </a:r>
            <a:r>
              <a:rPr lang="fr-FR" sz="2000" dirty="0" err="1"/>
              <a:t>lesser</a:t>
            </a:r>
            <a:r>
              <a:rPr lang="fr-FR" sz="2000" dirty="0"/>
              <a:t> </a:t>
            </a:r>
            <a:r>
              <a:rPr lang="fr-FR" sz="2000" dirty="0" err="1"/>
              <a:t>extent</a:t>
            </a:r>
            <a:r>
              <a:rPr lang="fr-FR" sz="2000" dirty="0"/>
              <a:t>, positive</a:t>
            </a:r>
          </a:p>
        </p:txBody>
      </p:sp>
      <p:cxnSp>
        <p:nvCxnSpPr>
          <p:cNvPr id="18" name="Connecteur droit 17">
            <a:extLst>
              <a:ext uri="{FF2B5EF4-FFF2-40B4-BE49-F238E27FC236}">
                <a16:creationId xmlns:a16="http://schemas.microsoft.com/office/drawing/2014/main" id="{7E65FBE3-90C8-37E6-D0AF-6FA6825E2BC7}"/>
              </a:ext>
            </a:extLst>
          </p:cNvPr>
          <p:cNvCxnSpPr/>
          <p:nvPr/>
        </p:nvCxnSpPr>
        <p:spPr>
          <a:xfrm>
            <a:off x="6714565" y="2426955"/>
            <a:ext cx="636494" cy="0"/>
          </a:xfrm>
          <a:prstGeom prst="line">
            <a:avLst/>
          </a:prstGeom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p:cxnSp>
        <p:nvCxnSpPr>
          <p:cNvPr id="19" name="Connecteur droit 18">
            <a:extLst>
              <a:ext uri="{FF2B5EF4-FFF2-40B4-BE49-F238E27FC236}">
                <a16:creationId xmlns:a16="http://schemas.microsoft.com/office/drawing/2014/main" id="{BB961DD5-1AAF-B915-8C00-1E8FD35E0F34}"/>
              </a:ext>
            </a:extLst>
          </p:cNvPr>
          <p:cNvCxnSpPr/>
          <p:nvPr/>
        </p:nvCxnSpPr>
        <p:spPr>
          <a:xfrm>
            <a:off x="6714565" y="3646155"/>
            <a:ext cx="636494" cy="0"/>
          </a:xfrm>
          <a:prstGeom prst="line">
            <a:avLst/>
          </a:prstGeom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p:cxnSp>
        <p:nvCxnSpPr>
          <p:cNvPr id="20" name="Connecteur droit 19">
            <a:extLst>
              <a:ext uri="{FF2B5EF4-FFF2-40B4-BE49-F238E27FC236}">
                <a16:creationId xmlns:a16="http://schemas.microsoft.com/office/drawing/2014/main" id="{4E2E4968-B2C2-585E-B76C-27B482844569}"/>
              </a:ext>
            </a:extLst>
          </p:cNvPr>
          <p:cNvCxnSpPr/>
          <p:nvPr/>
        </p:nvCxnSpPr>
        <p:spPr>
          <a:xfrm>
            <a:off x="6714565" y="4076190"/>
            <a:ext cx="636494" cy="0"/>
          </a:xfrm>
          <a:prstGeom prst="line">
            <a:avLst/>
          </a:prstGeom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p:cxnSp>
        <p:nvCxnSpPr>
          <p:cNvPr id="21" name="Connecteur droit 20">
            <a:extLst>
              <a:ext uri="{FF2B5EF4-FFF2-40B4-BE49-F238E27FC236}">
                <a16:creationId xmlns:a16="http://schemas.microsoft.com/office/drawing/2014/main" id="{B24BAD0B-EA40-9DE1-60A1-B67C3E97A953}"/>
              </a:ext>
            </a:extLst>
          </p:cNvPr>
          <p:cNvCxnSpPr>
            <a:cxnSpLocks/>
          </p:cNvCxnSpPr>
          <p:nvPr/>
        </p:nvCxnSpPr>
        <p:spPr>
          <a:xfrm>
            <a:off x="6519064" y="5403238"/>
            <a:ext cx="831995" cy="0"/>
          </a:xfrm>
          <a:prstGeom prst="line">
            <a:avLst/>
          </a:prstGeom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p:cxnSp>
        <p:nvCxnSpPr>
          <p:cNvPr id="24" name="Connecteur droit 23">
            <a:extLst>
              <a:ext uri="{FF2B5EF4-FFF2-40B4-BE49-F238E27FC236}">
                <a16:creationId xmlns:a16="http://schemas.microsoft.com/office/drawing/2014/main" id="{890A9542-5587-36D9-F098-BED11196E520}"/>
              </a:ext>
            </a:extLst>
          </p:cNvPr>
          <p:cNvCxnSpPr>
            <a:cxnSpLocks/>
          </p:cNvCxnSpPr>
          <p:nvPr/>
        </p:nvCxnSpPr>
        <p:spPr>
          <a:xfrm>
            <a:off x="5909465" y="6102484"/>
            <a:ext cx="1360912" cy="0"/>
          </a:xfrm>
          <a:prstGeom prst="line">
            <a:avLst/>
          </a:prstGeom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759310025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66" name="Google Shape;166;g28808c7f580_2_1"/>
          <p:cNvPicPr preferRelativeResize="0">
            <a:picLocks noGrp="1"/>
          </p:cNvPicPr>
          <p:nvPr>
            <p:ph type="body" idx="1"/>
          </p:nvPr>
        </p:nvPicPr>
        <p:blipFill rotWithShape="1">
          <a:blip r:embed="rId3">
            <a:alphaModFix/>
          </a:blip>
          <a:srcRect l="47673" r="30985"/>
          <a:stretch/>
        </p:blipFill>
        <p:spPr>
          <a:xfrm>
            <a:off x="-68094" y="0"/>
            <a:ext cx="2193000" cy="6858000"/>
          </a:xfrm>
          <a:prstGeom prst="rect">
            <a:avLst/>
          </a:prstGeom>
          <a:noFill/>
          <a:ln>
            <a:noFill/>
          </a:ln>
        </p:spPr>
      </p:pic>
      <p:sp>
        <p:nvSpPr>
          <p:cNvPr id="167" name="Google Shape;167;g28808c7f580_2_1"/>
          <p:cNvSpPr txBox="1"/>
          <p:nvPr/>
        </p:nvSpPr>
        <p:spPr>
          <a:xfrm>
            <a:off x="2098244" y="35130"/>
            <a:ext cx="10067100" cy="769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fr-FR" sz="4400" b="1" dirty="0" err="1">
                <a:solidFill>
                  <a:srgbClr val="1F9032"/>
                </a:solidFill>
                <a:latin typeface="Poppins"/>
                <a:ea typeface="Poppins"/>
                <a:cs typeface="Poppins"/>
                <a:sym typeface="Poppins"/>
              </a:rPr>
              <a:t>Context</a:t>
            </a:r>
            <a:endParaRPr b="1" dirty="0"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171" name="Google Shape;171;g28808c7f580_2_1"/>
          <p:cNvSpPr txBox="1">
            <a:spLocks noGrp="1"/>
          </p:cNvSpPr>
          <p:nvPr>
            <p:ph type="sldNum" idx="12"/>
          </p:nvPr>
        </p:nvSpPr>
        <p:spPr>
          <a:xfrm>
            <a:off x="10780776" y="6356350"/>
            <a:ext cx="573000" cy="36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</a:pPr>
            <a:fld id="{00000000-1234-1234-1234-123412341234}" type="slidenum">
              <a:rPr lang="fr-FR"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rPr>
              <a:t>4</a:t>
            </a:fld>
            <a:endParaRPr sz="1200" b="0" i="0" u="none" strike="noStrike" cap="none">
              <a:solidFill>
                <a:srgbClr val="888888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" name="ZoneTexte 4">
            <a:extLst>
              <a:ext uri="{FF2B5EF4-FFF2-40B4-BE49-F238E27FC236}">
                <a16:creationId xmlns:a16="http://schemas.microsoft.com/office/drawing/2014/main" id="{8115D638-340D-5A74-1874-70FBD38BE89E}"/>
              </a:ext>
            </a:extLst>
          </p:cNvPr>
          <p:cNvSpPr txBox="1"/>
          <p:nvPr/>
        </p:nvSpPr>
        <p:spPr>
          <a:xfrm>
            <a:off x="8462682" y="6488572"/>
            <a:ext cx="6131858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sz="1400" b="0" i="0" u="none" strike="noStrike" dirty="0">
                <a:solidFill>
                  <a:srgbClr val="000000"/>
                </a:solidFill>
                <a:effectLst/>
                <a:latin typeface="Aptos Narrow" panose="020B0004020202020204" pitchFamily="34" charset="0"/>
              </a:rPr>
              <a:t>Kremer et al. 2025. Biol. </a:t>
            </a:r>
            <a:r>
              <a:rPr lang="fr-FR" sz="1400" b="0" i="0" u="none" strike="noStrike" dirty="0" err="1">
                <a:solidFill>
                  <a:srgbClr val="000000"/>
                </a:solidFill>
                <a:effectLst/>
                <a:latin typeface="Aptos Narrow" panose="020B0004020202020204" pitchFamily="34" charset="0"/>
              </a:rPr>
              <a:t>Conserv</a:t>
            </a:r>
            <a:r>
              <a:rPr lang="fr-FR" sz="1400" b="0" i="0" u="none" strike="noStrike" dirty="0">
                <a:solidFill>
                  <a:srgbClr val="000000"/>
                </a:solidFill>
                <a:effectLst/>
                <a:latin typeface="Aptos Narrow" panose="020B0004020202020204" pitchFamily="34" charset="0"/>
              </a:rPr>
              <a:t>.</a:t>
            </a:r>
            <a:endParaRPr lang="fr-FR" sz="1400" dirty="0"/>
          </a:p>
        </p:txBody>
      </p:sp>
      <p:pic>
        <p:nvPicPr>
          <p:cNvPr id="3074" name="Picture 2" descr="Fig. 6">
            <a:extLst>
              <a:ext uri="{FF2B5EF4-FFF2-40B4-BE49-F238E27FC236}">
                <a16:creationId xmlns:a16="http://schemas.microsoft.com/office/drawing/2014/main" id="{BA3AFBF6-0ABC-1467-5DB0-9D7802BA3D1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513031" y="1607608"/>
            <a:ext cx="7775706" cy="444741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" name="ZoneTexte 2">
            <a:extLst>
              <a:ext uri="{FF2B5EF4-FFF2-40B4-BE49-F238E27FC236}">
                <a16:creationId xmlns:a16="http://schemas.microsoft.com/office/drawing/2014/main" id="{703779FA-5FA6-C90F-84A4-9A29A4C37695}"/>
              </a:ext>
            </a:extLst>
          </p:cNvPr>
          <p:cNvSpPr txBox="1"/>
          <p:nvPr/>
        </p:nvSpPr>
        <p:spPr>
          <a:xfrm>
            <a:off x="2512147" y="842338"/>
            <a:ext cx="601087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2000" dirty="0">
                <a:sym typeface="Wingdings" panose="05000000000000000000" pitchFamily="2" charset="2"/>
              </a:rPr>
              <a:t> The </a:t>
            </a:r>
            <a:r>
              <a:rPr lang="fr-FR" sz="2000" dirty="0" err="1">
                <a:sym typeface="Wingdings" panose="05000000000000000000" pitchFamily="2" charset="2"/>
              </a:rPr>
              <a:t>response</a:t>
            </a:r>
            <a:r>
              <a:rPr lang="fr-FR" sz="2000" dirty="0">
                <a:sym typeface="Wingdings" panose="05000000000000000000" pitchFamily="2" charset="2"/>
              </a:rPr>
              <a:t> </a:t>
            </a:r>
            <a:r>
              <a:rPr lang="fr-FR" sz="2000" dirty="0" err="1">
                <a:sym typeface="Wingdings" panose="05000000000000000000" pitchFamily="2" charset="2"/>
              </a:rPr>
              <a:t>strongly</a:t>
            </a:r>
            <a:r>
              <a:rPr lang="fr-FR" sz="2000" dirty="0">
                <a:sym typeface="Wingdings" panose="05000000000000000000" pitchFamily="2" charset="2"/>
              </a:rPr>
              <a:t> </a:t>
            </a:r>
            <a:r>
              <a:rPr lang="fr-FR" sz="2000" dirty="0" err="1">
                <a:sym typeface="Wingdings" panose="05000000000000000000" pitchFamily="2" charset="2"/>
              </a:rPr>
              <a:t>depends</a:t>
            </a:r>
            <a:r>
              <a:rPr lang="fr-FR" sz="2000" dirty="0">
                <a:sym typeface="Wingdings" panose="05000000000000000000" pitchFamily="2" charset="2"/>
              </a:rPr>
              <a:t> on </a:t>
            </a:r>
            <a:r>
              <a:rPr lang="fr-FR" sz="2000" dirty="0" err="1">
                <a:sym typeface="Wingdings" panose="05000000000000000000" pitchFamily="2" charset="2"/>
              </a:rPr>
              <a:t>taxonomic</a:t>
            </a:r>
            <a:r>
              <a:rPr lang="fr-FR" sz="2000" dirty="0">
                <a:sym typeface="Wingdings" panose="05000000000000000000" pitchFamily="2" charset="2"/>
              </a:rPr>
              <a:t> group</a:t>
            </a:r>
            <a:endParaRPr lang="fr-FR" sz="2000" dirty="0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A77829AA-BCCF-8377-521C-541AA54B4278}"/>
              </a:ext>
            </a:extLst>
          </p:cNvPr>
          <p:cNvSpPr/>
          <p:nvPr/>
        </p:nvSpPr>
        <p:spPr>
          <a:xfrm>
            <a:off x="3410712" y="3831336"/>
            <a:ext cx="8101584" cy="1499616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646361282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66" name="Google Shape;166;g28808c7f580_2_1"/>
          <p:cNvPicPr preferRelativeResize="0">
            <a:picLocks noGrp="1"/>
          </p:cNvPicPr>
          <p:nvPr>
            <p:ph type="body" idx="1"/>
          </p:nvPr>
        </p:nvPicPr>
        <p:blipFill rotWithShape="1">
          <a:blip r:embed="rId3">
            <a:alphaModFix/>
          </a:blip>
          <a:srcRect l="47673" r="30985"/>
          <a:stretch/>
        </p:blipFill>
        <p:spPr>
          <a:xfrm>
            <a:off x="-68094" y="0"/>
            <a:ext cx="2193000" cy="6858000"/>
          </a:xfrm>
          <a:prstGeom prst="rect">
            <a:avLst/>
          </a:prstGeom>
          <a:noFill/>
          <a:ln>
            <a:noFill/>
          </a:ln>
        </p:spPr>
      </p:pic>
      <p:sp>
        <p:nvSpPr>
          <p:cNvPr id="167" name="Google Shape;167;g28808c7f580_2_1"/>
          <p:cNvSpPr txBox="1"/>
          <p:nvPr/>
        </p:nvSpPr>
        <p:spPr>
          <a:xfrm>
            <a:off x="2098244" y="35130"/>
            <a:ext cx="10067100" cy="769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fr-FR" sz="4400" b="1" dirty="0" err="1">
                <a:solidFill>
                  <a:srgbClr val="1F9032"/>
                </a:solidFill>
                <a:latin typeface="Poppins"/>
                <a:ea typeface="Poppins"/>
                <a:cs typeface="Poppins"/>
                <a:sym typeface="Poppins"/>
              </a:rPr>
              <a:t>Context</a:t>
            </a:r>
            <a:endParaRPr b="1" dirty="0"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171" name="Google Shape;171;g28808c7f580_2_1"/>
          <p:cNvSpPr txBox="1">
            <a:spLocks noGrp="1"/>
          </p:cNvSpPr>
          <p:nvPr>
            <p:ph type="sldNum" idx="12"/>
          </p:nvPr>
        </p:nvSpPr>
        <p:spPr>
          <a:xfrm>
            <a:off x="10780776" y="6356350"/>
            <a:ext cx="573000" cy="36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</a:pPr>
            <a:fld id="{00000000-1234-1234-1234-123412341234}" type="slidenum">
              <a:rPr lang="fr-FR"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rPr>
              <a:t>5</a:t>
            </a:fld>
            <a:endParaRPr sz="1200" b="0" i="0" u="none" strike="noStrike" cap="none">
              <a:solidFill>
                <a:srgbClr val="888888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" name="Google Shape;173;g28808c7f580_2_1">
            <a:extLst>
              <a:ext uri="{FF2B5EF4-FFF2-40B4-BE49-F238E27FC236}">
                <a16:creationId xmlns:a16="http://schemas.microsoft.com/office/drawing/2014/main" id="{F35F613E-0CD8-B5A8-A692-DF898BF37E85}"/>
              </a:ext>
            </a:extLst>
          </p:cNvPr>
          <p:cNvSpPr txBox="1"/>
          <p:nvPr/>
        </p:nvSpPr>
        <p:spPr>
          <a:xfrm>
            <a:off x="2477011" y="1110629"/>
            <a:ext cx="9141248" cy="489361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lvl="0"/>
            <a:r>
              <a:rPr lang="en-US" sz="2100" dirty="0">
                <a:latin typeface="Poppins"/>
                <a:ea typeface="Poppins"/>
                <a:cs typeface="Poppins"/>
                <a:sym typeface="Poppins"/>
              </a:rPr>
              <a:t>Main question</a:t>
            </a:r>
          </a:p>
          <a:p>
            <a:pPr lvl="0"/>
            <a:endParaRPr lang="en-US" sz="2100" dirty="0">
              <a:latin typeface="Poppins"/>
              <a:ea typeface="Poppins"/>
              <a:cs typeface="Poppins"/>
              <a:sym typeface="Poppins"/>
            </a:endParaRPr>
          </a:p>
          <a:p>
            <a:pPr marL="342900" lvl="0" indent="-342900">
              <a:buFont typeface="Aptos" panose="020B0004020202020204" pitchFamily="34" charset="0"/>
              <a:buChar char="-"/>
            </a:pPr>
            <a:r>
              <a:rPr lang="fr-FR" sz="1800" dirty="0">
                <a:effectLst/>
                <a:latin typeface="Aptos" panose="020B0004020202020204" pitchFamily="34" charset="0"/>
                <a:ea typeface="Times New Roman" panose="02020603050405020304" pitchFamily="18" charset="0"/>
                <a:cs typeface="Times New Roman" panose="02020603050405020304" pitchFamily="18" charset="0"/>
              </a:rPr>
              <a:t>Are mixed </a:t>
            </a:r>
            <a:r>
              <a:rPr lang="fr-FR" sz="1800" dirty="0" err="1">
                <a:effectLst/>
                <a:latin typeface="Aptos" panose="020B0004020202020204" pitchFamily="34" charset="0"/>
                <a:ea typeface="Times New Roman" panose="02020603050405020304" pitchFamily="18" charset="0"/>
                <a:cs typeface="Times New Roman" panose="02020603050405020304" pitchFamily="18" charset="0"/>
              </a:rPr>
              <a:t>oak</a:t>
            </a:r>
            <a:r>
              <a:rPr lang="fr-FR" sz="1800" dirty="0">
                <a:effectLst/>
                <a:latin typeface="Aptos" panose="020B0004020202020204" pitchFamily="34" charset="0"/>
                <a:ea typeface="Times New Roman" panose="02020603050405020304" pitchFamily="18" charset="0"/>
                <a:cs typeface="Times New Roman" panose="02020603050405020304" pitchFamily="18" charset="0"/>
              </a:rPr>
              <a:t>-pine stands </a:t>
            </a:r>
            <a:r>
              <a:rPr lang="fr-FR" sz="1800" dirty="0" err="1">
                <a:effectLst/>
                <a:latin typeface="Aptos" panose="020B0004020202020204" pitchFamily="34" charset="0"/>
                <a:ea typeface="Times New Roman" panose="02020603050405020304" pitchFamily="18" charset="0"/>
                <a:cs typeface="Times New Roman" panose="02020603050405020304" pitchFamily="18" charset="0"/>
              </a:rPr>
              <a:t>beneficial</a:t>
            </a:r>
            <a:r>
              <a:rPr lang="fr-FR" sz="1800" dirty="0">
                <a:effectLst/>
                <a:latin typeface="Aptos" panose="020B0004020202020204" pitchFamily="34" charset="0"/>
                <a:ea typeface="Times New Roman" panose="02020603050405020304" pitchFamily="18" charset="0"/>
                <a:cs typeface="Times New Roman" panose="02020603050405020304" pitchFamily="18" charset="0"/>
              </a:rPr>
              <a:t> to </a:t>
            </a:r>
            <a:r>
              <a:rPr lang="fr-FR" sz="1800" dirty="0" err="1">
                <a:effectLst/>
                <a:latin typeface="Aptos" panose="020B0004020202020204" pitchFamily="34" charset="0"/>
                <a:ea typeface="Times New Roman" panose="02020603050405020304" pitchFamily="18" charset="0"/>
                <a:cs typeface="Times New Roman" panose="02020603050405020304" pitchFamily="18" charset="0"/>
              </a:rPr>
              <a:t>common</a:t>
            </a:r>
            <a:r>
              <a:rPr lang="fr-FR" sz="1800" dirty="0">
                <a:effectLst/>
                <a:latin typeface="Aptos" panose="020B0004020202020204" pitchFamily="34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fr-FR" sz="1800" dirty="0" err="1">
                <a:effectLst/>
                <a:latin typeface="Aptos" panose="020B0004020202020204" pitchFamily="34" charset="0"/>
                <a:ea typeface="Times New Roman" panose="02020603050405020304" pitchFamily="18" charset="0"/>
                <a:cs typeface="Times New Roman" panose="02020603050405020304" pitchFamily="18" charset="0"/>
              </a:rPr>
              <a:t>birds</a:t>
            </a:r>
            <a:r>
              <a:rPr lang="fr-FR" sz="1800" dirty="0">
                <a:effectLst/>
                <a:latin typeface="Aptos" panose="020B0004020202020204" pitchFamily="34" charset="0"/>
                <a:ea typeface="Times New Roman" panose="02020603050405020304" pitchFamily="18" charset="0"/>
                <a:cs typeface="Times New Roman" panose="02020603050405020304" pitchFamily="18" charset="0"/>
              </a:rPr>
              <a:t>, </a:t>
            </a:r>
            <a:r>
              <a:rPr lang="fr-FR" sz="1800" dirty="0" err="1">
                <a:effectLst/>
                <a:latin typeface="Aptos" panose="020B0004020202020204" pitchFamily="34" charset="0"/>
                <a:ea typeface="Times New Roman" panose="02020603050405020304" pitchFamily="18" charset="0"/>
                <a:cs typeface="Times New Roman" panose="02020603050405020304" pitchFamily="18" charset="0"/>
              </a:rPr>
              <a:t>saproxylic</a:t>
            </a:r>
            <a:r>
              <a:rPr lang="fr-FR" sz="1800" dirty="0">
                <a:effectLst/>
                <a:latin typeface="Aptos" panose="020B0004020202020204" pitchFamily="34" charset="0"/>
                <a:ea typeface="Times New Roman" panose="02020603050405020304" pitchFamily="18" charset="0"/>
                <a:cs typeface="Times New Roman" panose="02020603050405020304" pitchFamily="18" charset="0"/>
              </a:rPr>
              <a:t> and </a:t>
            </a:r>
            <a:r>
              <a:rPr lang="fr-FR" sz="1800" dirty="0" err="1">
                <a:effectLst/>
                <a:latin typeface="Aptos" panose="020B0004020202020204" pitchFamily="34" charset="0"/>
                <a:ea typeface="Times New Roman" panose="02020603050405020304" pitchFamily="18" charset="0"/>
                <a:cs typeface="Times New Roman" panose="02020603050405020304" pitchFamily="18" charset="0"/>
              </a:rPr>
              <a:t>ground</a:t>
            </a:r>
            <a:r>
              <a:rPr lang="fr-FR" sz="1800" dirty="0">
                <a:effectLst/>
                <a:latin typeface="Aptos" panose="020B0004020202020204" pitchFamily="34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fr-FR" sz="1800" dirty="0" err="1">
                <a:effectLst/>
                <a:latin typeface="Aptos" panose="020B0004020202020204" pitchFamily="34" charset="0"/>
                <a:ea typeface="Times New Roman" panose="02020603050405020304" pitchFamily="18" charset="0"/>
                <a:cs typeface="Times New Roman" panose="02020603050405020304" pitchFamily="18" charset="0"/>
              </a:rPr>
              <a:t>beetles</a:t>
            </a:r>
            <a:r>
              <a:rPr lang="fr-FR" sz="1800" dirty="0">
                <a:effectLst/>
                <a:latin typeface="Aptos" panose="020B0004020202020204" pitchFamily="34" charset="0"/>
                <a:ea typeface="Times New Roman" panose="02020603050405020304" pitchFamily="18" charset="0"/>
                <a:cs typeface="Times New Roman" panose="02020603050405020304" pitchFamily="18" charset="0"/>
              </a:rPr>
              <a:t>?</a:t>
            </a:r>
            <a:endParaRPr lang="fr-FR" sz="1800" dirty="0">
              <a:effectLst/>
              <a:latin typeface="Aptos" panose="020B0004020202020204" pitchFamily="34" charset="0"/>
              <a:ea typeface="Aptos" panose="020B0004020202020204" pitchFamily="34" charset="0"/>
              <a:cs typeface="Times New Roman" panose="02020603050405020304" pitchFamily="18" charset="0"/>
            </a:endParaRPr>
          </a:p>
          <a:p>
            <a:r>
              <a:rPr lang="fr-FR" sz="1800" dirty="0">
                <a:effectLst/>
                <a:latin typeface="Aptos" panose="020B0004020202020204" pitchFamily="34" charset="0"/>
                <a:ea typeface="Aptos" panose="020B0004020202020204" pitchFamily="34" charset="0"/>
                <a:cs typeface="Aptos" panose="020B0004020202020204" pitchFamily="34" charset="0"/>
              </a:rPr>
              <a:t> </a:t>
            </a:r>
          </a:p>
          <a:p>
            <a:r>
              <a:rPr lang="fr-FR" sz="2400" dirty="0" err="1">
                <a:effectLst/>
                <a:latin typeface="Aptos" panose="020B0004020202020204" pitchFamily="34" charset="0"/>
                <a:ea typeface="Aptos" panose="020B0004020202020204" pitchFamily="34" charset="0"/>
                <a:cs typeface="Aptos" panose="020B0004020202020204" pitchFamily="34" charset="0"/>
              </a:rPr>
              <a:t>Hypotheses</a:t>
            </a:r>
            <a:endParaRPr lang="fr-FR" sz="2400" dirty="0">
              <a:effectLst/>
              <a:latin typeface="Aptos" panose="020B0004020202020204" pitchFamily="34" charset="0"/>
              <a:ea typeface="Aptos" panose="020B0004020202020204" pitchFamily="34" charset="0"/>
              <a:cs typeface="Aptos" panose="020B0004020202020204" pitchFamily="34" charset="0"/>
            </a:endParaRPr>
          </a:p>
          <a:p>
            <a:endParaRPr lang="fr-FR" sz="2400" dirty="0">
              <a:effectLst/>
              <a:latin typeface="Aptos" panose="020B0004020202020204" pitchFamily="34" charset="0"/>
              <a:ea typeface="Aptos" panose="020B0004020202020204" pitchFamily="34" charset="0"/>
              <a:cs typeface="Aptos" panose="020B0004020202020204" pitchFamily="34" charset="0"/>
            </a:endParaRPr>
          </a:p>
          <a:p>
            <a:pPr marL="342900" lvl="0" indent="-342900">
              <a:buFont typeface="Aptos" panose="020B0004020202020204" pitchFamily="34" charset="0"/>
              <a:buChar char="-"/>
            </a:pPr>
            <a:r>
              <a:rPr lang="fr-FR" sz="1800" dirty="0" err="1">
                <a:effectLst/>
                <a:latin typeface="Aptos" panose="020B0004020202020204" pitchFamily="34" charset="0"/>
                <a:ea typeface="Times New Roman" panose="02020603050405020304" pitchFamily="18" charset="0"/>
                <a:cs typeface="Times New Roman" panose="02020603050405020304" pitchFamily="18" charset="0"/>
              </a:rPr>
              <a:t>Response</a:t>
            </a:r>
            <a:r>
              <a:rPr lang="fr-FR" sz="1800" dirty="0">
                <a:effectLst/>
                <a:latin typeface="Aptos" panose="020B0004020202020204" pitchFamily="34" charset="0"/>
                <a:ea typeface="Times New Roman" panose="02020603050405020304" pitchFamily="18" charset="0"/>
                <a:cs typeface="Times New Roman" panose="02020603050405020304" pitchFamily="18" charset="0"/>
              </a:rPr>
              <a:t> to </a:t>
            </a:r>
            <a:r>
              <a:rPr lang="fr-FR" sz="1800" dirty="0" err="1">
                <a:effectLst/>
                <a:latin typeface="Aptos" panose="020B0004020202020204" pitchFamily="34" charset="0"/>
                <a:ea typeface="Times New Roman" panose="02020603050405020304" pitchFamily="18" charset="0"/>
                <a:cs typeface="Times New Roman" panose="02020603050405020304" pitchFamily="18" charset="0"/>
              </a:rPr>
              <a:t>tree</a:t>
            </a:r>
            <a:r>
              <a:rPr lang="fr-FR" sz="1800" dirty="0">
                <a:effectLst/>
                <a:latin typeface="Aptos" panose="020B0004020202020204" pitchFamily="34" charset="0"/>
                <a:ea typeface="Times New Roman" panose="02020603050405020304" pitchFamily="18" charset="0"/>
                <a:cs typeface="Times New Roman" panose="02020603050405020304" pitchFamily="18" charset="0"/>
              </a:rPr>
              <a:t> mixture </a:t>
            </a:r>
            <a:r>
              <a:rPr lang="fr-FR" sz="1800" dirty="0" err="1">
                <a:effectLst/>
                <a:latin typeface="Aptos" panose="020B0004020202020204" pitchFamily="34" charset="0"/>
                <a:ea typeface="Times New Roman" panose="02020603050405020304" pitchFamily="18" charset="0"/>
                <a:cs typeface="Times New Roman" panose="02020603050405020304" pitchFamily="18" charset="0"/>
              </a:rPr>
              <a:t>is</a:t>
            </a:r>
            <a:r>
              <a:rPr lang="fr-FR" sz="1800" dirty="0">
                <a:effectLst/>
                <a:latin typeface="Aptos" panose="020B0004020202020204" pitchFamily="34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fr-FR" sz="1800" dirty="0" err="1">
                <a:effectLst/>
                <a:latin typeface="Aptos" panose="020B0004020202020204" pitchFamily="34" charset="0"/>
                <a:ea typeface="Times New Roman" panose="02020603050405020304" pitchFamily="18" charset="0"/>
                <a:cs typeface="Times New Roman" panose="02020603050405020304" pitchFamily="18" charset="0"/>
              </a:rPr>
              <a:t>stronger</a:t>
            </a:r>
            <a:r>
              <a:rPr lang="fr-FR" sz="1800" dirty="0">
                <a:effectLst/>
                <a:latin typeface="Aptos" panose="020B0004020202020204" pitchFamily="34" charset="0"/>
                <a:ea typeface="Times New Roman" panose="02020603050405020304" pitchFamily="18" charset="0"/>
                <a:cs typeface="Times New Roman" panose="02020603050405020304" pitchFamily="18" charset="0"/>
              </a:rPr>
              <a:t> for </a:t>
            </a:r>
            <a:r>
              <a:rPr lang="fr-FR" sz="1800" dirty="0" err="1">
                <a:effectLst/>
                <a:latin typeface="Aptos" panose="020B0004020202020204" pitchFamily="34" charset="0"/>
                <a:ea typeface="Times New Roman" panose="02020603050405020304" pitchFamily="18" charset="0"/>
                <a:cs typeface="Times New Roman" panose="02020603050405020304" pitchFamily="18" charset="0"/>
              </a:rPr>
              <a:t>taxonomic</a:t>
            </a:r>
            <a:r>
              <a:rPr lang="fr-FR" sz="1800" dirty="0">
                <a:effectLst/>
                <a:latin typeface="Aptos" panose="020B0004020202020204" pitchFamily="34" charset="0"/>
                <a:ea typeface="Times New Roman" panose="02020603050405020304" pitchFamily="18" charset="0"/>
                <a:cs typeface="Times New Roman" panose="02020603050405020304" pitchFamily="18" charset="0"/>
              </a:rPr>
              <a:t> groups/</a:t>
            </a:r>
            <a:r>
              <a:rPr lang="fr-FR" sz="1800" dirty="0" err="1">
                <a:effectLst/>
                <a:latin typeface="Aptos" panose="020B0004020202020204" pitchFamily="34" charset="0"/>
                <a:ea typeface="Times New Roman" panose="02020603050405020304" pitchFamily="18" charset="0"/>
                <a:cs typeface="Times New Roman" panose="02020603050405020304" pitchFamily="18" charset="0"/>
              </a:rPr>
              <a:t>species</a:t>
            </a:r>
            <a:r>
              <a:rPr lang="fr-FR" sz="1800" dirty="0">
                <a:effectLst/>
                <a:latin typeface="Aptos" panose="020B0004020202020204" pitchFamily="34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fr-FR" sz="1800" dirty="0" err="1">
                <a:effectLst/>
                <a:latin typeface="Aptos" panose="020B0004020202020204" pitchFamily="34" charset="0"/>
                <a:ea typeface="Times New Roman" panose="02020603050405020304" pitchFamily="18" charset="0"/>
                <a:cs typeface="Times New Roman" panose="02020603050405020304" pitchFamily="18" charset="0"/>
              </a:rPr>
              <a:t>having</a:t>
            </a:r>
            <a:r>
              <a:rPr lang="fr-FR" sz="1800" dirty="0">
                <a:effectLst/>
                <a:latin typeface="Aptos" panose="020B0004020202020204" pitchFamily="34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fr-FR" sz="1800" dirty="0" err="1">
                <a:effectLst/>
                <a:latin typeface="Aptos" panose="020B0004020202020204" pitchFamily="34" charset="0"/>
                <a:ea typeface="Times New Roman" panose="02020603050405020304" pitchFamily="18" charset="0"/>
                <a:cs typeface="Times New Roman" panose="02020603050405020304" pitchFamily="18" charset="0"/>
              </a:rPr>
              <a:t>strong</a:t>
            </a:r>
            <a:r>
              <a:rPr lang="fr-FR" sz="1800" dirty="0">
                <a:effectLst/>
                <a:latin typeface="Aptos" panose="020B0004020202020204" pitchFamily="34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fr-FR" sz="1800" dirty="0" err="1">
                <a:effectLst/>
                <a:latin typeface="Aptos" panose="020B0004020202020204" pitchFamily="34" charset="0"/>
                <a:ea typeface="Times New Roman" panose="02020603050405020304" pitchFamily="18" charset="0"/>
                <a:cs typeface="Times New Roman" panose="02020603050405020304" pitchFamily="18" charset="0"/>
              </a:rPr>
              <a:t>affinity</a:t>
            </a:r>
            <a:r>
              <a:rPr lang="fr-FR" sz="1800" dirty="0">
                <a:effectLst/>
                <a:latin typeface="Aptos" panose="020B0004020202020204" pitchFamily="34" charset="0"/>
                <a:ea typeface="Times New Roman" panose="02020603050405020304" pitchFamily="18" charset="0"/>
                <a:cs typeface="Times New Roman" panose="02020603050405020304" pitchFamily="18" charset="0"/>
              </a:rPr>
              <a:t> for one </a:t>
            </a:r>
            <a:r>
              <a:rPr lang="fr-FR" sz="1800" dirty="0" err="1">
                <a:effectLst/>
                <a:latin typeface="Aptos" panose="020B0004020202020204" pitchFamily="34" charset="0"/>
                <a:ea typeface="Times New Roman" panose="02020603050405020304" pitchFamily="18" charset="0"/>
                <a:cs typeface="Times New Roman" panose="02020603050405020304" pitchFamily="18" charset="0"/>
              </a:rPr>
              <a:t>tree</a:t>
            </a:r>
            <a:r>
              <a:rPr lang="fr-FR" sz="1800" dirty="0">
                <a:effectLst/>
                <a:latin typeface="Aptos" panose="020B0004020202020204" pitchFamily="34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fr-FR" sz="1800" dirty="0" err="1">
                <a:effectLst/>
                <a:latin typeface="Aptos" panose="020B0004020202020204" pitchFamily="34" charset="0"/>
                <a:ea typeface="Times New Roman" panose="02020603050405020304" pitchFamily="18" charset="0"/>
                <a:cs typeface="Times New Roman" panose="02020603050405020304" pitchFamily="18" charset="0"/>
              </a:rPr>
              <a:t>species</a:t>
            </a:r>
            <a:r>
              <a:rPr lang="fr-FR" sz="1800" dirty="0">
                <a:effectLst/>
                <a:latin typeface="Aptos" panose="020B0004020202020204" pitchFamily="34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fr-FR" sz="1800" dirty="0" err="1">
                <a:effectLst/>
                <a:latin typeface="Aptos" panose="020B0004020202020204" pitchFamily="34" charset="0"/>
                <a:ea typeface="Times New Roman" panose="02020603050405020304" pitchFamily="18" charset="0"/>
                <a:cs typeface="Times New Roman" panose="02020603050405020304" pitchFamily="18" charset="0"/>
              </a:rPr>
              <a:t>only</a:t>
            </a:r>
            <a:r>
              <a:rPr lang="fr-FR" sz="1800" dirty="0">
                <a:effectLst/>
                <a:latin typeface="Aptos" panose="020B0004020202020204" pitchFamily="34" charset="0"/>
                <a:ea typeface="Times New Roman" panose="02020603050405020304" pitchFamily="18" charset="0"/>
                <a:cs typeface="Times New Roman" panose="02020603050405020304" pitchFamily="18" charset="0"/>
              </a:rPr>
              <a:t> (</a:t>
            </a:r>
            <a:r>
              <a:rPr lang="fr-FR" sz="1800" dirty="0" err="1">
                <a:effectLst/>
                <a:latin typeface="Aptos" panose="020B0004020202020204" pitchFamily="34" charset="0"/>
                <a:ea typeface="Times New Roman" panose="02020603050405020304" pitchFamily="18" charset="0"/>
                <a:cs typeface="Times New Roman" panose="02020603050405020304" pitchFamily="18" charset="0"/>
              </a:rPr>
              <a:t>eg</a:t>
            </a:r>
            <a:r>
              <a:rPr lang="fr-FR" sz="1800" dirty="0">
                <a:effectLst/>
                <a:latin typeface="Aptos" panose="020B0004020202020204" pitchFamily="34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fr-FR" sz="1800" dirty="0" err="1">
                <a:effectLst/>
                <a:latin typeface="Aptos" panose="020B0004020202020204" pitchFamily="34" charset="0"/>
                <a:ea typeface="Times New Roman" panose="02020603050405020304" pitchFamily="18" charset="0"/>
                <a:cs typeface="Times New Roman" panose="02020603050405020304" pitchFamily="18" charset="0"/>
              </a:rPr>
              <a:t>strongest</a:t>
            </a:r>
            <a:r>
              <a:rPr lang="fr-FR" sz="1800" dirty="0">
                <a:effectLst/>
                <a:latin typeface="Aptos" panose="020B0004020202020204" pitchFamily="34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fr-FR" sz="1800" dirty="0" err="1">
                <a:effectLst/>
                <a:latin typeface="Aptos" panose="020B0004020202020204" pitchFamily="34" charset="0"/>
                <a:ea typeface="Times New Roman" panose="02020603050405020304" pitchFamily="18" charset="0"/>
                <a:cs typeface="Times New Roman" panose="02020603050405020304" pitchFamily="18" charset="0"/>
              </a:rPr>
              <a:t>response</a:t>
            </a:r>
            <a:r>
              <a:rPr lang="fr-FR" sz="1800" dirty="0">
                <a:effectLst/>
                <a:latin typeface="Aptos" panose="020B0004020202020204" pitchFamily="34" charset="0"/>
                <a:ea typeface="Times New Roman" panose="02020603050405020304" pitchFamily="18" charset="0"/>
                <a:cs typeface="Times New Roman" panose="02020603050405020304" pitchFamily="18" charset="0"/>
              </a:rPr>
              <a:t> for </a:t>
            </a:r>
            <a:r>
              <a:rPr lang="fr-FR" sz="1800" dirty="0" err="1">
                <a:effectLst/>
                <a:latin typeface="Aptos" panose="020B0004020202020204" pitchFamily="34" charset="0"/>
                <a:ea typeface="Times New Roman" panose="02020603050405020304" pitchFamily="18" charset="0"/>
                <a:cs typeface="Times New Roman" panose="02020603050405020304" pitchFamily="18" charset="0"/>
              </a:rPr>
              <a:t>saproxylic</a:t>
            </a:r>
            <a:r>
              <a:rPr lang="fr-FR" sz="1800" dirty="0">
                <a:effectLst/>
                <a:latin typeface="Aptos" panose="020B0004020202020204" pitchFamily="34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fr-FR" dirty="0" err="1">
                <a:latin typeface="Aptos" panose="020B0004020202020204" pitchFamily="34" charset="0"/>
                <a:ea typeface="Times New Roman" panose="02020603050405020304" pitchFamily="18" charset="0"/>
                <a:cs typeface="Times New Roman" panose="02020603050405020304" pitchFamily="18" charset="0"/>
              </a:rPr>
              <a:t>beetles</a:t>
            </a:r>
            <a:r>
              <a:rPr lang="fr-FR" dirty="0">
                <a:latin typeface="Aptos" panose="020B0004020202020204" pitchFamily="34" charset="0"/>
                <a:ea typeface="Times New Roman" panose="02020603050405020304" pitchFamily="18" charset="0"/>
                <a:cs typeface="Times New Roman" panose="02020603050405020304" pitchFamily="18" charset="0"/>
              </a:rPr>
              <a:t>, </a:t>
            </a:r>
            <a:r>
              <a:rPr lang="fr-FR" dirty="0" err="1">
                <a:latin typeface="Aptos" panose="020B0004020202020204" pitchFamily="34" charset="0"/>
                <a:ea typeface="Times New Roman" panose="02020603050405020304" pitchFamily="18" charset="0"/>
                <a:cs typeface="Times New Roman" panose="02020603050405020304" pitchFamily="18" charset="0"/>
              </a:rPr>
              <a:t>intermediate</a:t>
            </a:r>
            <a:r>
              <a:rPr lang="fr-FR" dirty="0">
                <a:latin typeface="Aptos" panose="020B0004020202020204" pitchFamily="34" charset="0"/>
                <a:ea typeface="Times New Roman" panose="02020603050405020304" pitchFamily="18" charset="0"/>
                <a:cs typeface="Times New Roman" panose="02020603050405020304" pitchFamily="18" charset="0"/>
              </a:rPr>
              <a:t> for </a:t>
            </a:r>
            <a:r>
              <a:rPr lang="fr-FR" dirty="0" err="1">
                <a:latin typeface="Aptos" panose="020B0004020202020204" pitchFamily="34" charset="0"/>
                <a:ea typeface="Times New Roman" panose="02020603050405020304" pitchFamily="18" charset="0"/>
                <a:cs typeface="Times New Roman" panose="02020603050405020304" pitchFamily="18" charset="0"/>
              </a:rPr>
              <a:t>birds</a:t>
            </a:r>
            <a:r>
              <a:rPr lang="fr-FR" dirty="0">
                <a:latin typeface="Aptos" panose="020B0004020202020204" pitchFamily="34" charset="0"/>
                <a:ea typeface="Times New Roman" panose="02020603050405020304" pitchFamily="18" charset="0"/>
                <a:cs typeface="Times New Roman" panose="02020603050405020304" pitchFamily="18" charset="0"/>
              </a:rPr>
              <a:t>, </a:t>
            </a:r>
            <a:r>
              <a:rPr lang="fr-FR" dirty="0" err="1">
                <a:latin typeface="Aptos" panose="020B0004020202020204" pitchFamily="34" charset="0"/>
                <a:ea typeface="Times New Roman" panose="02020603050405020304" pitchFamily="18" charset="0"/>
                <a:cs typeface="Times New Roman" panose="02020603050405020304" pitchFamily="18" charset="0"/>
              </a:rPr>
              <a:t>lowest</a:t>
            </a:r>
            <a:r>
              <a:rPr lang="fr-FR" dirty="0">
                <a:latin typeface="Aptos" panose="020B0004020202020204" pitchFamily="34" charset="0"/>
                <a:ea typeface="Times New Roman" panose="02020603050405020304" pitchFamily="18" charset="0"/>
                <a:cs typeface="Times New Roman" panose="02020603050405020304" pitchFamily="18" charset="0"/>
              </a:rPr>
              <a:t> for </a:t>
            </a:r>
            <a:r>
              <a:rPr lang="fr-FR" dirty="0" err="1">
                <a:latin typeface="Aptos" panose="020B0004020202020204" pitchFamily="34" charset="0"/>
                <a:ea typeface="Times New Roman" panose="02020603050405020304" pitchFamily="18" charset="0"/>
                <a:cs typeface="Times New Roman" panose="02020603050405020304" pitchFamily="18" charset="0"/>
              </a:rPr>
              <a:t>ground</a:t>
            </a:r>
            <a:r>
              <a:rPr lang="fr-FR" dirty="0">
                <a:latin typeface="Aptos" panose="020B0004020202020204" pitchFamily="34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fr-FR" dirty="0" err="1">
                <a:latin typeface="Aptos" panose="020B0004020202020204" pitchFamily="34" charset="0"/>
                <a:ea typeface="Times New Roman" panose="02020603050405020304" pitchFamily="18" charset="0"/>
                <a:cs typeface="Times New Roman" panose="02020603050405020304" pitchFamily="18" charset="0"/>
              </a:rPr>
              <a:t>beetles</a:t>
            </a:r>
            <a:r>
              <a:rPr lang="fr-FR" dirty="0">
                <a:latin typeface="Aptos" panose="020B0004020202020204" pitchFamily="34" charset="0"/>
                <a:ea typeface="Times New Roman" panose="02020603050405020304" pitchFamily="18" charset="0"/>
                <a:cs typeface="Times New Roman" panose="02020603050405020304" pitchFamily="18" charset="0"/>
              </a:rPr>
              <a:t>)</a:t>
            </a:r>
          </a:p>
          <a:p>
            <a:pPr marL="342900" lvl="0" indent="-342900">
              <a:buFont typeface="Aptos" panose="020B0004020202020204" pitchFamily="34" charset="0"/>
              <a:buChar char="-"/>
            </a:pPr>
            <a:endParaRPr lang="fr-FR" sz="1800" dirty="0">
              <a:effectLst/>
              <a:latin typeface="Aptos" panose="020B0004020202020204" pitchFamily="34" charset="0"/>
              <a:ea typeface="Aptos" panose="020B0004020202020204" pitchFamily="34" charset="0"/>
              <a:cs typeface="Times New Roman" panose="02020603050405020304" pitchFamily="18" charset="0"/>
            </a:endParaRPr>
          </a:p>
          <a:p>
            <a:pPr marL="342900" lvl="0" indent="-342900">
              <a:buFont typeface="Aptos" panose="020B0004020202020204" pitchFamily="34" charset="0"/>
              <a:buChar char="-"/>
            </a:pPr>
            <a:r>
              <a:rPr lang="fr-FR" sz="1800" dirty="0" err="1">
                <a:effectLst/>
                <a:latin typeface="Aptos" panose="020B0004020202020204" pitchFamily="34" charset="0"/>
                <a:ea typeface="Times New Roman" panose="02020603050405020304" pitchFamily="18" charset="0"/>
                <a:cs typeface="Times New Roman" panose="02020603050405020304" pitchFamily="18" charset="0"/>
              </a:rPr>
              <a:t>Higher</a:t>
            </a:r>
            <a:r>
              <a:rPr lang="fr-FR" sz="1800" dirty="0">
                <a:effectLst/>
                <a:latin typeface="Aptos" panose="020B0004020202020204" pitchFamily="34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fr-FR" sz="1800" dirty="0" err="1">
                <a:effectLst/>
                <a:latin typeface="Aptos" panose="020B0004020202020204" pitchFamily="34" charset="0"/>
                <a:ea typeface="Times New Roman" panose="02020603050405020304" pitchFamily="18" charset="0"/>
                <a:cs typeface="Times New Roman" panose="02020603050405020304" pitchFamily="18" charset="0"/>
              </a:rPr>
              <a:t>diversity</a:t>
            </a:r>
            <a:r>
              <a:rPr lang="fr-FR" sz="1800" dirty="0">
                <a:effectLst/>
                <a:latin typeface="Aptos" panose="020B0004020202020204" pitchFamily="34" charset="0"/>
                <a:ea typeface="Times New Roman" panose="02020603050405020304" pitchFamily="18" charset="0"/>
                <a:cs typeface="Times New Roman" panose="02020603050405020304" pitchFamily="18" charset="0"/>
              </a:rPr>
              <a:t>/</a:t>
            </a:r>
            <a:r>
              <a:rPr lang="fr-FR" sz="1800" dirty="0" err="1">
                <a:effectLst/>
                <a:latin typeface="Aptos" panose="020B0004020202020204" pitchFamily="34" charset="0"/>
                <a:ea typeface="Times New Roman" panose="02020603050405020304" pitchFamily="18" charset="0"/>
                <a:cs typeface="Times New Roman" panose="02020603050405020304" pitchFamily="18" charset="0"/>
              </a:rPr>
              <a:t>abundance</a:t>
            </a:r>
            <a:r>
              <a:rPr lang="fr-FR" sz="1800" dirty="0">
                <a:effectLst/>
                <a:latin typeface="Aptos" panose="020B0004020202020204" pitchFamily="34" charset="0"/>
                <a:ea typeface="Times New Roman" panose="02020603050405020304" pitchFamily="18" charset="0"/>
                <a:cs typeface="Times New Roman" panose="02020603050405020304" pitchFamily="18" charset="0"/>
              </a:rPr>
              <a:t> in pure </a:t>
            </a:r>
            <a:r>
              <a:rPr lang="fr-FR" sz="1800" dirty="0" err="1">
                <a:effectLst/>
                <a:latin typeface="Aptos" panose="020B0004020202020204" pitchFamily="34" charset="0"/>
                <a:ea typeface="Times New Roman" panose="02020603050405020304" pitchFamily="18" charset="0"/>
                <a:cs typeface="Times New Roman" panose="02020603050405020304" pitchFamily="18" charset="0"/>
              </a:rPr>
              <a:t>oak</a:t>
            </a:r>
            <a:r>
              <a:rPr lang="fr-FR" sz="1800" dirty="0">
                <a:effectLst/>
                <a:latin typeface="Aptos" panose="020B0004020202020204" pitchFamily="34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fr-FR" sz="1800" dirty="0" err="1">
                <a:effectLst/>
                <a:latin typeface="Aptos" panose="020B0004020202020204" pitchFamily="34" charset="0"/>
                <a:ea typeface="Times New Roman" panose="02020603050405020304" pitchFamily="18" charset="0"/>
                <a:cs typeface="Times New Roman" panose="02020603050405020304" pitchFamily="18" charset="0"/>
              </a:rPr>
              <a:t>than</a:t>
            </a:r>
            <a:r>
              <a:rPr lang="fr-FR" sz="1800" dirty="0">
                <a:effectLst/>
                <a:latin typeface="Aptos" panose="020B0004020202020204" pitchFamily="34" charset="0"/>
                <a:ea typeface="Times New Roman" panose="02020603050405020304" pitchFamily="18" charset="0"/>
                <a:cs typeface="Times New Roman" panose="02020603050405020304" pitchFamily="18" charset="0"/>
              </a:rPr>
              <a:t> in pure pine stands (at least for </a:t>
            </a:r>
            <a:r>
              <a:rPr lang="fr-FR" sz="1800" dirty="0" err="1">
                <a:effectLst/>
                <a:latin typeface="Aptos" panose="020B0004020202020204" pitchFamily="34" charset="0"/>
                <a:ea typeface="Times New Roman" panose="02020603050405020304" pitchFamily="18" charset="0"/>
                <a:cs typeface="Times New Roman" panose="02020603050405020304" pitchFamily="18" charset="0"/>
              </a:rPr>
              <a:t>birds</a:t>
            </a:r>
            <a:r>
              <a:rPr lang="fr-FR" sz="1800" dirty="0">
                <a:effectLst/>
                <a:latin typeface="Aptos" panose="020B0004020202020204" pitchFamily="34" charset="0"/>
                <a:ea typeface="Times New Roman" panose="02020603050405020304" pitchFamily="18" charset="0"/>
                <a:cs typeface="Times New Roman" panose="02020603050405020304" pitchFamily="18" charset="0"/>
              </a:rPr>
              <a:t> and </a:t>
            </a:r>
            <a:r>
              <a:rPr lang="fr-FR" sz="1800" dirty="0" err="1">
                <a:effectLst/>
                <a:latin typeface="Aptos" panose="020B0004020202020204" pitchFamily="34" charset="0"/>
                <a:ea typeface="Times New Roman" panose="02020603050405020304" pitchFamily="18" charset="0"/>
                <a:cs typeface="Times New Roman" panose="02020603050405020304" pitchFamily="18" charset="0"/>
              </a:rPr>
              <a:t>saproxylic</a:t>
            </a:r>
            <a:r>
              <a:rPr lang="fr-FR" sz="1800" dirty="0">
                <a:effectLst/>
                <a:latin typeface="Aptos" panose="020B0004020202020204" pitchFamily="34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fr-FR" sz="1800" dirty="0" err="1">
                <a:effectLst/>
                <a:latin typeface="Aptos" panose="020B0004020202020204" pitchFamily="34" charset="0"/>
                <a:ea typeface="Times New Roman" panose="02020603050405020304" pitchFamily="18" charset="0"/>
                <a:cs typeface="Times New Roman" panose="02020603050405020304" pitchFamily="18" charset="0"/>
              </a:rPr>
              <a:t>beetles</a:t>
            </a:r>
            <a:r>
              <a:rPr lang="fr-FR" sz="1800" dirty="0">
                <a:effectLst/>
                <a:latin typeface="Aptos" panose="020B0004020202020204" pitchFamily="34" charset="0"/>
                <a:ea typeface="Times New Roman" panose="02020603050405020304" pitchFamily="18" charset="0"/>
                <a:cs typeface="Times New Roman" panose="02020603050405020304" pitchFamily="18" charset="0"/>
              </a:rPr>
              <a:t>)</a:t>
            </a:r>
          </a:p>
          <a:p>
            <a:pPr marL="342900" lvl="0" indent="-342900">
              <a:buFont typeface="Aptos" panose="020B0004020202020204" pitchFamily="34" charset="0"/>
              <a:buChar char="-"/>
            </a:pPr>
            <a:endParaRPr lang="fr-FR" sz="1800" dirty="0">
              <a:effectLst/>
              <a:latin typeface="Aptos" panose="020B0004020202020204" pitchFamily="34" charset="0"/>
              <a:ea typeface="Aptos" panose="020B0004020202020204" pitchFamily="34" charset="0"/>
              <a:cs typeface="Times New Roman" panose="02020603050405020304" pitchFamily="18" charset="0"/>
            </a:endParaRPr>
          </a:p>
          <a:p>
            <a:pPr marL="342900" lvl="0" indent="-342900">
              <a:buFont typeface="Aptos" panose="020B0004020202020204" pitchFamily="34" charset="0"/>
              <a:buChar char="-"/>
            </a:pPr>
            <a:r>
              <a:rPr lang="fr-FR" sz="1800" dirty="0">
                <a:effectLst/>
                <a:latin typeface="Aptos" panose="020B0004020202020204" pitchFamily="34" charset="0"/>
                <a:ea typeface="Times New Roman" panose="02020603050405020304" pitchFamily="18" charset="0"/>
                <a:cs typeface="Times New Roman" panose="02020603050405020304" pitchFamily="18" charset="0"/>
              </a:rPr>
              <a:t>Assemblages in mixed stands combine </a:t>
            </a:r>
            <a:r>
              <a:rPr lang="fr-FR" dirty="0" err="1">
                <a:latin typeface="Aptos" panose="020B0004020202020204" pitchFamily="34" charset="0"/>
                <a:ea typeface="Times New Roman" panose="02020603050405020304" pitchFamily="18" charset="0"/>
                <a:cs typeface="Times New Roman" panose="02020603050405020304" pitchFamily="18" charset="0"/>
              </a:rPr>
              <a:t>tree-generalist</a:t>
            </a:r>
            <a:r>
              <a:rPr lang="fr-FR" dirty="0">
                <a:latin typeface="Aptos" panose="020B0004020202020204" pitchFamily="34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fr-FR" dirty="0" err="1">
                <a:latin typeface="Aptos" panose="020B0004020202020204" pitchFamily="34" charset="0"/>
                <a:ea typeface="Times New Roman" panose="02020603050405020304" pitchFamily="18" charset="0"/>
                <a:cs typeface="Times New Roman" panose="02020603050405020304" pitchFamily="18" charset="0"/>
              </a:rPr>
              <a:t>species</a:t>
            </a:r>
            <a:r>
              <a:rPr lang="fr-FR" dirty="0">
                <a:latin typeface="Aptos" panose="020B0004020202020204" pitchFamily="34" charset="0"/>
                <a:ea typeface="Times New Roman" panose="02020603050405020304" pitchFamily="18" charset="0"/>
                <a:cs typeface="Times New Roman" panose="02020603050405020304" pitchFamily="18" charset="0"/>
              </a:rPr>
              <a:t> and </a:t>
            </a:r>
            <a:r>
              <a:rPr lang="fr-FR" dirty="0" err="1">
                <a:latin typeface="Aptos" panose="020B0004020202020204" pitchFamily="34" charset="0"/>
                <a:ea typeface="Times New Roman" panose="02020603050405020304" pitchFamily="18" charset="0"/>
                <a:cs typeface="Times New Roman" panose="02020603050405020304" pitchFamily="18" charset="0"/>
              </a:rPr>
              <a:t>only</a:t>
            </a:r>
            <a:r>
              <a:rPr lang="fr-FR" dirty="0">
                <a:latin typeface="Aptos" panose="020B0004020202020204" pitchFamily="34" charset="0"/>
                <a:ea typeface="Times New Roman" panose="02020603050405020304" pitchFamily="18" charset="0"/>
                <a:cs typeface="Times New Roman" panose="02020603050405020304" pitchFamily="18" charset="0"/>
              </a:rPr>
              <a:t> a </a:t>
            </a:r>
            <a:r>
              <a:rPr lang="fr-FR" dirty="0" err="1">
                <a:latin typeface="Aptos" panose="020B0004020202020204" pitchFamily="34" charset="0"/>
                <a:ea typeface="Times New Roman" panose="02020603050405020304" pitchFamily="18" charset="0"/>
                <a:cs typeface="Times New Roman" panose="02020603050405020304" pitchFamily="18" charset="0"/>
              </a:rPr>
              <a:t>subset</a:t>
            </a:r>
            <a:r>
              <a:rPr lang="fr-FR" dirty="0">
                <a:latin typeface="Aptos" panose="020B0004020202020204" pitchFamily="34" charset="0"/>
                <a:ea typeface="Times New Roman" panose="02020603050405020304" pitchFamily="18" charset="0"/>
                <a:cs typeface="Times New Roman" panose="02020603050405020304" pitchFamily="18" charset="0"/>
              </a:rPr>
              <a:t> of </a:t>
            </a:r>
            <a:r>
              <a:rPr lang="fr-FR" sz="1800" dirty="0" err="1">
                <a:effectLst/>
                <a:latin typeface="Aptos" panose="020B0004020202020204" pitchFamily="34" charset="0"/>
                <a:ea typeface="Times New Roman" panose="02020603050405020304" pitchFamily="18" charset="0"/>
                <a:cs typeface="Times New Roman" panose="02020603050405020304" pitchFamily="18" charset="0"/>
              </a:rPr>
              <a:t>tree</a:t>
            </a:r>
            <a:r>
              <a:rPr lang="fr-FR" dirty="0" err="1">
                <a:latin typeface="Aptos" panose="020B0004020202020204" pitchFamily="34" charset="0"/>
                <a:ea typeface="Times New Roman" panose="02020603050405020304" pitchFamily="18" charset="0"/>
                <a:cs typeface="Times New Roman" panose="02020603050405020304" pitchFamily="18" charset="0"/>
              </a:rPr>
              <a:t>-dependent</a:t>
            </a:r>
            <a:r>
              <a:rPr lang="fr-FR" dirty="0">
                <a:latin typeface="Aptos" panose="020B0004020202020204" pitchFamily="34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fr-FR" dirty="0" err="1">
                <a:latin typeface="Aptos" panose="020B0004020202020204" pitchFamily="34" charset="0"/>
                <a:ea typeface="Times New Roman" panose="02020603050405020304" pitchFamily="18" charset="0"/>
                <a:cs typeface="Times New Roman" panose="02020603050405020304" pitchFamily="18" charset="0"/>
              </a:rPr>
              <a:t>species</a:t>
            </a:r>
            <a:r>
              <a:rPr lang="fr-FR" dirty="0">
                <a:latin typeface="Aptos" panose="020B0004020202020204" pitchFamily="34" charset="0"/>
                <a:ea typeface="Times New Roman" panose="02020603050405020304" pitchFamily="18" charset="0"/>
                <a:cs typeface="Times New Roman" panose="02020603050405020304" pitchFamily="18" charset="0"/>
              </a:rPr>
              <a:t>, </a:t>
            </a:r>
            <a:r>
              <a:rPr lang="fr-FR" dirty="0" err="1">
                <a:latin typeface="Aptos" panose="020B0004020202020204" pitchFamily="34" charset="0"/>
                <a:ea typeface="Times New Roman" panose="02020603050405020304" pitchFamily="18" charset="0"/>
                <a:cs typeface="Times New Roman" panose="02020603050405020304" pitchFamily="18" charset="0"/>
              </a:rPr>
              <a:t>with</a:t>
            </a:r>
            <a:r>
              <a:rPr lang="fr-FR" dirty="0">
                <a:latin typeface="Aptos" panose="020B0004020202020204" pitchFamily="34" charset="0"/>
                <a:ea typeface="Times New Roman" panose="02020603050405020304" pitchFamily="18" charset="0"/>
                <a:cs typeface="Times New Roman" panose="02020603050405020304" pitchFamily="18" charset="0"/>
              </a:rPr>
              <a:t> few or none </a:t>
            </a:r>
            <a:r>
              <a:rPr lang="fr-FR" dirty="0" err="1">
                <a:latin typeface="Aptos" panose="020B0004020202020204" pitchFamily="34" charset="0"/>
                <a:ea typeface="Times New Roman" panose="02020603050405020304" pitchFamily="18" charset="0"/>
                <a:cs typeface="Times New Roman" panose="02020603050405020304" pitchFamily="18" charset="0"/>
              </a:rPr>
              <a:t>species</a:t>
            </a:r>
            <a:r>
              <a:rPr lang="fr-FR" dirty="0">
                <a:latin typeface="Aptos" panose="020B0004020202020204" pitchFamily="34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fr-FR" dirty="0" err="1">
                <a:latin typeface="Aptos" panose="020B0004020202020204" pitchFamily="34" charset="0"/>
                <a:ea typeface="Times New Roman" panose="02020603050405020304" pitchFamily="18" charset="0"/>
                <a:cs typeface="Times New Roman" panose="02020603050405020304" pitchFamily="18" charset="0"/>
              </a:rPr>
              <a:t>favoured</a:t>
            </a:r>
            <a:r>
              <a:rPr lang="fr-FR" dirty="0">
                <a:latin typeface="Aptos" panose="020B0004020202020204" pitchFamily="34" charset="0"/>
                <a:ea typeface="Times New Roman" panose="02020603050405020304" pitchFamily="18" charset="0"/>
                <a:cs typeface="Times New Roman" panose="02020603050405020304" pitchFamily="18" charset="0"/>
              </a:rPr>
              <a:t> by the </a:t>
            </a:r>
            <a:r>
              <a:rPr lang="fr-FR" dirty="0" err="1">
                <a:latin typeface="Aptos" panose="020B0004020202020204" pitchFamily="34" charset="0"/>
                <a:ea typeface="Times New Roman" panose="02020603050405020304" pitchFamily="18" charset="0"/>
                <a:cs typeface="Times New Roman" panose="02020603050405020304" pitchFamily="18" charset="0"/>
              </a:rPr>
              <a:t>mixing</a:t>
            </a:r>
            <a:r>
              <a:rPr lang="fr-FR" dirty="0">
                <a:latin typeface="Aptos" panose="020B0004020202020204" pitchFamily="34" charset="0"/>
                <a:ea typeface="Times New Roman" panose="02020603050405020304" pitchFamily="18" charset="0"/>
                <a:cs typeface="Times New Roman" panose="02020603050405020304" pitchFamily="18" charset="0"/>
              </a:rPr>
              <a:t> (</a:t>
            </a:r>
            <a:r>
              <a:rPr lang="fr-FR" dirty="0" err="1">
                <a:latin typeface="Aptos" panose="020B0004020202020204" pitchFamily="34" charset="0"/>
                <a:ea typeface="Times New Roman" panose="02020603050405020304" pitchFamily="18" charset="0"/>
                <a:cs typeface="Times New Roman" panose="02020603050405020304" pitchFamily="18" charset="0"/>
              </a:rPr>
              <a:t>leading</a:t>
            </a:r>
            <a:r>
              <a:rPr lang="fr-FR" dirty="0">
                <a:latin typeface="Aptos" panose="020B0004020202020204" pitchFamily="34" charset="0"/>
                <a:ea typeface="Times New Roman" panose="02020603050405020304" pitchFamily="18" charset="0"/>
                <a:cs typeface="Times New Roman" panose="02020603050405020304" pitchFamily="18" charset="0"/>
              </a:rPr>
              <a:t> to </a:t>
            </a:r>
            <a:r>
              <a:rPr lang="fr-FR" dirty="0" err="1">
                <a:latin typeface="Aptos" panose="020B0004020202020204" pitchFamily="34" charset="0"/>
                <a:ea typeface="Times New Roman" panose="02020603050405020304" pitchFamily="18" charset="0"/>
                <a:cs typeface="Times New Roman" panose="02020603050405020304" pitchFamily="18" charset="0"/>
              </a:rPr>
              <a:t>linear</a:t>
            </a:r>
            <a:r>
              <a:rPr lang="fr-FR" dirty="0">
                <a:latin typeface="Aptos" panose="020B0004020202020204" pitchFamily="34" charset="0"/>
                <a:ea typeface="Times New Roman" panose="02020603050405020304" pitchFamily="18" charset="0"/>
                <a:cs typeface="Times New Roman" panose="02020603050405020304" pitchFamily="18" charset="0"/>
              </a:rPr>
              <a:t> or </a:t>
            </a:r>
            <a:r>
              <a:rPr lang="fr-FR" dirty="0" err="1">
                <a:latin typeface="Aptos" panose="020B0004020202020204" pitchFamily="34" charset="0"/>
                <a:ea typeface="Times New Roman" panose="02020603050405020304" pitchFamily="18" charset="0"/>
                <a:cs typeface="Times New Roman" panose="02020603050405020304" pitchFamily="18" charset="0"/>
              </a:rPr>
              <a:t>hump-shaped</a:t>
            </a:r>
            <a:r>
              <a:rPr lang="fr-FR" dirty="0">
                <a:latin typeface="Aptos" panose="020B0004020202020204" pitchFamily="34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fr-FR" dirty="0" err="1">
                <a:latin typeface="Aptos" panose="020B0004020202020204" pitchFamily="34" charset="0"/>
                <a:ea typeface="Times New Roman" panose="02020603050405020304" pitchFamily="18" charset="0"/>
                <a:cs typeface="Times New Roman" panose="02020603050405020304" pitchFamily="18" charset="0"/>
              </a:rPr>
              <a:t>relationships</a:t>
            </a:r>
            <a:r>
              <a:rPr lang="fr-FR" dirty="0">
                <a:latin typeface="Aptos" panose="020B0004020202020204" pitchFamily="34" charset="0"/>
                <a:ea typeface="Times New Roman" panose="02020603050405020304" pitchFamily="18" charset="0"/>
                <a:cs typeface="Times New Roman" panose="02020603050405020304" pitchFamily="18" charset="0"/>
              </a:rPr>
              <a:t>)</a:t>
            </a:r>
            <a:endParaRPr lang="fr-FR" sz="1800" dirty="0">
              <a:effectLst/>
              <a:latin typeface="Aptos" panose="020B0004020202020204" pitchFamily="34" charset="0"/>
              <a:ea typeface="Aptos" panose="020B0004020202020204" pitchFamily="34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613076561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Rectangle 10">
            <a:extLst>
              <a:ext uri="{FF2B5EF4-FFF2-40B4-BE49-F238E27FC236}">
                <a16:creationId xmlns:a16="http://schemas.microsoft.com/office/drawing/2014/main" id="{7C39E3C8-22BF-4F4A-9F2D-452D9E47CD2C}"/>
              </a:ext>
            </a:extLst>
          </p:cNvPr>
          <p:cNvSpPr/>
          <p:nvPr/>
        </p:nvSpPr>
        <p:spPr>
          <a:xfrm>
            <a:off x="0" y="-3652"/>
            <a:ext cx="12192000" cy="1306286"/>
          </a:xfrm>
          <a:prstGeom prst="rect">
            <a:avLst/>
          </a:prstGeom>
          <a:gradFill flip="none" rotWithShape="1">
            <a:gsLst>
              <a:gs pos="0">
                <a:srgbClr val="004537"/>
              </a:gs>
              <a:gs pos="100000">
                <a:srgbClr val="1F9032"/>
              </a:gs>
            </a:gsLst>
            <a:lin ang="10200000" scaled="0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12" name="ZoneTexte 11">
            <a:extLst>
              <a:ext uri="{FF2B5EF4-FFF2-40B4-BE49-F238E27FC236}">
                <a16:creationId xmlns:a16="http://schemas.microsoft.com/office/drawing/2014/main" id="{132192D3-4B3B-844F-BACF-523380D2E796}"/>
              </a:ext>
            </a:extLst>
          </p:cNvPr>
          <p:cNvSpPr txBox="1"/>
          <p:nvPr/>
        </p:nvSpPr>
        <p:spPr>
          <a:xfrm>
            <a:off x="0" y="34924"/>
            <a:ext cx="12192000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4000" b="1" dirty="0">
                <a:solidFill>
                  <a:schemeClr val="bg1"/>
                </a:solidFill>
                <a:latin typeface="Poppins" panose="02000000000000000000" pitchFamily="2" charset="0"/>
                <a:cs typeface="Poppins" panose="02000000000000000000" pitchFamily="2" charset="0"/>
              </a:rPr>
              <a:t>Sampling design</a:t>
            </a:r>
          </a:p>
        </p:txBody>
      </p:sp>
      <p:sp>
        <p:nvSpPr>
          <p:cNvPr id="2" name="Espace réservé du numéro de diapositive 1">
            <a:extLst>
              <a:ext uri="{FF2B5EF4-FFF2-40B4-BE49-F238E27FC236}">
                <a16:creationId xmlns:a16="http://schemas.microsoft.com/office/drawing/2014/main" id="{C906F80A-B3E0-0198-9799-6C7D9EDBA55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7E51662-EAF4-4F13-861F-8A695F40F4A6}" type="slidenum">
              <a:rPr lang="fr-FR" smtClean="0"/>
              <a:t>6</a:t>
            </a:fld>
            <a:endParaRPr lang="fr-FR"/>
          </a:p>
        </p:txBody>
      </p:sp>
      <p:pic>
        <p:nvPicPr>
          <p:cNvPr id="4098" name="Picture 2">
            <a:extLst>
              <a:ext uri="{FF2B5EF4-FFF2-40B4-BE49-F238E27FC236}">
                <a16:creationId xmlns:a16="http://schemas.microsoft.com/office/drawing/2014/main" id="{24AAD834-C69E-72E0-13C2-A736A912EF3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17661" y="1980947"/>
            <a:ext cx="4633633" cy="426539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" name="ZoneTexte 3">
            <a:extLst>
              <a:ext uri="{FF2B5EF4-FFF2-40B4-BE49-F238E27FC236}">
                <a16:creationId xmlns:a16="http://schemas.microsoft.com/office/drawing/2014/main" id="{5CE28F9C-FEEA-B20F-FE38-CA3B5219072F}"/>
              </a:ext>
            </a:extLst>
          </p:cNvPr>
          <p:cNvSpPr txBox="1"/>
          <p:nvPr/>
        </p:nvSpPr>
        <p:spPr>
          <a:xfrm>
            <a:off x="5081868" y="2196824"/>
            <a:ext cx="6992471" cy="397031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fr-FR" dirty="0"/>
              <a:t>Location: Orléans </a:t>
            </a:r>
            <a:r>
              <a:rPr lang="fr-FR" dirty="0" err="1"/>
              <a:t>forest</a:t>
            </a:r>
            <a:r>
              <a:rPr lang="fr-FR" dirty="0"/>
              <a:t> (Lorris massif)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fr-FR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fr-FR" dirty="0"/>
              <a:t>23 mature stands </a:t>
            </a:r>
            <a:r>
              <a:rPr lang="fr-FR" dirty="0" err="1"/>
              <a:t>dominated</a:t>
            </a:r>
            <a:r>
              <a:rPr lang="fr-FR" dirty="0"/>
              <a:t> by </a:t>
            </a:r>
            <a:r>
              <a:rPr lang="fr-FR" dirty="0" err="1"/>
              <a:t>oaks</a:t>
            </a:r>
            <a:r>
              <a:rPr lang="fr-FR" dirty="0"/>
              <a:t> (&gt; 60-yr) and/or pines (&gt;40-yr)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fr-FR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fr-FR" dirty="0"/>
              <a:t>Gradient mixture </a:t>
            </a:r>
            <a:r>
              <a:rPr lang="fr-FR" dirty="0" err="1"/>
              <a:t>smoothly</a:t>
            </a:r>
            <a:r>
              <a:rPr lang="fr-FR" dirty="0"/>
              <a:t> </a:t>
            </a:r>
            <a:r>
              <a:rPr lang="fr-FR" dirty="0" err="1"/>
              <a:t>varying</a:t>
            </a:r>
            <a:r>
              <a:rPr lang="fr-FR" dirty="0"/>
              <a:t> </a:t>
            </a:r>
            <a:r>
              <a:rPr lang="fr-FR" dirty="0" err="1"/>
              <a:t>from</a:t>
            </a:r>
            <a:r>
              <a:rPr lang="fr-FR" dirty="0"/>
              <a:t> 0 to 100%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fr-FR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fr-FR" dirty="0"/>
              <a:t>Four plots per stand </a:t>
            </a:r>
            <a:r>
              <a:rPr lang="fr-FR" dirty="0" err="1"/>
              <a:t>with</a:t>
            </a:r>
            <a:r>
              <a:rPr lang="fr-FR" dirty="0"/>
              <a:t> four basal area </a:t>
            </a:r>
            <a:r>
              <a:rPr lang="fr-FR" dirty="0" err="1"/>
              <a:t>measures</a:t>
            </a:r>
            <a:r>
              <a:rPr lang="fr-FR" dirty="0"/>
              <a:t> per plot</a:t>
            </a:r>
          </a:p>
          <a:p>
            <a:endParaRPr lang="fr-FR" dirty="0"/>
          </a:p>
          <a:p>
            <a:r>
              <a:rPr lang="fr-FR" dirty="0"/>
              <a:t>Habitat variables </a:t>
            </a:r>
            <a:r>
              <a:rPr lang="fr-FR" dirty="0" err="1"/>
              <a:t>defined</a:t>
            </a:r>
            <a:r>
              <a:rPr lang="fr-FR" dirty="0"/>
              <a:t> at the plot </a:t>
            </a:r>
            <a:r>
              <a:rPr lang="fr-FR" dirty="0" err="1"/>
              <a:t>scale</a:t>
            </a:r>
            <a:r>
              <a:rPr lang="fr-FR" dirty="0"/>
              <a:t> (1.8 ha)</a:t>
            </a:r>
          </a:p>
          <a:p>
            <a:pPr marL="285750" indent="-285750">
              <a:buFontTx/>
              <a:buChar char="-"/>
            </a:pPr>
            <a:r>
              <a:rPr lang="fr-FR" dirty="0"/>
              <a:t>Basal area (G) all </a:t>
            </a:r>
            <a:r>
              <a:rPr lang="fr-FR" dirty="0" err="1"/>
              <a:t>tree</a:t>
            </a:r>
            <a:r>
              <a:rPr lang="fr-FR" dirty="0"/>
              <a:t> </a:t>
            </a:r>
            <a:r>
              <a:rPr lang="fr-FR" dirty="0" err="1"/>
              <a:t>species</a:t>
            </a:r>
            <a:r>
              <a:rPr lang="fr-FR" dirty="0"/>
              <a:t> (90% </a:t>
            </a:r>
            <a:r>
              <a:rPr lang="fr-FR" dirty="0" err="1"/>
              <a:t>oaks</a:t>
            </a:r>
            <a:r>
              <a:rPr lang="fr-FR" dirty="0"/>
              <a:t> or pines)</a:t>
            </a:r>
          </a:p>
          <a:p>
            <a:pPr marL="285750" indent="-285750">
              <a:buFontTx/>
              <a:buChar char="-"/>
            </a:pPr>
            <a:r>
              <a:rPr lang="fr-FR" dirty="0"/>
              <a:t>% mixture as % </a:t>
            </a:r>
            <a:r>
              <a:rPr lang="fr-FR" dirty="0" err="1"/>
              <a:t>oak</a:t>
            </a:r>
            <a:r>
              <a:rPr lang="fr-FR" dirty="0"/>
              <a:t> vs </a:t>
            </a:r>
            <a:r>
              <a:rPr lang="fr-FR" dirty="0" err="1"/>
              <a:t>pin+oak</a:t>
            </a:r>
            <a:endParaRPr lang="fr-FR" dirty="0"/>
          </a:p>
          <a:p>
            <a:endParaRPr lang="fr-FR" dirty="0"/>
          </a:p>
          <a:p>
            <a:r>
              <a:rPr lang="fr-FR" dirty="0" err="1"/>
              <a:t>Except</a:t>
            </a:r>
            <a:r>
              <a:rPr lang="fr-FR" dirty="0"/>
              <a:t> for </a:t>
            </a:r>
            <a:r>
              <a:rPr lang="fr-FR" dirty="0" err="1"/>
              <a:t>birds</a:t>
            </a:r>
            <a:r>
              <a:rPr lang="fr-FR" dirty="0"/>
              <a:t> (plots </a:t>
            </a:r>
            <a:r>
              <a:rPr lang="fr-FR" dirty="0" err="1"/>
              <a:t>displaced</a:t>
            </a:r>
            <a:r>
              <a:rPr lang="fr-FR" dirty="0"/>
              <a:t>): </a:t>
            </a:r>
          </a:p>
          <a:p>
            <a:r>
              <a:rPr lang="fr-FR" dirty="0"/>
              <a:t>- % mixture as % pixels over a 70-m radius (IGN </a:t>
            </a:r>
            <a:r>
              <a:rPr lang="fr-FR" dirty="0" err="1"/>
              <a:t>aerial</a:t>
            </a:r>
            <a:r>
              <a:rPr lang="fr-FR" dirty="0"/>
              <a:t> photographies)  </a:t>
            </a:r>
          </a:p>
        </p:txBody>
      </p:sp>
    </p:spTree>
    <p:extLst>
      <p:ext uri="{BB962C8B-B14F-4D97-AF65-F5344CB8AC3E}">
        <p14:creationId xmlns:p14="http://schemas.microsoft.com/office/powerpoint/2010/main" val="3738818135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Rectangle 10">
            <a:extLst>
              <a:ext uri="{FF2B5EF4-FFF2-40B4-BE49-F238E27FC236}">
                <a16:creationId xmlns:a16="http://schemas.microsoft.com/office/drawing/2014/main" id="{7C39E3C8-22BF-4F4A-9F2D-452D9E47CD2C}"/>
              </a:ext>
            </a:extLst>
          </p:cNvPr>
          <p:cNvSpPr/>
          <p:nvPr/>
        </p:nvSpPr>
        <p:spPr>
          <a:xfrm>
            <a:off x="0" y="-3652"/>
            <a:ext cx="12192000" cy="1306286"/>
          </a:xfrm>
          <a:prstGeom prst="rect">
            <a:avLst/>
          </a:prstGeom>
          <a:gradFill flip="none" rotWithShape="1">
            <a:gsLst>
              <a:gs pos="0">
                <a:srgbClr val="004537"/>
              </a:gs>
              <a:gs pos="100000">
                <a:srgbClr val="1F9032"/>
              </a:gs>
            </a:gsLst>
            <a:lin ang="10200000" scaled="0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12" name="ZoneTexte 11">
            <a:extLst>
              <a:ext uri="{FF2B5EF4-FFF2-40B4-BE49-F238E27FC236}">
                <a16:creationId xmlns:a16="http://schemas.microsoft.com/office/drawing/2014/main" id="{132192D3-4B3B-844F-BACF-523380D2E796}"/>
              </a:ext>
            </a:extLst>
          </p:cNvPr>
          <p:cNvSpPr txBox="1"/>
          <p:nvPr/>
        </p:nvSpPr>
        <p:spPr>
          <a:xfrm>
            <a:off x="0" y="34924"/>
            <a:ext cx="12192000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4000" b="1" dirty="0" err="1">
                <a:solidFill>
                  <a:schemeClr val="bg1"/>
                </a:solidFill>
                <a:latin typeface="Poppins" panose="02000000000000000000" pitchFamily="2" charset="0"/>
                <a:cs typeface="Poppins" panose="02000000000000000000" pitchFamily="2" charset="0"/>
              </a:rPr>
              <a:t>Biodiversity</a:t>
            </a:r>
            <a:r>
              <a:rPr lang="fr-FR" sz="4000" b="1" dirty="0">
                <a:solidFill>
                  <a:schemeClr val="bg1"/>
                </a:solidFill>
                <a:latin typeface="Poppins" panose="02000000000000000000" pitchFamily="2" charset="0"/>
                <a:cs typeface="Poppins" panose="02000000000000000000" pitchFamily="2" charset="0"/>
              </a:rPr>
              <a:t> sampling</a:t>
            </a:r>
          </a:p>
        </p:txBody>
      </p:sp>
      <p:sp>
        <p:nvSpPr>
          <p:cNvPr id="2" name="Espace réservé du numéro de diapositive 1">
            <a:extLst>
              <a:ext uri="{FF2B5EF4-FFF2-40B4-BE49-F238E27FC236}">
                <a16:creationId xmlns:a16="http://schemas.microsoft.com/office/drawing/2014/main" id="{C906F80A-B3E0-0198-9799-6C7D9EDBA55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7E51662-EAF4-4F13-861F-8A695F40F4A6}" type="slidenum">
              <a:rPr lang="fr-FR" smtClean="0"/>
              <a:t>7</a:t>
            </a:fld>
            <a:endParaRPr lang="fr-FR"/>
          </a:p>
        </p:txBody>
      </p:sp>
      <p:sp>
        <p:nvSpPr>
          <p:cNvPr id="4" name="ZoneTexte 3">
            <a:extLst>
              <a:ext uri="{FF2B5EF4-FFF2-40B4-BE49-F238E27FC236}">
                <a16:creationId xmlns:a16="http://schemas.microsoft.com/office/drawing/2014/main" id="{5CE28F9C-FEEA-B20F-FE38-CA3B5219072F}"/>
              </a:ext>
            </a:extLst>
          </p:cNvPr>
          <p:cNvSpPr txBox="1"/>
          <p:nvPr/>
        </p:nvSpPr>
        <p:spPr>
          <a:xfrm>
            <a:off x="662268" y="1829272"/>
            <a:ext cx="6992471" cy="507831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dirty="0" err="1"/>
              <a:t>Birds</a:t>
            </a:r>
            <a:endParaRPr lang="fr-FR" dirty="0"/>
          </a:p>
          <a:p>
            <a:pPr marL="285750" indent="-285750">
              <a:buFontTx/>
              <a:buChar char="-"/>
            </a:pPr>
            <a:r>
              <a:rPr lang="fr-FR" dirty="0"/>
              <a:t>All stands </a:t>
            </a:r>
            <a:r>
              <a:rPr lang="fr-FR" dirty="0" err="1"/>
              <a:t>with</a:t>
            </a:r>
            <a:r>
              <a:rPr lang="fr-FR" dirty="0"/>
              <a:t> 3 sites per stand</a:t>
            </a:r>
          </a:p>
          <a:p>
            <a:pPr marL="285750" indent="-285750">
              <a:buFontTx/>
              <a:buChar char="-"/>
            </a:pPr>
            <a:r>
              <a:rPr lang="fr-FR" dirty="0"/>
              <a:t>3 20-min </a:t>
            </a:r>
            <a:r>
              <a:rPr lang="fr-FR" dirty="0" err="1"/>
              <a:t>counts</a:t>
            </a:r>
            <a:r>
              <a:rPr lang="fr-FR" dirty="0"/>
              <a:t> per site (April-June) in 2010 </a:t>
            </a:r>
            <a:r>
              <a:rPr lang="fr-FR" dirty="0" err="1"/>
              <a:t>done</a:t>
            </a:r>
            <a:r>
              <a:rPr lang="fr-FR" dirty="0"/>
              <a:t> by 3 </a:t>
            </a:r>
            <a:r>
              <a:rPr lang="fr-FR" dirty="0" err="1"/>
              <a:t>observers</a:t>
            </a:r>
            <a:endParaRPr lang="fr-FR" dirty="0"/>
          </a:p>
          <a:p>
            <a:pPr marL="285750" indent="-285750">
              <a:buFontTx/>
              <a:buChar char="-"/>
            </a:pPr>
            <a:r>
              <a:rPr lang="fr-FR" dirty="0"/>
              <a:t>All </a:t>
            </a:r>
            <a:r>
              <a:rPr lang="fr-FR" dirty="0" err="1"/>
              <a:t>birds</a:t>
            </a:r>
            <a:r>
              <a:rPr lang="fr-FR" dirty="0"/>
              <a:t> </a:t>
            </a:r>
            <a:r>
              <a:rPr lang="fr-FR" dirty="0" err="1"/>
              <a:t>recorded</a:t>
            </a:r>
            <a:r>
              <a:rPr lang="fr-FR" dirty="0"/>
              <a:t> in a 70-m radius</a:t>
            </a:r>
          </a:p>
          <a:p>
            <a:pPr marL="285750" indent="-285750">
              <a:buFontTx/>
              <a:buChar char="-"/>
            </a:pPr>
            <a:r>
              <a:rPr lang="fr-FR" dirty="0"/>
              <a:t>Final data set: 69 point </a:t>
            </a:r>
            <a:r>
              <a:rPr lang="fr-FR" dirty="0" err="1"/>
              <a:t>counts</a:t>
            </a:r>
            <a:r>
              <a:rPr lang="fr-FR" dirty="0"/>
              <a:t> for 23 stands</a:t>
            </a:r>
          </a:p>
          <a:p>
            <a:pPr marL="285750" indent="-285750">
              <a:buFontTx/>
              <a:buChar char="-"/>
            </a:pPr>
            <a:r>
              <a:rPr lang="fr-FR" dirty="0" err="1"/>
              <a:t>Species</a:t>
            </a:r>
            <a:r>
              <a:rPr lang="fr-FR" dirty="0"/>
              <a:t> </a:t>
            </a:r>
            <a:r>
              <a:rPr lang="fr-FR" dirty="0" err="1"/>
              <a:t>abundance</a:t>
            </a:r>
            <a:r>
              <a:rPr lang="fr-FR" dirty="0"/>
              <a:t>=maximum </a:t>
            </a:r>
            <a:r>
              <a:rPr lang="fr-FR" dirty="0" err="1"/>
              <a:t>number</a:t>
            </a:r>
            <a:r>
              <a:rPr lang="fr-FR" dirty="0"/>
              <a:t> of </a:t>
            </a:r>
            <a:r>
              <a:rPr lang="fr-FR" dirty="0" err="1"/>
              <a:t>individuals</a:t>
            </a:r>
            <a:endParaRPr lang="fr-FR" dirty="0"/>
          </a:p>
          <a:p>
            <a:pPr marL="285750" indent="-285750">
              <a:buFontTx/>
              <a:buChar char="-"/>
            </a:pPr>
            <a:endParaRPr lang="fr-FR" dirty="0"/>
          </a:p>
          <a:p>
            <a:r>
              <a:rPr lang="fr-FR" dirty="0"/>
              <a:t>Ground </a:t>
            </a:r>
            <a:r>
              <a:rPr lang="fr-FR" dirty="0" err="1"/>
              <a:t>beetles</a:t>
            </a:r>
            <a:endParaRPr lang="fr-FR" dirty="0"/>
          </a:p>
          <a:p>
            <a:pPr marL="285750" indent="-285750">
              <a:buFontTx/>
              <a:buChar char="-"/>
            </a:pPr>
            <a:r>
              <a:rPr lang="fr-FR" dirty="0" err="1"/>
              <a:t>Subset</a:t>
            </a:r>
            <a:r>
              <a:rPr lang="fr-FR" dirty="0"/>
              <a:t> of 18 stands </a:t>
            </a:r>
            <a:r>
              <a:rPr lang="fr-FR" dirty="0" err="1"/>
              <a:t>with</a:t>
            </a:r>
            <a:r>
              <a:rPr lang="fr-FR" dirty="0"/>
              <a:t> 100 </a:t>
            </a:r>
            <a:r>
              <a:rPr lang="fr-FR" dirty="0" err="1"/>
              <a:t>pitfall</a:t>
            </a:r>
            <a:r>
              <a:rPr lang="fr-FR" dirty="0"/>
              <a:t> traps</a:t>
            </a:r>
          </a:p>
          <a:p>
            <a:pPr marL="285750" indent="-285750">
              <a:buFontTx/>
              <a:buChar char="-"/>
            </a:pPr>
            <a:r>
              <a:rPr lang="fr-FR" dirty="0"/>
              <a:t>6 </a:t>
            </a:r>
            <a:r>
              <a:rPr lang="fr-FR" dirty="0" err="1"/>
              <a:t>monthly</a:t>
            </a:r>
            <a:r>
              <a:rPr lang="fr-FR" dirty="0"/>
              <a:t> relevés </a:t>
            </a:r>
            <a:r>
              <a:rPr lang="fr-FR" dirty="0" err="1"/>
              <a:t>from</a:t>
            </a:r>
            <a:r>
              <a:rPr lang="fr-FR" dirty="0"/>
              <a:t> </a:t>
            </a:r>
            <a:r>
              <a:rPr lang="fr-FR" dirty="0" err="1"/>
              <a:t>mid</a:t>
            </a:r>
            <a:r>
              <a:rPr lang="fr-FR" dirty="0"/>
              <a:t>-April 14 to </a:t>
            </a:r>
            <a:r>
              <a:rPr lang="fr-FR" dirty="0" err="1"/>
              <a:t>mid-October</a:t>
            </a:r>
            <a:r>
              <a:rPr lang="fr-FR" dirty="0"/>
              <a:t> 2009</a:t>
            </a:r>
          </a:p>
          <a:p>
            <a:pPr marL="285750" indent="-285750">
              <a:buFontTx/>
              <a:buChar char="-"/>
            </a:pPr>
            <a:r>
              <a:rPr lang="fr-FR" dirty="0"/>
              <a:t>Data </a:t>
            </a:r>
            <a:r>
              <a:rPr lang="fr-FR" dirty="0" err="1"/>
              <a:t>selected</a:t>
            </a:r>
            <a:r>
              <a:rPr lang="fr-FR" dirty="0"/>
              <a:t> </a:t>
            </a:r>
            <a:r>
              <a:rPr lang="fr-FR" dirty="0" err="1"/>
              <a:t>only</a:t>
            </a:r>
            <a:r>
              <a:rPr lang="fr-FR" dirty="0"/>
              <a:t> if 5 or 6 relevés </a:t>
            </a:r>
            <a:r>
              <a:rPr lang="fr-FR" dirty="0" err="1"/>
              <a:t>with</a:t>
            </a:r>
            <a:r>
              <a:rPr lang="fr-FR" dirty="0"/>
              <a:t> no damages by </a:t>
            </a:r>
            <a:r>
              <a:rPr lang="fr-FR" dirty="0" err="1"/>
              <a:t>wild</a:t>
            </a:r>
            <a:r>
              <a:rPr lang="fr-FR" dirty="0"/>
              <a:t> </a:t>
            </a:r>
            <a:r>
              <a:rPr lang="fr-FR" dirty="0" err="1"/>
              <a:t>boar</a:t>
            </a:r>
            <a:endParaRPr lang="fr-FR" dirty="0"/>
          </a:p>
          <a:p>
            <a:pPr marL="285750" indent="-285750">
              <a:buFontTx/>
              <a:buChar char="-"/>
            </a:pPr>
            <a:r>
              <a:rPr lang="fr-FR" dirty="0"/>
              <a:t>Final data set: 68 </a:t>
            </a:r>
            <a:r>
              <a:rPr lang="fr-FR" dirty="0" err="1"/>
              <a:t>pitfall</a:t>
            </a:r>
            <a:r>
              <a:rPr lang="fr-FR" dirty="0"/>
              <a:t> traps for 15 stands</a:t>
            </a:r>
          </a:p>
          <a:p>
            <a:endParaRPr lang="fr-FR" dirty="0"/>
          </a:p>
          <a:p>
            <a:r>
              <a:rPr lang="fr-FR" dirty="0" err="1"/>
              <a:t>Saproxylic</a:t>
            </a:r>
            <a:r>
              <a:rPr lang="fr-FR" dirty="0"/>
              <a:t> </a:t>
            </a:r>
            <a:r>
              <a:rPr lang="fr-FR" dirty="0" err="1"/>
              <a:t>beetles</a:t>
            </a:r>
            <a:endParaRPr lang="fr-FR" dirty="0"/>
          </a:p>
          <a:p>
            <a:pPr marL="285750" indent="-285750">
              <a:buFontTx/>
              <a:buChar char="-"/>
            </a:pPr>
            <a:r>
              <a:rPr lang="fr-FR" dirty="0" err="1"/>
              <a:t>Subset</a:t>
            </a:r>
            <a:r>
              <a:rPr lang="fr-FR" dirty="0"/>
              <a:t> of 21 stands </a:t>
            </a:r>
            <a:r>
              <a:rPr lang="fr-FR" dirty="0" err="1"/>
              <a:t>with</a:t>
            </a:r>
            <a:r>
              <a:rPr lang="fr-FR" dirty="0"/>
              <a:t> 2-3 Lindgren traps per stand</a:t>
            </a:r>
          </a:p>
          <a:p>
            <a:pPr marL="285750" indent="-285750">
              <a:buFontTx/>
              <a:buChar char="-"/>
            </a:pPr>
            <a:r>
              <a:rPr lang="fr-FR" dirty="0"/>
              <a:t>3 relevés </a:t>
            </a:r>
            <a:r>
              <a:rPr lang="fr-FR" dirty="0" err="1"/>
              <a:t>from</a:t>
            </a:r>
            <a:r>
              <a:rPr lang="fr-FR" dirty="0"/>
              <a:t> April to July</a:t>
            </a:r>
          </a:p>
          <a:p>
            <a:pPr marL="285750" indent="-285750">
              <a:buFontTx/>
              <a:buChar char="-"/>
            </a:pPr>
            <a:r>
              <a:rPr lang="fr-FR" dirty="0"/>
              <a:t>Final data set: 48 Lindgren traps for 21 stands</a:t>
            </a:r>
          </a:p>
          <a:p>
            <a:pPr marL="285750" indent="-285750">
              <a:buFontTx/>
              <a:buChar char="-"/>
            </a:pPr>
            <a:endParaRPr lang="fr-FR" dirty="0"/>
          </a:p>
        </p:txBody>
      </p:sp>
      <p:sp>
        <p:nvSpPr>
          <p:cNvPr id="3" name="ZoneTexte 2">
            <a:extLst>
              <a:ext uri="{FF2B5EF4-FFF2-40B4-BE49-F238E27FC236}">
                <a16:creationId xmlns:a16="http://schemas.microsoft.com/office/drawing/2014/main" id="{575CCE68-28AB-6DE3-0B9F-61F3AAA4078C}"/>
              </a:ext>
            </a:extLst>
          </p:cNvPr>
          <p:cNvSpPr txBox="1"/>
          <p:nvPr/>
        </p:nvSpPr>
        <p:spPr>
          <a:xfrm>
            <a:off x="7570695" y="2574064"/>
            <a:ext cx="1709122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dirty="0"/>
              <a:t>39 </a:t>
            </a:r>
            <a:r>
              <a:rPr lang="fr-FR" dirty="0" err="1"/>
              <a:t>species</a:t>
            </a:r>
            <a:endParaRPr lang="fr-FR" dirty="0"/>
          </a:p>
          <a:p>
            <a:r>
              <a:rPr lang="fr-FR" dirty="0"/>
              <a:t>1304 </a:t>
            </a:r>
            <a:r>
              <a:rPr lang="fr-FR" dirty="0" err="1"/>
              <a:t>individuals</a:t>
            </a:r>
            <a:endParaRPr lang="fr-FR" dirty="0"/>
          </a:p>
        </p:txBody>
      </p:sp>
      <p:sp>
        <p:nvSpPr>
          <p:cNvPr id="5" name="ZoneTexte 4">
            <a:extLst>
              <a:ext uri="{FF2B5EF4-FFF2-40B4-BE49-F238E27FC236}">
                <a16:creationId xmlns:a16="http://schemas.microsoft.com/office/drawing/2014/main" id="{4B6BBE5D-FB7F-D357-3FB4-A806B3928077}"/>
              </a:ext>
            </a:extLst>
          </p:cNvPr>
          <p:cNvSpPr txBox="1"/>
          <p:nvPr/>
        </p:nvSpPr>
        <p:spPr>
          <a:xfrm>
            <a:off x="7612717" y="4287382"/>
            <a:ext cx="1709122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dirty="0"/>
              <a:t>28 </a:t>
            </a:r>
            <a:r>
              <a:rPr lang="fr-FR" dirty="0" err="1"/>
              <a:t>species</a:t>
            </a:r>
            <a:endParaRPr lang="fr-FR" dirty="0"/>
          </a:p>
          <a:p>
            <a:r>
              <a:rPr lang="fr-FR" dirty="0"/>
              <a:t>1837 </a:t>
            </a:r>
            <a:r>
              <a:rPr lang="fr-FR" dirty="0" err="1"/>
              <a:t>individuals</a:t>
            </a:r>
            <a:endParaRPr lang="fr-FR" dirty="0"/>
          </a:p>
        </p:txBody>
      </p:sp>
      <p:sp>
        <p:nvSpPr>
          <p:cNvPr id="6" name="ZoneTexte 5">
            <a:extLst>
              <a:ext uri="{FF2B5EF4-FFF2-40B4-BE49-F238E27FC236}">
                <a16:creationId xmlns:a16="http://schemas.microsoft.com/office/drawing/2014/main" id="{4DC5E491-DD66-BF94-EDB2-B514DCDE81AF}"/>
              </a:ext>
            </a:extLst>
          </p:cNvPr>
          <p:cNvSpPr txBox="1"/>
          <p:nvPr/>
        </p:nvSpPr>
        <p:spPr>
          <a:xfrm>
            <a:off x="7654739" y="5801852"/>
            <a:ext cx="1709122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dirty="0"/>
              <a:t>204 </a:t>
            </a:r>
            <a:r>
              <a:rPr lang="fr-FR" dirty="0" err="1"/>
              <a:t>species</a:t>
            </a:r>
            <a:endParaRPr lang="fr-FR" dirty="0"/>
          </a:p>
          <a:p>
            <a:r>
              <a:rPr lang="fr-FR" dirty="0"/>
              <a:t>8164 </a:t>
            </a:r>
            <a:r>
              <a:rPr lang="fr-FR" dirty="0" err="1"/>
              <a:t>individuals</a:t>
            </a:r>
            <a:endParaRPr lang="fr-FR" dirty="0"/>
          </a:p>
        </p:txBody>
      </p:sp>
    </p:spTree>
    <p:extLst>
      <p:ext uri="{BB962C8B-B14F-4D97-AF65-F5344CB8AC3E}">
        <p14:creationId xmlns:p14="http://schemas.microsoft.com/office/powerpoint/2010/main" val="2087126927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Rectangle 10">
            <a:extLst>
              <a:ext uri="{FF2B5EF4-FFF2-40B4-BE49-F238E27FC236}">
                <a16:creationId xmlns:a16="http://schemas.microsoft.com/office/drawing/2014/main" id="{7C39E3C8-22BF-4F4A-9F2D-452D9E47CD2C}"/>
              </a:ext>
            </a:extLst>
          </p:cNvPr>
          <p:cNvSpPr/>
          <p:nvPr/>
        </p:nvSpPr>
        <p:spPr>
          <a:xfrm>
            <a:off x="0" y="-3652"/>
            <a:ext cx="12192000" cy="1306286"/>
          </a:xfrm>
          <a:prstGeom prst="rect">
            <a:avLst/>
          </a:prstGeom>
          <a:gradFill flip="none" rotWithShape="1">
            <a:gsLst>
              <a:gs pos="0">
                <a:srgbClr val="004537"/>
              </a:gs>
              <a:gs pos="100000">
                <a:srgbClr val="1F9032"/>
              </a:gs>
            </a:gsLst>
            <a:lin ang="10200000" scaled="0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12" name="ZoneTexte 11">
            <a:extLst>
              <a:ext uri="{FF2B5EF4-FFF2-40B4-BE49-F238E27FC236}">
                <a16:creationId xmlns:a16="http://schemas.microsoft.com/office/drawing/2014/main" id="{132192D3-4B3B-844F-BACF-523380D2E796}"/>
              </a:ext>
            </a:extLst>
          </p:cNvPr>
          <p:cNvSpPr txBox="1"/>
          <p:nvPr/>
        </p:nvSpPr>
        <p:spPr>
          <a:xfrm>
            <a:off x="0" y="34924"/>
            <a:ext cx="12192000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4000" b="1" dirty="0" err="1">
                <a:solidFill>
                  <a:schemeClr val="bg1"/>
                </a:solidFill>
                <a:latin typeface="Poppins" panose="02000000000000000000" pitchFamily="2" charset="0"/>
                <a:cs typeface="Poppins" panose="02000000000000000000" pitchFamily="2" charset="0"/>
              </a:rPr>
              <a:t>Statistical</a:t>
            </a:r>
            <a:r>
              <a:rPr lang="fr-FR" sz="4000" b="1" dirty="0">
                <a:solidFill>
                  <a:schemeClr val="bg1"/>
                </a:solidFill>
                <a:latin typeface="Poppins" panose="02000000000000000000" pitchFamily="2" charset="0"/>
                <a:cs typeface="Poppins" panose="02000000000000000000" pitchFamily="2" charset="0"/>
              </a:rPr>
              <a:t> analyses</a:t>
            </a:r>
          </a:p>
        </p:txBody>
      </p:sp>
      <p:sp>
        <p:nvSpPr>
          <p:cNvPr id="2" name="Espace réservé du numéro de diapositive 1">
            <a:extLst>
              <a:ext uri="{FF2B5EF4-FFF2-40B4-BE49-F238E27FC236}">
                <a16:creationId xmlns:a16="http://schemas.microsoft.com/office/drawing/2014/main" id="{C906F80A-B3E0-0198-9799-6C7D9EDBA55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7E51662-EAF4-4F13-861F-8A695F40F4A6}" type="slidenum">
              <a:rPr lang="fr-FR" smtClean="0"/>
              <a:t>8</a:t>
            </a:fld>
            <a:endParaRPr lang="fr-FR"/>
          </a:p>
        </p:txBody>
      </p:sp>
      <p:sp>
        <p:nvSpPr>
          <p:cNvPr id="8" name="ZoneTexte 7">
            <a:extLst>
              <a:ext uri="{FF2B5EF4-FFF2-40B4-BE49-F238E27FC236}">
                <a16:creationId xmlns:a16="http://schemas.microsoft.com/office/drawing/2014/main" id="{7FB28A63-B5EF-4F5C-6578-B465B0122F27}"/>
              </a:ext>
            </a:extLst>
          </p:cNvPr>
          <p:cNvSpPr txBox="1"/>
          <p:nvPr/>
        </p:nvSpPr>
        <p:spPr>
          <a:xfrm>
            <a:off x="3101788" y="2513310"/>
            <a:ext cx="9592235" cy="9233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dirty="0" err="1"/>
              <a:t>Species</a:t>
            </a:r>
            <a:r>
              <a:rPr lang="fr-FR" dirty="0"/>
              <a:t> </a:t>
            </a:r>
            <a:r>
              <a:rPr lang="fr-FR" dirty="0" err="1"/>
              <a:t>richness</a:t>
            </a:r>
            <a:r>
              <a:rPr lang="fr-FR" dirty="0"/>
              <a:t>/</a:t>
            </a:r>
            <a:r>
              <a:rPr lang="fr-FR" dirty="0" err="1"/>
              <a:t>abundance</a:t>
            </a:r>
            <a:r>
              <a:rPr lang="fr-FR" dirty="0"/>
              <a:t> ~ G + mixture + mixture</a:t>
            </a:r>
            <a:r>
              <a:rPr lang="fr-FR" baseline="30000" dirty="0"/>
              <a:t>^2</a:t>
            </a:r>
            <a:r>
              <a:rPr lang="fr-FR" dirty="0"/>
              <a:t> + (1|stand)</a:t>
            </a:r>
          </a:p>
          <a:p>
            <a:r>
              <a:rPr lang="fr-FR" dirty="0" err="1"/>
              <a:t>Species</a:t>
            </a:r>
            <a:r>
              <a:rPr lang="fr-FR" dirty="0"/>
              <a:t> </a:t>
            </a:r>
            <a:r>
              <a:rPr lang="fr-FR" dirty="0" err="1"/>
              <a:t>richness</a:t>
            </a:r>
            <a:r>
              <a:rPr lang="fr-FR" dirty="0"/>
              <a:t>/</a:t>
            </a:r>
            <a:r>
              <a:rPr lang="fr-FR" dirty="0" err="1"/>
              <a:t>abundance</a:t>
            </a:r>
            <a:r>
              <a:rPr lang="fr-FR" dirty="0"/>
              <a:t> ~ G + mixture + (1|stand)</a:t>
            </a:r>
          </a:p>
          <a:p>
            <a:endParaRPr lang="fr-FR" dirty="0"/>
          </a:p>
        </p:txBody>
      </p:sp>
      <p:sp>
        <p:nvSpPr>
          <p:cNvPr id="9" name="ZoneTexte 8">
            <a:extLst>
              <a:ext uri="{FF2B5EF4-FFF2-40B4-BE49-F238E27FC236}">
                <a16:creationId xmlns:a16="http://schemas.microsoft.com/office/drawing/2014/main" id="{1F774E24-1713-DEAD-8AFA-126450D65622}"/>
              </a:ext>
            </a:extLst>
          </p:cNvPr>
          <p:cNvSpPr txBox="1"/>
          <p:nvPr/>
        </p:nvSpPr>
        <p:spPr>
          <a:xfrm>
            <a:off x="510988" y="1907972"/>
            <a:ext cx="8607869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dirty="0" err="1"/>
              <a:t>Differences</a:t>
            </a:r>
            <a:r>
              <a:rPr lang="fr-FR" dirty="0"/>
              <a:t> in </a:t>
            </a:r>
            <a:r>
              <a:rPr lang="fr-FR" dirty="0" err="1"/>
              <a:t>species</a:t>
            </a:r>
            <a:r>
              <a:rPr lang="fr-FR" dirty="0"/>
              <a:t> </a:t>
            </a:r>
            <a:r>
              <a:rPr lang="fr-FR" dirty="0" err="1"/>
              <a:t>richness</a:t>
            </a:r>
            <a:r>
              <a:rPr lang="fr-FR" dirty="0"/>
              <a:t> and </a:t>
            </a:r>
            <a:r>
              <a:rPr lang="fr-FR" dirty="0" err="1"/>
              <a:t>abundance</a:t>
            </a:r>
            <a:endParaRPr lang="fr-FR" dirty="0"/>
          </a:p>
          <a:p>
            <a:r>
              <a:rPr lang="fr-FR" dirty="0">
                <a:sym typeface="Wingdings" panose="05000000000000000000" pitchFamily="2" charset="2"/>
              </a:rPr>
              <a:t>	 </a:t>
            </a:r>
            <a:r>
              <a:rPr lang="fr-FR" dirty="0"/>
              <a:t>GLMM (</a:t>
            </a:r>
            <a:r>
              <a:rPr lang="fr-FR" dirty="0" err="1"/>
              <a:t>glmmTMB</a:t>
            </a:r>
            <a:r>
              <a:rPr lang="fr-FR" dirty="0"/>
              <a:t> </a:t>
            </a:r>
            <a:r>
              <a:rPr lang="fr-FR" dirty="0" err="1"/>
              <a:t>with</a:t>
            </a:r>
            <a:r>
              <a:rPr lang="fr-FR" dirty="0"/>
              <a:t> Poisson or </a:t>
            </a:r>
            <a:r>
              <a:rPr lang="fr-FR" dirty="0" err="1"/>
              <a:t>NegBin</a:t>
            </a:r>
            <a:r>
              <a:rPr lang="fr-FR" dirty="0"/>
              <a:t>) </a:t>
            </a:r>
            <a:r>
              <a:rPr lang="fr-FR" dirty="0" err="1"/>
              <a:t>with</a:t>
            </a:r>
            <a:r>
              <a:rPr lang="fr-FR" dirty="0"/>
              <a:t> model </a:t>
            </a:r>
            <a:r>
              <a:rPr lang="fr-FR" dirty="0" err="1"/>
              <a:t>comparison</a:t>
            </a:r>
            <a:r>
              <a:rPr lang="fr-FR" dirty="0"/>
              <a:t> </a:t>
            </a:r>
            <a:r>
              <a:rPr lang="fr-FR" dirty="0" err="1"/>
              <a:t>with</a:t>
            </a:r>
            <a:r>
              <a:rPr lang="fr-FR" dirty="0"/>
              <a:t> </a:t>
            </a:r>
            <a:r>
              <a:rPr lang="fr-FR" dirty="0" err="1"/>
              <a:t>AICc</a:t>
            </a:r>
            <a:endParaRPr lang="fr-FR" dirty="0"/>
          </a:p>
        </p:txBody>
      </p:sp>
      <p:sp>
        <p:nvSpPr>
          <p:cNvPr id="10" name="ZoneTexte 9">
            <a:extLst>
              <a:ext uri="{FF2B5EF4-FFF2-40B4-BE49-F238E27FC236}">
                <a16:creationId xmlns:a16="http://schemas.microsoft.com/office/drawing/2014/main" id="{06D06424-D18A-8349-C006-4FA5B5C3F046}"/>
              </a:ext>
            </a:extLst>
          </p:cNvPr>
          <p:cNvSpPr txBox="1"/>
          <p:nvPr/>
        </p:nvSpPr>
        <p:spPr>
          <a:xfrm>
            <a:off x="510988" y="3429000"/>
            <a:ext cx="10933442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dirty="0" err="1"/>
              <a:t>Differences</a:t>
            </a:r>
            <a:r>
              <a:rPr lang="fr-FR" dirty="0"/>
              <a:t> in </a:t>
            </a:r>
            <a:r>
              <a:rPr lang="fr-FR" dirty="0" err="1"/>
              <a:t>species</a:t>
            </a:r>
            <a:r>
              <a:rPr lang="fr-FR" dirty="0"/>
              <a:t> assemblages</a:t>
            </a:r>
          </a:p>
          <a:p>
            <a:r>
              <a:rPr lang="fr-FR" dirty="0">
                <a:sym typeface="Wingdings" panose="05000000000000000000" pitchFamily="2" charset="2"/>
              </a:rPr>
              <a:t>	</a:t>
            </a:r>
            <a:r>
              <a:rPr lang="fr-FR" dirty="0"/>
              <a:t> </a:t>
            </a:r>
            <a:r>
              <a:rPr lang="fr-FR" dirty="0" err="1"/>
              <a:t>Redundancy</a:t>
            </a:r>
            <a:r>
              <a:rPr lang="fr-FR" dirty="0"/>
              <a:t> </a:t>
            </a:r>
            <a:r>
              <a:rPr lang="fr-FR" dirty="0" err="1"/>
              <a:t>analysis</a:t>
            </a:r>
            <a:r>
              <a:rPr lang="fr-FR" dirty="0"/>
              <a:t> </a:t>
            </a:r>
            <a:r>
              <a:rPr lang="fr-FR" dirty="0" err="1"/>
              <a:t>with</a:t>
            </a:r>
            <a:r>
              <a:rPr lang="fr-FR" dirty="0"/>
              <a:t> mixture </a:t>
            </a:r>
            <a:r>
              <a:rPr lang="fr-FR" dirty="0" err="1"/>
              <a:t>categories</a:t>
            </a:r>
            <a:r>
              <a:rPr lang="fr-FR" dirty="0"/>
              <a:t> (pure if </a:t>
            </a:r>
            <a:r>
              <a:rPr lang="fr-FR" dirty="0" err="1"/>
              <a:t>oaks</a:t>
            </a:r>
            <a:r>
              <a:rPr lang="fr-FR" dirty="0"/>
              <a:t> or pines &gt;80% in G</a:t>
            </a:r>
            <a:r>
              <a:rPr lang="fr-FR" baseline="-25000" dirty="0"/>
              <a:t>oak+pine</a:t>
            </a:r>
            <a:r>
              <a:rPr lang="fr-FR" dirty="0"/>
              <a:t>; mixed </a:t>
            </a:r>
            <a:r>
              <a:rPr lang="fr-FR" dirty="0" err="1"/>
              <a:t>otherwise</a:t>
            </a:r>
            <a:r>
              <a:rPr lang="fr-FR" dirty="0"/>
              <a:t>)</a:t>
            </a:r>
          </a:p>
        </p:txBody>
      </p:sp>
      <p:sp>
        <p:nvSpPr>
          <p:cNvPr id="13" name="ZoneTexte 12">
            <a:extLst>
              <a:ext uri="{FF2B5EF4-FFF2-40B4-BE49-F238E27FC236}">
                <a16:creationId xmlns:a16="http://schemas.microsoft.com/office/drawing/2014/main" id="{1AD9072C-B1CB-C2B6-D124-AC7134BF5C42}"/>
              </a:ext>
            </a:extLst>
          </p:cNvPr>
          <p:cNvSpPr txBox="1"/>
          <p:nvPr/>
        </p:nvSpPr>
        <p:spPr>
          <a:xfrm>
            <a:off x="510988" y="4566761"/>
            <a:ext cx="3784690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dirty="0" err="1"/>
              <a:t>Species</a:t>
            </a:r>
            <a:r>
              <a:rPr lang="fr-FR" dirty="0"/>
              <a:t> </a:t>
            </a:r>
            <a:r>
              <a:rPr lang="fr-FR" dirty="0" err="1"/>
              <a:t>related</a:t>
            </a:r>
            <a:r>
              <a:rPr lang="fr-FR" dirty="0"/>
              <a:t> to pure or mixed stand</a:t>
            </a:r>
          </a:p>
          <a:p>
            <a:r>
              <a:rPr lang="fr-FR" dirty="0">
                <a:sym typeface="Wingdings" panose="05000000000000000000" pitchFamily="2" charset="2"/>
              </a:rPr>
              <a:t>	 Ridge plots and</a:t>
            </a:r>
            <a:r>
              <a:rPr lang="fr-FR" dirty="0"/>
              <a:t> </a:t>
            </a:r>
            <a:r>
              <a:rPr lang="fr-FR" dirty="0" err="1"/>
              <a:t>IndVal</a:t>
            </a:r>
            <a:endParaRPr lang="fr-FR" dirty="0"/>
          </a:p>
        </p:txBody>
      </p:sp>
    </p:spTree>
    <p:extLst>
      <p:ext uri="{BB962C8B-B14F-4D97-AF65-F5344CB8AC3E}">
        <p14:creationId xmlns:p14="http://schemas.microsoft.com/office/powerpoint/2010/main" val="1631158619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Rectangle 10">
            <a:extLst>
              <a:ext uri="{FF2B5EF4-FFF2-40B4-BE49-F238E27FC236}">
                <a16:creationId xmlns:a16="http://schemas.microsoft.com/office/drawing/2014/main" id="{7C39E3C8-22BF-4F4A-9F2D-452D9E47CD2C}"/>
              </a:ext>
            </a:extLst>
          </p:cNvPr>
          <p:cNvSpPr/>
          <p:nvPr/>
        </p:nvSpPr>
        <p:spPr>
          <a:xfrm>
            <a:off x="0" y="-3652"/>
            <a:ext cx="12192000" cy="1306286"/>
          </a:xfrm>
          <a:prstGeom prst="rect">
            <a:avLst/>
          </a:prstGeom>
          <a:gradFill flip="none" rotWithShape="1">
            <a:gsLst>
              <a:gs pos="0">
                <a:srgbClr val="004537"/>
              </a:gs>
              <a:gs pos="100000">
                <a:srgbClr val="1F9032"/>
              </a:gs>
            </a:gsLst>
            <a:lin ang="10200000" scaled="0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12" name="ZoneTexte 11">
            <a:extLst>
              <a:ext uri="{FF2B5EF4-FFF2-40B4-BE49-F238E27FC236}">
                <a16:creationId xmlns:a16="http://schemas.microsoft.com/office/drawing/2014/main" id="{132192D3-4B3B-844F-BACF-523380D2E796}"/>
              </a:ext>
            </a:extLst>
          </p:cNvPr>
          <p:cNvSpPr txBox="1"/>
          <p:nvPr/>
        </p:nvSpPr>
        <p:spPr>
          <a:xfrm>
            <a:off x="0" y="34924"/>
            <a:ext cx="12192000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4000" b="1" dirty="0" err="1">
                <a:solidFill>
                  <a:schemeClr val="bg1"/>
                </a:solidFill>
                <a:latin typeface="Poppins" panose="02000000000000000000" pitchFamily="2" charset="0"/>
                <a:cs typeface="Poppins" panose="02000000000000000000" pitchFamily="2" charset="0"/>
              </a:rPr>
              <a:t>Results</a:t>
            </a:r>
            <a:r>
              <a:rPr lang="fr-FR" sz="4000" b="1" dirty="0">
                <a:solidFill>
                  <a:schemeClr val="bg1"/>
                </a:solidFill>
                <a:latin typeface="Poppins" panose="02000000000000000000" pitchFamily="2" charset="0"/>
                <a:cs typeface="Poppins" panose="02000000000000000000" pitchFamily="2" charset="0"/>
              </a:rPr>
              <a:t> – </a:t>
            </a:r>
            <a:r>
              <a:rPr lang="fr-FR" sz="4000" b="1" dirty="0" err="1">
                <a:solidFill>
                  <a:schemeClr val="bg1"/>
                </a:solidFill>
                <a:latin typeface="Poppins" panose="02000000000000000000" pitchFamily="2" charset="0"/>
                <a:cs typeface="Poppins" panose="02000000000000000000" pitchFamily="2" charset="0"/>
              </a:rPr>
              <a:t>birds</a:t>
            </a:r>
            <a:endParaRPr lang="fr-FR" sz="4000" b="1" dirty="0">
              <a:solidFill>
                <a:schemeClr val="bg1"/>
              </a:solidFill>
              <a:latin typeface="Poppins" panose="02000000000000000000" pitchFamily="2" charset="0"/>
              <a:cs typeface="Poppins" panose="02000000000000000000" pitchFamily="2" charset="0"/>
            </a:endParaRPr>
          </a:p>
        </p:txBody>
      </p:sp>
      <p:sp>
        <p:nvSpPr>
          <p:cNvPr id="2" name="Espace réservé du numéro de diapositive 1">
            <a:extLst>
              <a:ext uri="{FF2B5EF4-FFF2-40B4-BE49-F238E27FC236}">
                <a16:creationId xmlns:a16="http://schemas.microsoft.com/office/drawing/2014/main" id="{C906F80A-B3E0-0198-9799-6C7D9EDBA55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7E51662-EAF4-4F13-861F-8A695F40F4A6}" type="slidenum">
              <a:rPr lang="fr-FR" smtClean="0"/>
              <a:t>9</a:t>
            </a:fld>
            <a:endParaRPr lang="fr-FR"/>
          </a:p>
        </p:txBody>
      </p:sp>
      <p:sp>
        <p:nvSpPr>
          <p:cNvPr id="21" name="ZoneTexte 20">
            <a:extLst>
              <a:ext uri="{FF2B5EF4-FFF2-40B4-BE49-F238E27FC236}">
                <a16:creationId xmlns:a16="http://schemas.microsoft.com/office/drawing/2014/main" id="{C3363117-C944-81E2-BE23-049C83BBDEE2}"/>
              </a:ext>
            </a:extLst>
          </p:cNvPr>
          <p:cNvSpPr txBox="1"/>
          <p:nvPr/>
        </p:nvSpPr>
        <p:spPr>
          <a:xfrm>
            <a:off x="2794457" y="3646859"/>
            <a:ext cx="94448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dirty="0"/>
              <a:t>P=0.055</a:t>
            </a:r>
          </a:p>
        </p:txBody>
      </p:sp>
      <p:sp>
        <p:nvSpPr>
          <p:cNvPr id="26" name="ZoneTexte 25">
            <a:extLst>
              <a:ext uri="{FF2B5EF4-FFF2-40B4-BE49-F238E27FC236}">
                <a16:creationId xmlns:a16="http://schemas.microsoft.com/office/drawing/2014/main" id="{8CD8759C-2435-EDB5-607E-9A30E46CCBA6}"/>
              </a:ext>
            </a:extLst>
          </p:cNvPr>
          <p:cNvSpPr txBox="1"/>
          <p:nvPr/>
        </p:nvSpPr>
        <p:spPr>
          <a:xfrm>
            <a:off x="2120175" y="1406101"/>
            <a:ext cx="170591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dirty="0" err="1"/>
              <a:t>Species</a:t>
            </a:r>
            <a:r>
              <a:rPr lang="fr-FR" dirty="0"/>
              <a:t> </a:t>
            </a:r>
            <a:r>
              <a:rPr lang="fr-FR" dirty="0" err="1"/>
              <a:t>richness</a:t>
            </a:r>
            <a:endParaRPr lang="fr-FR" dirty="0"/>
          </a:p>
        </p:txBody>
      </p:sp>
      <p:sp>
        <p:nvSpPr>
          <p:cNvPr id="27" name="ZoneTexte 26">
            <a:extLst>
              <a:ext uri="{FF2B5EF4-FFF2-40B4-BE49-F238E27FC236}">
                <a16:creationId xmlns:a16="http://schemas.microsoft.com/office/drawing/2014/main" id="{4F5B7951-F8BD-6230-CF63-5E52EB3D7412}"/>
              </a:ext>
            </a:extLst>
          </p:cNvPr>
          <p:cNvSpPr txBox="1"/>
          <p:nvPr/>
        </p:nvSpPr>
        <p:spPr>
          <a:xfrm>
            <a:off x="8063775" y="1406101"/>
            <a:ext cx="125066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dirty="0" err="1"/>
              <a:t>Abundance</a:t>
            </a:r>
            <a:endParaRPr lang="fr-FR" dirty="0"/>
          </a:p>
        </p:txBody>
      </p:sp>
      <p:pic>
        <p:nvPicPr>
          <p:cNvPr id="4" name="Image 3">
            <a:extLst>
              <a:ext uri="{FF2B5EF4-FFF2-40B4-BE49-F238E27FC236}">
                <a16:creationId xmlns:a16="http://schemas.microsoft.com/office/drawing/2014/main" id="{5537ED28-3528-C683-D729-C715FCFE0EB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9374" y="1732979"/>
            <a:ext cx="5679246" cy="4719619"/>
          </a:xfrm>
          <a:prstGeom prst="rect">
            <a:avLst/>
          </a:prstGeom>
        </p:spPr>
      </p:pic>
      <p:pic>
        <p:nvPicPr>
          <p:cNvPr id="6" name="Image 5">
            <a:extLst>
              <a:ext uri="{FF2B5EF4-FFF2-40B4-BE49-F238E27FC236}">
                <a16:creationId xmlns:a16="http://schemas.microsoft.com/office/drawing/2014/main" id="{90CAAE0B-FDE3-215C-E18E-90BE7D8EDD9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991038" y="1732979"/>
            <a:ext cx="5679246" cy="4719619"/>
          </a:xfrm>
          <a:prstGeom prst="rect">
            <a:avLst/>
          </a:prstGeom>
        </p:spPr>
      </p:pic>
      <p:pic>
        <p:nvPicPr>
          <p:cNvPr id="1030" name="Picture 6" descr="Pin Sylvestre | BIOLYS">
            <a:extLst>
              <a:ext uri="{FF2B5EF4-FFF2-40B4-BE49-F238E27FC236}">
                <a16:creationId xmlns:a16="http://schemas.microsoft.com/office/drawing/2014/main" id="{A4C07FE4-A405-7E5C-0028-09760812913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 cstate="print">
            <a:extLst>
              <a:ext uri="{BEBA8EAE-BF5A-486C-A8C5-ECC9F3942E4B}">
                <a14:imgProps xmlns:a14="http://schemas.microsoft.com/office/drawing/2010/main">
                  <a14:imgLayer r:embed="rId6">
                    <a14:imgEffect>
                      <a14:backgroundRemoval t="10000" b="90000" l="10000" r="90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 rot="18575066">
            <a:off x="506505" y="6146622"/>
            <a:ext cx="663390" cy="66339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28" name="Picture 4" descr="Feuille de chêne vert isolé sur fond blanc | Photo Premium">
            <a:extLst>
              <a:ext uri="{FF2B5EF4-FFF2-40B4-BE49-F238E27FC236}">
                <a16:creationId xmlns:a16="http://schemas.microsoft.com/office/drawing/2014/main" id="{2B8A0403-AC36-BF95-5C44-0DD228B66AF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7" cstate="print">
            <a:extLst>
              <a:ext uri="{BEBA8EAE-BF5A-486C-A8C5-ECC9F3942E4B}">
                <a14:imgProps xmlns:a14="http://schemas.microsoft.com/office/drawing/2010/main">
                  <a14:imgLayer r:embed="rId8">
                    <a14:imgEffect>
                      <a14:backgroundRemoval t="10000" b="90000" l="10000" r="90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303473" y="6146623"/>
            <a:ext cx="663389" cy="66338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7" name="Picture 6" descr="Pin Sylvestre | BIOLYS">
            <a:extLst>
              <a:ext uri="{FF2B5EF4-FFF2-40B4-BE49-F238E27FC236}">
                <a16:creationId xmlns:a16="http://schemas.microsoft.com/office/drawing/2014/main" id="{828B4C79-3795-46E0-29DA-A63B33E47C8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9" cstate="print">
            <a:extLst>
              <a:ext uri="{BEBA8EAE-BF5A-486C-A8C5-ECC9F3942E4B}">
                <a14:imgProps xmlns:a14="http://schemas.microsoft.com/office/drawing/2010/main">
                  <a14:imgLayer r:embed="rId10">
                    <a14:imgEffect>
                      <a14:backgroundRemoval t="10000" b="90000" l="10000" r="90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 rot="18575066">
            <a:off x="2911472" y="6392022"/>
            <a:ext cx="501230" cy="50123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8" name="Picture 4" descr="Feuille de chêne vert isolé sur fond blanc | Photo Premium">
            <a:extLst>
              <a:ext uri="{FF2B5EF4-FFF2-40B4-BE49-F238E27FC236}">
                <a16:creationId xmlns:a16="http://schemas.microsoft.com/office/drawing/2014/main" id="{E04ED324-5EEF-306A-BAB9-A00F6497982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7" cstate="print">
            <a:extLst>
              <a:ext uri="{BEBA8EAE-BF5A-486C-A8C5-ECC9F3942E4B}">
                <a14:imgProps xmlns:a14="http://schemas.microsoft.com/office/drawing/2010/main">
                  <a14:imgLayer r:embed="rId8">
                    <a14:imgEffect>
                      <a14:backgroundRemoval t="10000" b="90000" l="10000" r="90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274717" y="6446361"/>
            <a:ext cx="392552" cy="39255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9" name="Picture 6" descr="Pin Sylvestre | BIOLYS">
            <a:extLst>
              <a:ext uri="{FF2B5EF4-FFF2-40B4-BE49-F238E27FC236}">
                <a16:creationId xmlns:a16="http://schemas.microsoft.com/office/drawing/2014/main" id="{5E41EA36-F283-3011-4778-5F80856A294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 cstate="print">
            <a:extLst>
              <a:ext uri="{BEBA8EAE-BF5A-486C-A8C5-ECC9F3942E4B}">
                <a14:imgProps xmlns:a14="http://schemas.microsoft.com/office/drawing/2010/main">
                  <a14:imgLayer r:embed="rId6">
                    <a14:imgEffect>
                      <a14:backgroundRemoval t="10000" b="90000" l="10000" r="90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 rot="18575066">
            <a:off x="6333560" y="6155587"/>
            <a:ext cx="663390" cy="66339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" name="Picture 4" descr="Feuille de chêne vert isolé sur fond blanc | Photo Premium">
            <a:extLst>
              <a:ext uri="{FF2B5EF4-FFF2-40B4-BE49-F238E27FC236}">
                <a16:creationId xmlns:a16="http://schemas.microsoft.com/office/drawing/2014/main" id="{8F3C0511-232A-2849-B8CE-2C6CF8E4204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7" cstate="print">
            <a:extLst>
              <a:ext uri="{BEBA8EAE-BF5A-486C-A8C5-ECC9F3942E4B}">
                <a14:imgProps xmlns:a14="http://schemas.microsoft.com/office/drawing/2010/main">
                  <a14:imgLayer r:embed="rId8">
                    <a14:imgEffect>
                      <a14:backgroundRemoval t="10000" b="90000" l="10000" r="90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1130528" y="6155588"/>
            <a:ext cx="663389" cy="66338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3" name="Picture 6" descr="Pin Sylvestre | BIOLYS">
            <a:extLst>
              <a:ext uri="{FF2B5EF4-FFF2-40B4-BE49-F238E27FC236}">
                <a16:creationId xmlns:a16="http://schemas.microsoft.com/office/drawing/2014/main" id="{1A771FD3-BA09-B652-A346-1FA37ECCAF8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9" cstate="print">
            <a:extLst>
              <a:ext uri="{BEBA8EAE-BF5A-486C-A8C5-ECC9F3942E4B}">
                <a14:imgProps xmlns:a14="http://schemas.microsoft.com/office/drawing/2010/main">
                  <a14:imgLayer r:embed="rId10">
                    <a14:imgEffect>
                      <a14:backgroundRemoval t="10000" b="90000" l="10000" r="90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 rot="18575066">
            <a:off x="8738527" y="6400987"/>
            <a:ext cx="501230" cy="50123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4" name="Picture 4" descr="Feuille de chêne vert isolé sur fond blanc | Photo Premium">
            <a:extLst>
              <a:ext uri="{FF2B5EF4-FFF2-40B4-BE49-F238E27FC236}">
                <a16:creationId xmlns:a16="http://schemas.microsoft.com/office/drawing/2014/main" id="{89ECB079-19F0-4FB2-F8A4-18149C35F40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7" cstate="print">
            <a:extLst>
              <a:ext uri="{BEBA8EAE-BF5A-486C-A8C5-ECC9F3942E4B}">
                <a14:imgProps xmlns:a14="http://schemas.microsoft.com/office/drawing/2010/main">
                  <a14:imgLayer r:embed="rId8">
                    <a14:imgEffect>
                      <a14:backgroundRemoval t="10000" b="90000" l="10000" r="90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101772" y="6455326"/>
            <a:ext cx="392552" cy="39255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776048869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Rectangle 10">
            <a:extLst>
              <a:ext uri="{FF2B5EF4-FFF2-40B4-BE49-F238E27FC236}">
                <a16:creationId xmlns:a16="http://schemas.microsoft.com/office/drawing/2014/main" id="{7C39E3C8-22BF-4F4A-9F2D-452D9E47CD2C}"/>
              </a:ext>
            </a:extLst>
          </p:cNvPr>
          <p:cNvSpPr/>
          <p:nvPr/>
        </p:nvSpPr>
        <p:spPr>
          <a:xfrm>
            <a:off x="0" y="-3652"/>
            <a:ext cx="12192000" cy="1306286"/>
          </a:xfrm>
          <a:prstGeom prst="rect">
            <a:avLst/>
          </a:prstGeom>
          <a:gradFill flip="none" rotWithShape="1">
            <a:gsLst>
              <a:gs pos="0">
                <a:srgbClr val="004537"/>
              </a:gs>
              <a:gs pos="100000">
                <a:srgbClr val="1F9032"/>
              </a:gs>
            </a:gsLst>
            <a:lin ang="10200000" scaled="0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12" name="ZoneTexte 11">
            <a:extLst>
              <a:ext uri="{FF2B5EF4-FFF2-40B4-BE49-F238E27FC236}">
                <a16:creationId xmlns:a16="http://schemas.microsoft.com/office/drawing/2014/main" id="{132192D3-4B3B-844F-BACF-523380D2E796}"/>
              </a:ext>
            </a:extLst>
          </p:cNvPr>
          <p:cNvSpPr txBox="1"/>
          <p:nvPr/>
        </p:nvSpPr>
        <p:spPr>
          <a:xfrm>
            <a:off x="0" y="34924"/>
            <a:ext cx="12192000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4000" b="1" dirty="0" err="1">
                <a:solidFill>
                  <a:schemeClr val="bg1"/>
                </a:solidFill>
                <a:latin typeface="Poppins" panose="02000000000000000000" pitchFamily="2" charset="0"/>
                <a:cs typeface="Poppins" panose="02000000000000000000" pitchFamily="2" charset="0"/>
              </a:rPr>
              <a:t>Results</a:t>
            </a:r>
            <a:r>
              <a:rPr lang="fr-FR" sz="4000" b="1" dirty="0">
                <a:solidFill>
                  <a:schemeClr val="bg1"/>
                </a:solidFill>
                <a:latin typeface="Poppins" panose="02000000000000000000" pitchFamily="2" charset="0"/>
                <a:cs typeface="Poppins" panose="02000000000000000000" pitchFamily="2" charset="0"/>
              </a:rPr>
              <a:t> – </a:t>
            </a:r>
            <a:r>
              <a:rPr lang="fr-FR" sz="4000" b="1" dirty="0" err="1">
                <a:solidFill>
                  <a:schemeClr val="bg1"/>
                </a:solidFill>
                <a:latin typeface="Poppins" panose="02000000000000000000" pitchFamily="2" charset="0"/>
                <a:cs typeface="Poppins" panose="02000000000000000000" pitchFamily="2" charset="0"/>
              </a:rPr>
              <a:t>birds</a:t>
            </a:r>
            <a:endParaRPr lang="fr-FR" sz="4000" b="1" dirty="0">
              <a:solidFill>
                <a:schemeClr val="bg1"/>
              </a:solidFill>
              <a:latin typeface="Poppins" panose="02000000000000000000" pitchFamily="2" charset="0"/>
              <a:cs typeface="Poppins" panose="02000000000000000000" pitchFamily="2" charset="0"/>
            </a:endParaRPr>
          </a:p>
        </p:txBody>
      </p:sp>
      <p:sp>
        <p:nvSpPr>
          <p:cNvPr id="2" name="Espace réservé du numéro de diapositive 1">
            <a:extLst>
              <a:ext uri="{FF2B5EF4-FFF2-40B4-BE49-F238E27FC236}">
                <a16:creationId xmlns:a16="http://schemas.microsoft.com/office/drawing/2014/main" id="{C906F80A-B3E0-0198-9799-6C7D9EDBA55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7E51662-EAF4-4F13-861F-8A695F40F4A6}" type="slidenum">
              <a:rPr lang="fr-FR" smtClean="0"/>
              <a:t>10</a:t>
            </a:fld>
            <a:endParaRPr lang="fr-FR"/>
          </a:p>
        </p:txBody>
      </p:sp>
      <p:pic>
        <p:nvPicPr>
          <p:cNvPr id="1030" name="Picture 6" descr="Pin Sylvestre | BIOLYS">
            <a:extLst>
              <a:ext uri="{FF2B5EF4-FFF2-40B4-BE49-F238E27FC236}">
                <a16:creationId xmlns:a16="http://schemas.microsoft.com/office/drawing/2014/main" id="{A4C07FE4-A405-7E5C-0028-09760812913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 cstate="print">
            <a:extLst>
              <a:ext uri="{BEBA8EAE-BF5A-486C-A8C5-ECC9F3942E4B}">
                <a14:imgProps xmlns:a14="http://schemas.microsoft.com/office/drawing/2010/main">
                  <a14:imgLayer r:embed="rId4">
                    <a14:imgEffect>
                      <a14:backgroundRemoval t="10000" b="90000" l="10000" r="90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 rot="18575066">
            <a:off x="506505" y="6146622"/>
            <a:ext cx="663390" cy="66339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28" name="Picture 4" descr="Feuille de chêne vert isolé sur fond blanc | Photo Premium">
            <a:extLst>
              <a:ext uri="{FF2B5EF4-FFF2-40B4-BE49-F238E27FC236}">
                <a16:creationId xmlns:a16="http://schemas.microsoft.com/office/drawing/2014/main" id="{2B8A0403-AC36-BF95-5C44-0DD228B66AF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 cstate="print">
            <a:extLst>
              <a:ext uri="{BEBA8EAE-BF5A-486C-A8C5-ECC9F3942E4B}">
                <a14:imgProps xmlns:a14="http://schemas.microsoft.com/office/drawing/2010/main">
                  <a14:imgLayer r:embed="rId6">
                    <a14:imgEffect>
                      <a14:backgroundRemoval t="10000" b="90000" l="10000" r="90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303473" y="6146623"/>
            <a:ext cx="663389" cy="66338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7" name="Picture 6" descr="Pin Sylvestre | BIOLYS">
            <a:extLst>
              <a:ext uri="{FF2B5EF4-FFF2-40B4-BE49-F238E27FC236}">
                <a16:creationId xmlns:a16="http://schemas.microsoft.com/office/drawing/2014/main" id="{828B4C79-3795-46E0-29DA-A63B33E47C8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7" cstate="print">
            <a:extLst>
              <a:ext uri="{BEBA8EAE-BF5A-486C-A8C5-ECC9F3942E4B}">
                <a14:imgProps xmlns:a14="http://schemas.microsoft.com/office/drawing/2010/main">
                  <a14:imgLayer r:embed="rId8">
                    <a14:imgEffect>
                      <a14:backgroundRemoval t="10000" b="90000" l="10000" r="90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 rot="18575066">
            <a:off x="2911472" y="6392022"/>
            <a:ext cx="501230" cy="50123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8" name="Picture 4" descr="Feuille de chêne vert isolé sur fond blanc | Photo Premium">
            <a:extLst>
              <a:ext uri="{FF2B5EF4-FFF2-40B4-BE49-F238E27FC236}">
                <a16:creationId xmlns:a16="http://schemas.microsoft.com/office/drawing/2014/main" id="{E04ED324-5EEF-306A-BAB9-A00F6497982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 cstate="print">
            <a:extLst>
              <a:ext uri="{BEBA8EAE-BF5A-486C-A8C5-ECC9F3942E4B}">
                <a14:imgProps xmlns:a14="http://schemas.microsoft.com/office/drawing/2010/main">
                  <a14:imgLayer r:embed="rId6">
                    <a14:imgEffect>
                      <a14:backgroundRemoval t="10000" b="90000" l="10000" r="90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274717" y="6446361"/>
            <a:ext cx="392552" cy="39255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9" name="Picture 6" descr="Pin Sylvestre | BIOLYS">
            <a:extLst>
              <a:ext uri="{FF2B5EF4-FFF2-40B4-BE49-F238E27FC236}">
                <a16:creationId xmlns:a16="http://schemas.microsoft.com/office/drawing/2014/main" id="{5E41EA36-F283-3011-4778-5F80856A294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 cstate="print">
            <a:extLst>
              <a:ext uri="{BEBA8EAE-BF5A-486C-A8C5-ECC9F3942E4B}">
                <a14:imgProps xmlns:a14="http://schemas.microsoft.com/office/drawing/2010/main">
                  <a14:imgLayer r:embed="rId4">
                    <a14:imgEffect>
                      <a14:backgroundRemoval t="10000" b="90000" l="10000" r="90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 rot="18575066">
            <a:off x="6333560" y="6155587"/>
            <a:ext cx="663390" cy="66339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" name="Picture 4" descr="Feuille de chêne vert isolé sur fond blanc | Photo Premium">
            <a:extLst>
              <a:ext uri="{FF2B5EF4-FFF2-40B4-BE49-F238E27FC236}">
                <a16:creationId xmlns:a16="http://schemas.microsoft.com/office/drawing/2014/main" id="{8F3C0511-232A-2849-B8CE-2C6CF8E4204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 cstate="print">
            <a:extLst>
              <a:ext uri="{BEBA8EAE-BF5A-486C-A8C5-ECC9F3942E4B}">
                <a14:imgProps xmlns:a14="http://schemas.microsoft.com/office/drawing/2010/main">
                  <a14:imgLayer r:embed="rId6">
                    <a14:imgEffect>
                      <a14:backgroundRemoval t="10000" b="90000" l="10000" r="90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1130528" y="6155588"/>
            <a:ext cx="663389" cy="66338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3" name="Picture 6" descr="Pin Sylvestre | BIOLYS">
            <a:extLst>
              <a:ext uri="{FF2B5EF4-FFF2-40B4-BE49-F238E27FC236}">
                <a16:creationId xmlns:a16="http://schemas.microsoft.com/office/drawing/2014/main" id="{1A771FD3-BA09-B652-A346-1FA37ECCAF8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7" cstate="print">
            <a:extLst>
              <a:ext uri="{BEBA8EAE-BF5A-486C-A8C5-ECC9F3942E4B}">
                <a14:imgProps xmlns:a14="http://schemas.microsoft.com/office/drawing/2010/main">
                  <a14:imgLayer r:embed="rId8">
                    <a14:imgEffect>
                      <a14:backgroundRemoval t="10000" b="90000" l="10000" r="90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 rot="18575066">
            <a:off x="8738527" y="6400987"/>
            <a:ext cx="501230" cy="50123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4" name="Picture 4" descr="Feuille de chêne vert isolé sur fond blanc | Photo Premium">
            <a:extLst>
              <a:ext uri="{FF2B5EF4-FFF2-40B4-BE49-F238E27FC236}">
                <a16:creationId xmlns:a16="http://schemas.microsoft.com/office/drawing/2014/main" id="{89ECB079-19F0-4FB2-F8A4-18149C35F40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 cstate="print">
            <a:extLst>
              <a:ext uri="{BEBA8EAE-BF5A-486C-A8C5-ECC9F3942E4B}">
                <a14:imgProps xmlns:a14="http://schemas.microsoft.com/office/drawing/2010/main">
                  <a14:imgLayer r:embed="rId6">
                    <a14:imgEffect>
                      <a14:backgroundRemoval t="10000" b="90000" l="10000" r="90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101772" y="6455326"/>
            <a:ext cx="392552" cy="39255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066625198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9" name="Image 28">
            <a:extLst>
              <a:ext uri="{FF2B5EF4-FFF2-40B4-BE49-F238E27FC236}">
                <a16:creationId xmlns:a16="http://schemas.microsoft.com/office/drawing/2014/main" id="{B991D4B0-60B6-16FF-BD9E-1097899DA91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992139" y="1476375"/>
            <a:ext cx="6200775" cy="5153025"/>
          </a:xfrm>
          <a:prstGeom prst="rect">
            <a:avLst/>
          </a:prstGeom>
        </p:spPr>
      </p:pic>
      <p:sp>
        <p:nvSpPr>
          <p:cNvPr id="11" name="Rectangle 10">
            <a:extLst>
              <a:ext uri="{FF2B5EF4-FFF2-40B4-BE49-F238E27FC236}">
                <a16:creationId xmlns:a16="http://schemas.microsoft.com/office/drawing/2014/main" id="{7C39E3C8-22BF-4F4A-9F2D-452D9E47CD2C}"/>
              </a:ext>
            </a:extLst>
          </p:cNvPr>
          <p:cNvSpPr/>
          <p:nvPr/>
        </p:nvSpPr>
        <p:spPr>
          <a:xfrm>
            <a:off x="0" y="-3652"/>
            <a:ext cx="12192000" cy="1306286"/>
          </a:xfrm>
          <a:prstGeom prst="rect">
            <a:avLst/>
          </a:prstGeom>
          <a:gradFill flip="none" rotWithShape="1">
            <a:gsLst>
              <a:gs pos="0">
                <a:srgbClr val="004537"/>
              </a:gs>
              <a:gs pos="100000">
                <a:srgbClr val="1F9032"/>
              </a:gs>
            </a:gsLst>
            <a:lin ang="10200000" scaled="0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12" name="ZoneTexte 11">
            <a:extLst>
              <a:ext uri="{FF2B5EF4-FFF2-40B4-BE49-F238E27FC236}">
                <a16:creationId xmlns:a16="http://schemas.microsoft.com/office/drawing/2014/main" id="{132192D3-4B3B-844F-BACF-523380D2E796}"/>
              </a:ext>
            </a:extLst>
          </p:cNvPr>
          <p:cNvSpPr txBox="1"/>
          <p:nvPr/>
        </p:nvSpPr>
        <p:spPr>
          <a:xfrm>
            <a:off x="0" y="34924"/>
            <a:ext cx="12192000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4000" b="1" dirty="0" err="1">
                <a:solidFill>
                  <a:schemeClr val="bg1"/>
                </a:solidFill>
                <a:latin typeface="Poppins" panose="02000000000000000000" pitchFamily="2" charset="0"/>
                <a:cs typeface="Poppins" panose="02000000000000000000" pitchFamily="2" charset="0"/>
              </a:rPr>
              <a:t>Results</a:t>
            </a:r>
            <a:r>
              <a:rPr lang="fr-FR" sz="4000" b="1" dirty="0">
                <a:solidFill>
                  <a:schemeClr val="bg1"/>
                </a:solidFill>
                <a:latin typeface="Poppins" panose="02000000000000000000" pitchFamily="2" charset="0"/>
                <a:cs typeface="Poppins" panose="02000000000000000000" pitchFamily="2" charset="0"/>
              </a:rPr>
              <a:t> - </a:t>
            </a:r>
            <a:r>
              <a:rPr lang="fr-FR" sz="4000" b="1" dirty="0" err="1">
                <a:solidFill>
                  <a:schemeClr val="bg1"/>
                </a:solidFill>
                <a:latin typeface="Poppins" panose="02000000000000000000" pitchFamily="2" charset="0"/>
                <a:cs typeface="Poppins" panose="02000000000000000000" pitchFamily="2" charset="0"/>
              </a:rPr>
              <a:t>birds</a:t>
            </a:r>
            <a:endParaRPr lang="fr-FR" b="1" dirty="0">
              <a:solidFill>
                <a:schemeClr val="bg1"/>
              </a:solidFill>
              <a:latin typeface="Poppins" panose="02000000000000000000" pitchFamily="2" charset="0"/>
              <a:cs typeface="Poppins" panose="02000000000000000000" pitchFamily="2" charset="0"/>
            </a:endParaRPr>
          </a:p>
        </p:txBody>
      </p:sp>
      <p:sp>
        <p:nvSpPr>
          <p:cNvPr id="2" name="Espace réservé du numéro de diapositive 1">
            <a:extLst>
              <a:ext uri="{FF2B5EF4-FFF2-40B4-BE49-F238E27FC236}">
                <a16:creationId xmlns:a16="http://schemas.microsoft.com/office/drawing/2014/main" id="{C906F80A-B3E0-0198-9799-6C7D9EDBA55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7E51662-EAF4-4F13-861F-8A695F40F4A6}" type="slidenum">
              <a:rPr lang="fr-FR" smtClean="0"/>
              <a:t>11</a:t>
            </a:fld>
            <a:endParaRPr lang="fr-FR"/>
          </a:p>
        </p:txBody>
      </p:sp>
      <p:pic>
        <p:nvPicPr>
          <p:cNvPr id="17" name="Picture 6" descr="Pin Sylvestre | BIOLYS">
            <a:extLst>
              <a:ext uri="{FF2B5EF4-FFF2-40B4-BE49-F238E27FC236}">
                <a16:creationId xmlns:a16="http://schemas.microsoft.com/office/drawing/2014/main" id="{87768E7B-5720-5B52-2BCD-35383BF8033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 cstate="print">
            <a:extLst>
              <a:ext uri="{BEBA8EAE-BF5A-486C-A8C5-ECC9F3942E4B}">
                <a14:imgProps xmlns:a14="http://schemas.microsoft.com/office/drawing/2010/main">
                  <a14:imgLayer r:embed="rId5">
                    <a14:imgEffect>
                      <a14:backgroundRemoval t="10000" b="90000" l="10000" r="90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 rot="18575066">
            <a:off x="97465" y="2066293"/>
            <a:ext cx="390962" cy="39096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8" name="Picture 4" descr="Feuille de chêne vert isolé sur fond blanc | Photo Premium">
            <a:extLst>
              <a:ext uri="{FF2B5EF4-FFF2-40B4-BE49-F238E27FC236}">
                <a16:creationId xmlns:a16="http://schemas.microsoft.com/office/drawing/2014/main" id="{8FA9705B-2567-E7DC-E14B-425B64FC5D4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6" cstate="print">
            <a:extLst>
              <a:ext uri="{BEBA8EAE-BF5A-486C-A8C5-ECC9F3942E4B}">
                <a14:imgProps xmlns:a14="http://schemas.microsoft.com/office/drawing/2010/main">
                  <a14:imgLayer r:embed="rId7">
                    <a14:imgEffect>
                      <a14:backgroundRemoval t="10000" b="90000" l="10000" r="90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-29726" y="1355261"/>
            <a:ext cx="470489" cy="47048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9" name="Picture 4" descr="Feuille de chêne vert isolé sur fond blanc | Photo Premium">
            <a:extLst>
              <a:ext uri="{FF2B5EF4-FFF2-40B4-BE49-F238E27FC236}">
                <a16:creationId xmlns:a16="http://schemas.microsoft.com/office/drawing/2014/main" id="{499BF1E0-71F0-2756-67EE-865EBED1449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8" cstate="print">
            <a:extLst>
              <a:ext uri="{BEBA8EAE-BF5A-486C-A8C5-ECC9F3942E4B}">
                <a14:imgProps xmlns:a14="http://schemas.microsoft.com/office/drawing/2010/main">
                  <a14:imgLayer r:embed="rId9">
                    <a14:imgEffect>
                      <a14:backgroundRemoval t="10000" b="90000" l="10000" r="90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-29726" y="1962943"/>
            <a:ext cx="327892" cy="32789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8" name="Picture 6" descr="Pin Sylvestre | BIOLYS">
            <a:extLst>
              <a:ext uri="{FF2B5EF4-FFF2-40B4-BE49-F238E27FC236}">
                <a16:creationId xmlns:a16="http://schemas.microsoft.com/office/drawing/2014/main" id="{D783C18B-AE8E-4C7E-B52A-43BE5718A69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10" cstate="print">
            <a:extLst>
              <a:ext uri="{BEBA8EAE-BF5A-486C-A8C5-ECC9F3942E4B}">
                <a14:imgProps xmlns:a14="http://schemas.microsoft.com/office/drawing/2010/main">
                  <a14:imgLayer r:embed="rId11">
                    <a14:imgEffect>
                      <a14:backgroundRemoval t="10000" b="90000" l="10000" r="90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 rot="18575066">
            <a:off x="3042575" y="5519207"/>
            <a:ext cx="747878" cy="74787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0" name="Flèche : droite 29">
            <a:extLst>
              <a:ext uri="{FF2B5EF4-FFF2-40B4-BE49-F238E27FC236}">
                <a16:creationId xmlns:a16="http://schemas.microsoft.com/office/drawing/2014/main" id="{03DD647D-699F-D0D8-9E74-061FC5324525}"/>
              </a:ext>
            </a:extLst>
          </p:cNvPr>
          <p:cNvSpPr/>
          <p:nvPr/>
        </p:nvSpPr>
        <p:spPr>
          <a:xfrm>
            <a:off x="4840186" y="5209561"/>
            <a:ext cx="318706" cy="118809"/>
          </a:xfrm>
          <a:prstGeom prst="rightArrow">
            <a:avLst/>
          </a:prstGeom>
          <a:solidFill>
            <a:srgbClr val="FF0000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31" name="Flèche : droite 30">
            <a:extLst>
              <a:ext uri="{FF2B5EF4-FFF2-40B4-BE49-F238E27FC236}">
                <a16:creationId xmlns:a16="http://schemas.microsoft.com/office/drawing/2014/main" id="{D3E44044-752E-ECDB-A4E6-25409E383503}"/>
              </a:ext>
            </a:extLst>
          </p:cNvPr>
          <p:cNvSpPr/>
          <p:nvPr/>
        </p:nvSpPr>
        <p:spPr>
          <a:xfrm>
            <a:off x="4864614" y="1947017"/>
            <a:ext cx="318706" cy="118809"/>
          </a:xfrm>
          <a:prstGeom prst="rightArrow">
            <a:avLst/>
          </a:prstGeom>
          <a:solidFill>
            <a:srgbClr val="FF0000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32" name="Flèche : droite 31">
            <a:extLst>
              <a:ext uri="{FF2B5EF4-FFF2-40B4-BE49-F238E27FC236}">
                <a16:creationId xmlns:a16="http://schemas.microsoft.com/office/drawing/2014/main" id="{3A67D710-4251-3B91-9EDD-B603B29B154A}"/>
              </a:ext>
            </a:extLst>
          </p:cNvPr>
          <p:cNvSpPr/>
          <p:nvPr/>
        </p:nvSpPr>
        <p:spPr>
          <a:xfrm>
            <a:off x="4864614" y="1612486"/>
            <a:ext cx="318706" cy="118809"/>
          </a:xfrm>
          <a:prstGeom prst="rightArrow">
            <a:avLst/>
          </a:prstGeom>
          <a:solidFill>
            <a:srgbClr val="FF0000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33" name="Flèche : droite 32">
            <a:extLst>
              <a:ext uri="{FF2B5EF4-FFF2-40B4-BE49-F238E27FC236}">
                <a16:creationId xmlns:a16="http://schemas.microsoft.com/office/drawing/2014/main" id="{3EA8859D-2319-0E5E-DB37-025F4618321D}"/>
              </a:ext>
            </a:extLst>
          </p:cNvPr>
          <p:cNvSpPr/>
          <p:nvPr/>
        </p:nvSpPr>
        <p:spPr>
          <a:xfrm>
            <a:off x="4864614" y="2126889"/>
            <a:ext cx="318706" cy="118809"/>
          </a:xfrm>
          <a:prstGeom prst="rightArrow">
            <a:avLst/>
          </a:prstGeom>
          <a:solidFill>
            <a:srgbClr val="FF0000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pic>
        <p:nvPicPr>
          <p:cNvPr id="8194" name="Picture 2" descr="Description de cette image, également commentée ci-après">
            <a:extLst>
              <a:ext uri="{FF2B5EF4-FFF2-40B4-BE49-F238E27FC236}">
                <a16:creationId xmlns:a16="http://schemas.microsoft.com/office/drawing/2014/main" id="{9C899E2F-5407-241C-10F5-BF3391CC5E51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1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6359" r="10143"/>
          <a:stretch/>
        </p:blipFill>
        <p:spPr bwMode="auto">
          <a:xfrm>
            <a:off x="431210" y="1361314"/>
            <a:ext cx="1469310" cy="125796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4" name="ZoneTexte 33">
            <a:extLst>
              <a:ext uri="{FF2B5EF4-FFF2-40B4-BE49-F238E27FC236}">
                <a16:creationId xmlns:a16="http://schemas.microsoft.com/office/drawing/2014/main" id="{115AD453-43A1-0C5B-2D60-AD2F077E5C45}"/>
              </a:ext>
            </a:extLst>
          </p:cNvPr>
          <p:cNvSpPr txBox="1"/>
          <p:nvPr/>
        </p:nvSpPr>
        <p:spPr>
          <a:xfrm>
            <a:off x="444957" y="2568428"/>
            <a:ext cx="833883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1200" dirty="0"/>
              <a:t>©Dion Art</a:t>
            </a:r>
          </a:p>
        </p:txBody>
      </p:sp>
      <p:pic>
        <p:nvPicPr>
          <p:cNvPr id="35" name="Image 34">
            <a:extLst>
              <a:ext uri="{FF2B5EF4-FFF2-40B4-BE49-F238E27FC236}">
                <a16:creationId xmlns:a16="http://schemas.microsoft.com/office/drawing/2014/main" id="{0892AB81-235F-0B1F-3280-08D1623D5AC2}"/>
              </a:ext>
            </a:extLst>
          </p:cNvPr>
          <p:cNvPicPr>
            <a:picLocks noChangeAspect="1"/>
          </p:cNvPicPr>
          <p:nvPr/>
        </p:nvPicPr>
        <p:blipFill>
          <a:blip r:embed="rId13"/>
          <a:srcRect l="15793" t="22305" r="36837" b="22304"/>
          <a:stretch/>
        </p:blipFill>
        <p:spPr>
          <a:xfrm>
            <a:off x="1937097" y="1362652"/>
            <a:ext cx="1638912" cy="1269615"/>
          </a:xfrm>
          <a:prstGeom prst="rect">
            <a:avLst/>
          </a:prstGeom>
        </p:spPr>
      </p:pic>
      <p:sp>
        <p:nvSpPr>
          <p:cNvPr id="36" name="ZoneTexte 35">
            <a:extLst>
              <a:ext uri="{FF2B5EF4-FFF2-40B4-BE49-F238E27FC236}">
                <a16:creationId xmlns:a16="http://schemas.microsoft.com/office/drawing/2014/main" id="{2492E7CB-C917-F064-D79B-05378C6663DA}"/>
              </a:ext>
            </a:extLst>
          </p:cNvPr>
          <p:cNvSpPr txBox="1"/>
          <p:nvPr/>
        </p:nvSpPr>
        <p:spPr>
          <a:xfrm>
            <a:off x="2107344" y="2590661"/>
            <a:ext cx="1164421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1200" dirty="0"/>
              <a:t>©</a:t>
            </a:r>
            <a:r>
              <a:rPr lang="fr-FR" sz="1200" dirty="0" err="1"/>
              <a:t>Smudge</a:t>
            </a:r>
            <a:r>
              <a:rPr lang="fr-FR" sz="1200" dirty="0"/>
              <a:t> 9000</a:t>
            </a:r>
          </a:p>
        </p:txBody>
      </p:sp>
      <p:pic>
        <p:nvPicPr>
          <p:cNvPr id="37" name="Image 36">
            <a:extLst>
              <a:ext uri="{FF2B5EF4-FFF2-40B4-BE49-F238E27FC236}">
                <a16:creationId xmlns:a16="http://schemas.microsoft.com/office/drawing/2014/main" id="{2A27E14C-6F13-C753-8BFF-B1FFFB42D33F}"/>
              </a:ext>
            </a:extLst>
          </p:cNvPr>
          <p:cNvPicPr>
            <a:picLocks noChangeAspect="1"/>
          </p:cNvPicPr>
          <p:nvPr/>
        </p:nvPicPr>
        <p:blipFill>
          <a:blip r:embed="rId14"/>
          <a:srcRect r="15304"/>
          <a:stretch/>
        </p:blipFill>
        <p:spPr>
          <a:xfrm>
            <a:off x="3640301" y="1361314"/>
            <a:ext cx="1075309" cy="1269615"/>
          </a:xfrm>
          <a:prstGeom prst="rect">
            <a:avLst/>
          </a:prstGeom>
        </p:spPr>
      </p:pic>
      <p:sp>
        <p:nvSpPr>
          <p:cNvPr id="38" name="Flèche : droite 37">
            <a:extLst>
              <a:ext uri="{FF2B5EF4-FFF2-40B4-BE49-F238E27FC236}">
                <a16:creationId xmlns:a16="http://schemas.microsoft.com/office/drawing/2014/main" id="{8B50996F-7B06-F907-66EE-CAF45F997C68}"/>
              </a:ext>
            </a:extLst>
          </p:cNvPr>
          <p:cNvSpPr/>
          <p:nvPr/>
        </p:nvSpPr>
        <p:spPr>
          <a:xfrm rot="18525124">
            <a:off x="4711912" y="2577866"/>
            <a:ext cx="599267" cy="127074"/>
          </a:xfrm>
          <a:prstGeom prst="rightArrow">
            <a:avLst/>
          </a:prstGeom>
          <a:solidFill>
            <a:srgbClr val="FF0000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39" name="ZoneTexte 38">
            <a:extLst>
              <a:ext uri="{FF2B5EF4-FFF2-40B4-BE49-F238E27FC236}">
                <a16:creationId xmlns:a16="http://schemas.microsoft.com/office/drawing/2014/main" id="{1B094F34-5940-BAE4-E781-8D6A73955580}"/>
              </a:ext>
            </a:extLst>
          </p:cNvPr>
          <p:cNvSpPr txBox="1"/>
          <p:nvPr/>
        </p:nvSpPr>
        <p:spPr>
          <a:xfrm>
            <a:off x="3544948" y="2590660"/>
            <a:ext cx="1271630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1200" dirty="0"/>
              <a:t>©</a:t>
            </a:r>
            <a:r>
              <a:rPr lang="fr-FR" sz="1200" dirty="0" err="1"/>
              <a:t>Bontempi</a:t>
            </a:r>
            <a:r>
              <a:rPr lang="fr-FR" sz="1200" dirty="0"/>
              <a:t> 1953</a:t>
            </a:r>
          </a:p>
        </p:txBody>
      </p:sp>
      <p:pic>
        <p:nvPicPr>
          <p:cNvPr id="40" name="Image 39">
            <a:extLst>
              <a:ext uri="{FF2B5EF4-FFF2-40B4-BE49-F238E27FC236}">
                <a16:creationId xmlns:a16="http://schemas.microsoft.com/office/drawing/2014/main" id="{2E5BA252-AADB-DD69-AF6B-43E16FB0E46B}"/>
              </a:ext>
            </a:extLst>
          </p:cNvPr>
          <p:cNvPicPr>
            <a:picLocks noChangeAspect="1"/>
          </p:cNvPicPr>
          <p:nvPr/>
        </p:nvPicPr>
        <p:blipFill>
          <a:blip r:embed="rId15"/>
          <a:srcRect l="4752" t="18215" r="27176" b="6785"/>
          <a:stretch/>
        </p:blipFill>
        <p:spPr>
          <a:xfrm>
            <a:off x="3545140" y="2995726"/>
            <a:ext cx="1344894" cy="1111350"/>
          </a:xfrm>
          <a:prstGeom prst="rect">
            <a:avLst/>
          </a:prstGeom>
        </p:spPr>
      </p:pic>
      <p:pic>
        <p:nvPicPr>
          <p:cNvPr id="41" name="Picture 4" descr="Feuille de chêne vert isolé sur fond blanc | Photo Premium">
            <a:extLst>
              <a:ext uri="{FF2B5EF4-FFF2-40B4-BE49-F238E27FC236}">
                <a16:creationId xmlns:a16="http://schemas.microsoft.com/office/drawing/2014/main" id="{DE9D3DC2-FC54-F2DA-53AD-95269752ED2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6" cstate="print">
            <a:extLst>
              <a:ext uri="{BEBA8EAE-BF5A-486C-A8C5-ECC9F3942E4B}">
                <a14:imgProps xmlns:a14="http://schemas.microsoft.com/office/drawing/2010/main">
                  <a14:imgLayer r:embed="rId7">
                    <a14:imgEffect>
                      <a14:backgroundRemoval t="10000" b="90000" l="10000" r="90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923158" y="3186663"/>
            <a:ext cx="662404" cy="66240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2" name="ZoneTexte 41">
            <a:extLst>
              <a:ext uri="{FF2B5EF4-FFF2-40B4-BE49-F238E27FC236}">
                <a16:creationId xmlns:a16="http://schemas.microsoft.com/office/drawing/2014/main" id="{9BB1E10C-3F21-8966-9BA8-C8ED78DD2801}"/>
              </a:ext>
            </a:extLst>
          </p:cNvPr>
          <p:cNvSpPr txBox="1"/>
          <p:nvPr/>
        </p:nvSpPr>
        <p:spPr>
          <a:xfrm>
            <a:off x="4670308" y="1291594"/>
            <a:ext cx="700641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1600" dirty="0" err="1">
                <a:solidFill>
                  <a:srgbClr val="FF0000"/>
                </a:solidFill>
              </a:rPr>
              <a:t>IndVal</a:t>
            </a:r>
            <a:endParaRPr lang="fr-FR" sz="1600" dirty="0">
              <a:solidFill>
                <a:srgbClr val="FF0000"/>
              </a:solidFill>
            </a:endParaRPr>
          </a:p>
        </p:txBody>
      </p:sp>
      <p:sp>
        <p:nvSpPr>
          <p:cNvPr id="43" name="ZoneTexte 42">
            <a:extLst>
              <a:ext uri="{FF2B5EF4-FFF2-40B4-BE49-F238E27FC236}">
                <a16:creationId xmlns:a16="http://schemas.microsoft.com/office/drawing/2014/main" id="{EF5E6C19-5A92-DE8D-5E2E-E32BB774A9D7}"/>
              </a:ext>
            </a:extLst>
          </p:cNvPr>
          <p:cNvSpPr txBox="1"/>
          <p:nvPr/>
        </p:nvSpPr>
        <p:spPr>
          <a:xfrm>
            <a:off x="3774263" y="4095300"/>
            <a:ext cx="766492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1200" dirty="0"/>
              <a:t>©</a:t>
            </a:r>
            <a:r>
              <a:rPr lang="fr-FR" sz="1200" dirty="0" err="1"/>
              <a:t>ThKraft</a:t>
            </a:r>
            <a:endParaRPr lang="fr-FR" sz="1200" dirty="0"/>
          </a:p>
        </p:txBody>
      </p:sp>
      <p:pic>
        <p:nvPicPr>
          <p:cNvPr id="44" name="Image 43">
            <a:extLst>
              <a:ext uri="{FF2B5EF4-FFF2-40B4-BE49-F238E27FC236}">
                <a16:creationId xmlns:a16="http://schemas.microsoft.com/office/drawing/2014/main" id="{1C4EEAFA-8368-242E-534A-95413EE80F04}"/>
              </a:ext>
            </a:extLst>
          </p:cNvPr>
          <p:cNvPicPr>
            <a:picLocks noChangeAspect="1"/>
          </p:cNvPicPr>
          <p:nvPr/>
        </p:nvPicPr>
        <p:blipFill>
          <a:blip r:embed="rId16"/>
          <a:srcRect l="45717" t="12669" r="13157" b="12194"/>
          <a:stretch/>
        </p:blipFill>
        <p:spPr>
          <a:xfrm>
            <a:off x="3745300" y="5272863"/>
            <a:ext cx="1018909" cy="1240567"/>
          </a:xfrm>
          <a:prstGeom prst="rect">
            <a:avLst/>
          </a:prstGeom>
        </p:spPr>
      </p:pic>
      <p:pic>
        <p:nvPicPr>
          <p:cNvPr id="45" name="Picture 6" descr="Pin Sylvestre | BIOLYS">
            <a:extLst>
              <a:ext uri="{FF2B5EF4-FFF2-40B4-BE49-F238E27FC236}">
                <a16:creationId xmlns:a16="http://schemas.microsoft.com/office/drawing/2014/main" id="{2A06A77C-28A1-A275-BA8A-B1C3C0D203D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17" cstate="print">
            <a:extLst>
              <a:ext uri="{BEBA8EAE-BF5A-486C-A8C5-ECC9F3942E4B}">
                <a14:imgProps xmlns:a14="http://schemas.microsoft.com/office/drawing/2010/main">
                  <a14:imgLayer r:embed="rId18">
                    <a14:imgEffect>
                      <a14:backgroundRemoval t="10000" b="90000" l="10000" r="90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 rot="18575066">
            <a:off x="5849424" y="6296316"/>
            <a:ext cx="638784" cy="63878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46" name="Picture 4" descr="Feuille de chêne vert isolé sur fond blanc | Photo Premium">
            <a:extLst>
              <a:ext uri="{FF2B5EF4-FFF2-40B4-BE49-F238E27FC236}">
                <a16:creationId xmlns:a16="http://schemas.microsoft.com/office/drawing/2014/main" id="{A33CDE4B-667C-2942-5F54-D3A1EE7238C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6" cstate="print">
            <a:extLst>
              <a:ext uri="{BEBA8EAE-BF5A-486C-A8C5-ECC9F3942E4B}">
                <a14:imgProps xmlns:a14="http://schemas.microsoft.com/office/drawing/2010/main">
                  <a14:imgLayer r:embed="rId7">
                    <a14:imgEffect>
                      <a14:backgroundRemoval t="10000" b="90000" l="10000" r="90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417338" y="6284506"/>
            <a:ext cx="662404" cy="66240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465816199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Rectangle 10">
            <a:extLst>
              <a:ext uri="{FF2B5EF4-FFF2-40B4-BE49-F238E27FC236}">
                <a16:creationId xmlns:a16="http://schemas.microsoft.com/office/drawing/2014/main" id="{7C39E3C8-22BF-4F4A-9F2D-452D9E47CD2C}"/>
              </a:ext>
            </a:extLst>
          </p:cNvPr>
          <p:cNvSpPr/>
          <p:nvPr/>
        </p:nvSpPr>
        <p:spPr>
          <a:xfrm>
            <a:off x="0" y="-3652"/>
            <a:ext cx="12192000" cy="1306286"/>
          </a:xfrm>
          <a:prstGeom prst="rect">
            <a:avLst/>
          </a:prstGeom>
          <a:gradFill flip="none" rotWithShape="1">
            <a:gsLst>
              <a:gs pos="0">
                <a:srgbClr val="004537"/>
              </a:gs>
              <a:gs pos="100000">
                <a:srgbClr val="1F9032"/>
              </a:gs>
            </a:gsLst>
            <a:lin ang="10200000" scaled="0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12" name="ZoneTexte 11">
            <a:extLst>
              <a:ext uri="{FF2B5EF4-FFF2-40B4-BE49-F238E27FC236}">
                <a16:creationId xmlns:a16="http://schemas.microsoft.com/office/drawing/2014/main" id="{132192D3-4B3B-844F-BACF-523380D2E796}"/>
              </a:ext>
            </a:extLst>
          </p:cNvPr>
          <p:cNvSpPr txBox="1"/>
          <p:nvPr/>
        </p:nvSpPr>
        <p:spPr>
          <a:xfrm>
            <a:off x="0" y="34924"/>
            <a:ext cx="12192000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4000" b="1" dirty="0" err="1">
                <a:solidFill>
                  <a:schemeClr val="bg1"/>
                </a:solidFill>
                <a:latin typeface="Poppins" panose="02000000000000000000" pitchFamily="2" charset="0"/>
                <a:cs typeface="Poppins" panose="02000000000000000000" pitchFamily="2" charset="0"/>
              </a:rPr>
              <a:t>Results</a:t>
            </a:r>
            <a:r>
              <a:rPr lang="fr-FR" sz="4000" b="1" dirty="0">
                <a:solidFill>
                  <a:schemeClr val="bg1"/>
                </a:solidFill>
                <a:latin typeface="Poppins" panose="02000000000000000000" pitchFamily="2" charset="0"/>
                <a:cs typeface="Poppins" panose="02000000000000000000" pitchFamily="2" charset="0"/>
              </a:rPr>
              <a:t> – </a:t>
            </a:r>
            <a:r>
              <a:rPr lang="fr-FR" sz="4000" b="1" dirty="0" err="1">
                <a:solidFill>
                  <a:schemeClr val="bg1"/>
                </a:solidFill>
                <a:latin typeface="Poppins" panose="02000000000000000000" pitchFamily="2" charset="0"/>
                <a:cs typeface="Poppins" panose="02000000000000000000" pitchFamily="2" charset="0"/>
              </a:rPr>
              <a:t>saproxylic</a:t>
            </a:r>
            <a:r>
              <a:rPr lang="fr-FR" sz="4000" b="1" dirty="0">
                <a:solidFill>
                  <a:schemeClr val="bg1"/>
                </a:solidFill>
                <a:latin typeface="Poppins" panose="02000000000000000000" pitchFamily="2" charset="0"/>
                <a:cs typeface="Poppins" panose="02000000000000000000" pitchFamily="2" charset="0"/>
              </a:rPr>
              <a:t> </a:t>
            </a:r>
            <a:r>
              <a:rPr lang="fr-FR" sz="4000" b="1" dirty="0" err="1">
                <a:solidFill>
                  <a:schemeClr val="bg1"/>
                </a:solidFill>
                <a:latin typeface="Poppins" panose="02000000000000000000" pitchFamily="2" charset="0"/>
                <a:cs typeface="Poppins" panose="02000000000000000000" pitchFamily="2" charset="0"/>
              </a:rPr>
              <a:t>beetles</a:t>
            </a:r>
            <a:endParaRPr lang="fr-FR" sz="4000" b="1" dirty="0">
              <a:solidFill>
                <a:schemeClr val="bg1"/>
              </a:solidFill>
              <a:latin typeface="Poppins" panose="02000000000000000000" pitchFamily="2" charset="0"/>
              <a:cs typeface="Poppins" panose="02000000000000000000" pitchFamily="2" charset="0"/>
            </a:endParaRPr>
          </a:p>
        </p:txBody>
      </p:sp>
      <p:sp>
        <p:nvSpPr>
          <p:cNvPr id="2" name="Espace réservé du numéro de diapositive 1">
            <a:extLst>
              <a:ext uri="{FF2B5EF4-FFF2-40B4-BE49-F238E27FC236}">
                <a16:creationId xmlns:a16="http://schemas.microsoft.com/office/drawing/2014/main" id="{C906F80A-B3E0-0198-9799-6C7D9EDBA55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7E51662-EAF4-4F13-861F-8A695F40F4A6}" type="slidenum">
              <a:rPr lang="fr-FR" smtClean="0"/>
              <a:t>12</a:t>
            </a:fld>
            <a:endParaRPr lang="fr-FR"/>
          </a:p>
        </p:txBody>
      </p:sp>
      <p:sp>
        <p:nvSpPr>
          <p:cNvPr id="26" name="ZoneTexte 25">
            <a:extLst>
              <a:ext uri="{FF2B5EF4-FFF2-40B4-BE49-F238E27FC236}">
                <a16:creationId xmlns:a16="http://schemas.microsoft.com/office/drawing/2014/main" id="{8CD8759C-2435-EDB5-607E-9A30E46CCBA6}"/>
              </a:ext>
            </a:extLst>
          </p:cNvPr>
          <p:cNvSpPr txBox="1"/>
          <p:nvPr/>
        </p:nvSpPr>
        <p:spPr>
          <a:xfrm>
            <a:off x="2120175" y="1406101"/>
            <a:ext cx="170591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dirty="0" err="1"/>
              <a:t>Species</a:t>
            </a:r>
            <a:r>
              <a:rPr lang="fr-FR" dirty="0"/>
              <a:t> </a:t>
            </a:r>
            <a:r>
              <a:rPr lang="fr-FR" dirty="0" err="1"/>
              <a:t>richness</a:t>
            </a:r>
            <a:endParaRPr lang="fr-FR" dirty="0"/>
          </a:p>
        </p:txBody>
      </p:sp>
      <p:sp>
        <p:nvSpPr>
          <p:cNvPr id="27" name="ZoneTexte 26">
            <a:extLst>
              <a:ext uri="{FF2B5EF4-FFF2-40B4-BE49-F238E27FC236}">
                <a16:creationId xmlns:a16="http://schemas.microsoft.com/office/drawing/2014/main" id="{4F5B7951-F8BD-6230-CF63-5E52EB3D7412}"/>
              </a:ext>
            </a:extLst>
          </p:cNvPr>
          <p:cNvSpPr txBox="1"/>
          <p:nvPr/>
        </p:nvSpPr>
        <p:spPr>
          <a:xfrm>
            <a:off x="8063775" y="1406101"/>
            <a:ext cx="125066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dirty="0" err="1"/>
              <a:t>Abundance</a:t>
            </a:r>
            <a:endParaRPr lang="fr-FR" dirty="0"/>
          </a:p>
        </p:txBody>
      </p:sp>
      <p:pic>
        <p:nvPicPr>
          <p:cNvPr id="1030" name="Picture 6" descr="Pin Sylvestre | BIOLYS">
            <a:extLst>
              <a:ext uri="{FF2B5EF4-FFF2-40B4-BE49-F238E27FC236}">
                <a16:creationId xmlns:a16="http://schemas.microsoft.com/office/drawing/2014/main" id="{A4C07FE4-A405-7E5C-0028-09760812913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 cstate="print">
            <a:extLst>
              <a:ext uri="{BEBA8EAE-BF5A-486C-A8C5-ECC9F3942E4B}">
                <a14:imgProps xmlns:a14="http://schemas.microsoft.com/office/drawing/2010/main">
                  <a14:imgLayer r:embed="rId4">
                    <a14:imgEffect>
                      <a14:backgroundRemoval t="10000" b="90000" l="10000" r="90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 rot="18575066">
            <a:off x="506505" y="6146622"/>
            <a:ext cx="663390" cy="66339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28" name="Picture 4" descr="Feuille de chêne vert isolé sur fond blanc | Photo Premium">
            <a:extLst>
              <a:ext uri="{FF2B5EF4-FFF2-40B4-BE49-F238E27FC236}">
                <a16:creationId xmlns:a16="http://schemas.microsoft.com/office/drawing/2014/main" id="{2B8A0403-AC36-BF95-5C44-0DD228B66AF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 cstate="print">
            <a:extLst>
              <a:ext uri="{BEBA8EAE-BF5A-486C-A8C5-ECC9F3942E4B}">
                <a14:imgProps xmlns:a14="http://schemas.microsoft.com/office/drawing/2010/main">
                  <a14:imgLayer r:embed="rId6">
                    <a14:imgEffect>
                      <a14:backgroundRemoval t="10000" b="90000" l="10000" r="90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303473" y="6146623"/>
            <a:ext cx="663389" cy="66338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7" name="Picture 6" descr="Pin Sylvestre | BIOLYS">
            <a:extLst>
              <a:ext uri="{FF2B5EF4-FFF2-40B4-BE49-F238E27FC236}">
                <a16:creationId xmlns:a16="http://schemas.microsoft.com/office/drawing/2014/main" id="{828B4C79-3795-46E0-29DA-A63B33E47C8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7" cstate="print">
            <a:extLst>
              <a:ext uri="{BEBA8EAE-BF5A-486C-A8C5-ECC9F3942E4B}">
                <a14:imgProps xmlns:a14="http://schemas.microsoft.com/office/drawing/2010/main">
                  <a14:imgLayer r:embed="rId8">
                    <a14:imgEffect>
                      <a14:backgroundRemoval t="10000" b="90000" l="10000" r="90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 rot="18575066">
            <a:off x="2911472" y="6392022"/>
            <a:ext cx="501230" cy="50123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8" name="Picture 4" descr="Feuille de chêne vert isolé sur fond blanc | Photo Premium">
            <a:extLst>
              <a:ext uri="{FF2B5EF4-FFF2-40B4-BE49-F238E27FC236}">
                <a16:creationId xmlns:a16="http://schemas.microsoft.com/office/drawing/2014/main" id="{E04ED324-5EEF-306A-BAB9-A00F6497982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 cstate="print">
            <a:extLst>
              <a:ext uri="{BEBA8EAE-BF5A-486C-A8C5-ECC9F3942E4B}">
                <a14:imgProps xmlns:a14="http://schemas.microsoft.com/office/drawing/2010/main">
                  <a14:imgLayer r:embed="rId6">
                    <a14:imgEffect>
                      <a14:backgroundRemoval t="10000" b="90000" l="10000" r="90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274717" y="6446361"/>
            <a:ext cx="392552" cy="39255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9" name="Picture 6" descr="Pin Sylvestre | BIOLYS">
            <a:extLst>
              <a:ext uri="{FF2B5EF4-FFF2-40B4-BE49-F238E27FC236}">
                <a16:creationId xmlns:a16="http://schemas.microsoft.com/office/drawing/2014/main" id="{5E41EA36-F283-3011-4778-5F80856A294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 cstate="print">
            <a:extLst>
              <a:ext uri="{BEBA8EAE-BF5A-486C-A8C5-ECC9F3942E4B}">
                <a14:imgProps xmlns:a14="http://schemas.microsoft.com/office/drawing/2010/main">
                  <a14:imgLayer r:embed="rId4">
                    <a14:imgEffect>
                      <a14:backgroundRemoval t="10000" b="90000" l="10000" r="90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 rot="18575066">
            <a:off x="6333560" y="6155587"/>
            <a:ext cx="663390" cy="66339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" name="Picture 4" descr="Feuille de chêne vert isolé sur fond blanc | Photo Premium">
            <a:extLst>
              <a:ext uri="{FF2B5EF4-FFF2-40B4-BE49-F238E27FC236}">
                <a16:creationId xmlns:a16="http://schemas.microsoft.com/office/drawing/2014/main" id="{8F3C0511-232A-2849-B8CE-2C6CF8E4204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 cstate="print">
            <a:extLst>
              <a:ext uri="{BEBA8EAE-BF5A-486C-A8C5-ECC9F3942E4B}">
                <a14:imgProps xmlns:a14="http://schemas.microsoft.com/office/drawing/2010/main">
                  <a14:imgLayer r:embed="rId6">
                    <a14:imgEffect>
                      <a14:backgroundRemoval t="10000" b="90000" l="10000" r="90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1130528" y="6155588"/>
            <a:ext cx="663389" cy="66338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3" name="Picture 6" descr="Pin Sylvestre | BIOLYS">
            <a:extLst>
              <a:ext uri="{FF2B5EF4-FFF2-40B4-BE49-F238E27FC236}">
                <a16:creationId xmlns:a16="http://schemas.microsoft.com/office/drawing/2014/main" id="{1A771FD3-BA09-B652-A346-1FA37ECCAF8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7" cstate="print">
            <a:extLst>
              <a:ext uri="{BEBA8EAE-BF5A-486C-A8C5-ECC9F3942E4B}">
                <a14:imgProps xmlns:a14="http://schemas.microsoft.com/office/drawing/2010/main">
                  <a14:imgLayer r:embed="rId8">
                    <a14:imgEffect>
                      <a14:backgroundRemoval t="10000" b="90000" l="10000" r="90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 rot="18575066">
            <a:off x="8738527" y="6400987"/>
            <a:ext cx="501230" cy="50123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4" name="Picture 4" descr="Feuille de chêne vert isolé sur fond blanc | Photo Premium">
            <a:extLst>
              <a:ext uri="{FF2B5EF4-FFF2-40B4-BE49-F238E27FC236}">
                <a16:creationId xmlns:a16="http://schemas.microsoft.com/office/drawing/2014/main" id="{89ECB079-19F0-4FB2-F8A4-18149C35F40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 cstate="print">
            <a:extLst>
              <a:ext uri="{BEBA8EAE-BF5A-486C-A8C5-ECC9F3942E4B}">
                <a14:imgProps xmlns:a14="http://schemas.microsoft.com/office/drawing/2010/main">
                  <a14:imgLayer r:embed="rId6">
                    <a14:imgEffect>
                      <a14:backgroundRemoval t="10000" b="90000" l="10000" r="90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101772" y="6455326"/>
            <a:ext cx="392552" cy="39255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427607014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Rectangle 10">
            <a:extLst>
              <a:ext uri="{FF2B5EF4-FFF2-40B4-BE49-F238E27FC236}">
                <a16:creationId xmlns:a16="http://schemas.microsoft.com/office/drawing/2014/main" id="{7C39E3C8-22BF-4F4A-9F2D-452D9E47CD2C}"/>
              </a:ext>
            </a:extLst>
          </p:cNvPr>
          <p:cNvSpPr/>
          <p:nvPr/>
        </p:nvSpPr>
        <p:spPr>
          <a:xfrm>
            <a:off x="0" y="-3652"/>
            <a:ext cx="12192000" cy="1306286"/>
          </a:xfrm>
          <a:prstGeom prst="rect">
            <a:avLst/>
          </a:prstGeom>
          <a:gradFill flip="none" rotWithShape="1">
            <a:gsLst>
              <a:gs pos="0">
                <a:srgbClr val="004537"/>
              </a:gs>
              <a:gs pos="100000">
                <a:srgbClr val="1F9032"/>
              </a:gs>
            </a:gsLst>
            <a:lin ang="10200000" scaled="0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12" name="ZoneTexte 11">
            <a:extLst>
              <a:ext uri="{FF2B5EF4-FFF2-40B4-BE49-F238E27FC236}">
                <a16:creationId xmlns:a16="http://schemas.microsoft.com/office/drawing/2014/main" id="{132192D3-4B3B-844F-BACF-523380D2E796}"/>
              </a:ext>
            </a:extLst>
          </p:cNvPr>
          <p:cNvSpPr txBox="1"/>
          <p:nvPr/>
        </p:nvSpPr>
        <p:spPr>
          <a:xfrm>
            <a:off x="0" y="34924"/>
            <a:ext cx="12192000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4000" b="1" dirty="0" err="1">
                <a:solidFill>
                  <a:schemeClr val="bg1"/>
                </a:solidFill>
                <a:latin typeface="Poppins" panose="02000000000000000000" pitchFamily="2" charset="0"/>
                <a:cs typeface="Poppins" panose="02000000000000000000" pitchFamily="2" charset="0"/>
              </a:rPr>
              <a:t>Results</a:t>
            </a:r>
            <a:r>
              <a:rPr lang="fr-FR" sz="4000" b="1" dirty="0">
                <a:solidFill>
                  <a:schemeClr val="bg1"/>
                </a:solidFill>
                <a:latin typeface="Poppins" panose="02000000000000000000" pitchFamily="2" charset="0"/>
                <a:cs typeface="Poppins" panose="02000000000000000000" pitchFamily="2" charset="0"/>
              </a:rPr>
              <a:t> – </a:t>
            </a:r>
            <a:r>
              <a:rPr lang="fr-FR" sz="4000" b="1" dirty="0" err="1">
                <a:solidFill>
                  <a:schemeClr val="bg1"/>
                </a:solidFill>
                <a:latin typeface="Poppins" panose="02000000000000000000" pitchFamily="2" charset="0"/>
                <a:cs typeface="Poppins" panose="02000000000000000000" pitchFamily="2" charset="0"/>
              </a:rPr>
              <a:t>saproxylic</a:t>
            </a:r>
            <a:r>
              <a:rPr lang="fr-FR" sz="4000" b="1" dirty="0">
                <a:solidFill>
                  <a:schemeClr val="bg1"/>
                </a:solidFill>
                <a:latin typeface="Poppins" panose="02000000000000000000" pitchFamily="2" charset="0"/>
                <a:cs typeface="Poppins" panose="02000000000000000000" pitchFamily="2" charset="0"/>
              </a:rPr>
              <a:t> </a:t>
            </a:r>
            <a:r>
              <a:rPr lang="fr-FR" sz="4000" b="1" dirty="0" err="1">
                <a:solidFill>
                  <a:schemeClr val="bg1"/>
                </a:solidFill>
                <a:latin typeface="Poppins" panose="02000000000000000000" pitchFamily="2" charset="0"/>
                <a:cs typeface="Poppins" panose="02000000000000000000" pitchFamily="2" charset="0"/>
              </a:rPr>
              <a:t>beetles</a:t>
            </a:r>
            <a:endParaRPr lang="fr-FR" sz="4000" b="1" dirty="0">
              <a:solidFill>
                <a:schemeClr val="bg1"/>
              </a:solidFill>
              <a:latin typeface="Poppins" panose="02000000000000000000" pitchFamily="2" charset="0"/>
              <a:cs typeface="Poppins" panose="02000000000000000000" pitchFamily="2" charset="0"/>
            </a:endParaRPr>
          </a:p>
        </p:txBody>
      </p:sp>
      <p:sp>
        <p:nvSpPr>
          <p:cNvPr id="2" name="Espace réservé du numéro de diapositive 1">
            <a:extLst>
              <a:ext uri="{FF2B5EF4-FFF2-40B4-BE49-F238E27FC236}">
                <a16:creationId xmlns:a16="http://schemas.microsoft.com/office/drawing/2014/main" id="{C906F80A-B3E0-0198-9799-6C7D9EDBA55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7E51662-EAF4-4F13-861F-8A695F40F4A6}" type="slidenum">
              <a:rPr lang="fr-FR" smtClean="0"/>
              <a:t>13</a:t>
            </a:fld>
            <a:endParaRPr lang="fr-FR"/>
          </a:p>
        </p:txBody>
      </p:sp>
      <p:pic>
        <p:nvPicPr>
          <p:cNvPr id="1030" name="Picture 6" descr="Pin Sylvestre | BIOLYS">
            <a:extLst>
              <a:ext uri="{FF2B5EF4-FFF2-40B4-BE49-F238E27FC236}">
                <a16:creationId xmlns:a16="http://schemas.microsoft.com/office/drawing/2014/main" id="{A4C07FE4-A405-7E5C-0028-09760812913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 cstate="print">
            <a:extLst>
              <a:ext uri="{BEBA8EAE-BF5A-486C-A8C5-ECC9F3942E4B}">
                <a14:imgProps xmlns:a14="http://schemas.microsoft.com/office/drawing/2010/main">
                  <a14:imgLayer r:embed="rId4">
                    <a14:imgEffect>
                      <a14:backgroundRemoval t="10000" b="90000" l="10000" r="90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 rot="18575066">
            <a:off x="506505" y="6146622"/>
            <a:ext cx="663390" cy="66339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28" name="Picture 4" descr="Feuille de chêne vert isolé sur fond blanc | Photo Premium">
            <a:extLst>
              <a:ext uri="{FF2B5EF4-FFF2-40B4-BE49-F238E27FC236}">
                <a16:creationId xmlns:a16="http://schemas.microsoft.com/office/drawing/2014/main" id="{2B8A0403-AC36-BF95-5C44-0DD228B66AF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 cstate="print">
            <a:extLst>
              <a:ext uri="{BEBA8EAE-BF5A-486C-A8C5-ECC9F3942E4B}">
                <a14:imgProps xmlns:a14="http://schemas.microsoft.com/office/drawing/2010/main">
                  <a14:imgLayer r:embed="rId6">
                    <a14:imgEffect>
                      <a14:backgroundRemoval t="10000" b="90000" l="10000" r="90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303473" y="6146623"/>
            <a:ext cx="663389" cy="66338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7" name="Picture 6" descr="Pin Sylvestre | BIOLYS">
            <a:extLst>
              <a:ext uri="{FF2B5EF4-FFF2-40B4-BE49-F238E27FC236}">
                <a16:creationId xmlns:a16="http://schemas.microsoft.com/office/drawing/2014/main" id="{828B4C79-3795-46E0-29DA-A63B33E47C8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7" cstate="print">
            <a:extLst>
              <a:ext uri="{BEBA8EAE-BF5A-486C-A8C5-ECC9F3942E4B}">
                <a14:imgProps xmlns:a14="http://schemas.microsoft.com/office/drawing/2010/main">
                  <a14:imgLayer r:embed="rId8">
                    <a14:imgEffect>
                      <a14:backgroundRemoval t="10000" b="90000" l="10000" r="90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 rot="18575066">
            <a:off x="2911472" y="6392022"/>
            <a:ext cx="501230" cy="50123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8" name="Picture 4" descr="Feuille de chêne vert isolé sur fond blanc | Photo Premium">
            <a:extLst>
              <a:ext uri="{FF2B5EF4-FFF2-40B4-BE49-F238E27FC236}">
                <a16:creationId xmlns:a16="http://schemas.microsoft.com/office/drawing/2014/main" id="{E04ED324-5EEF-306A-BAB9-A00F6497982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 cstate="print">
            <a:extLst>
              <a:ext uri="{BEBA8EAE-BF5A-486C-A8C5-ECC9F3942E4B}">
                <a14:imgProps xmlns:a14="http://schemas.microsoft.com/office/drawing/2010/main">
                  <a14:imgLayer r:embed="rId6">
                    <a14:imgEffect>
                      <a14:backgroundRemoval t="10000" b="90000" l="10000" r="90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274717" y="6446361"/>
            <a:ext cx="392552" cy="39255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9" name="Picture 6" descr="Pin Sylvestre | BIOLYS">
            <a:extLst>
              <a:ext uri="{FF2B5EF4-FFF2-40B4-BE49-F238E27FC236}">
                <a16:creationId xmlns:a16="http://schemas.microsoft.com/office/drawing/2014/main" id="{5E41EA36-F283-3011-4778-5F80856A294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 cstate="print">
            <a:extLst>
              <a:ext uri="{BEBA8EAE-BF5A-486C-A8C5-ECC9F3942E4B}">
                <a14:imgProps xmlns:a14="http://schemas.microsoft.com/office/drawing/2010/main">
                  <a14:imgLayer r:embed="rId4">
                    <a14:imgEffect>
                      <a14:backgroundRemoval t="10000" b="90000" l="10000" r="90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 rot="18575066">
            <a:off x="6333560" y="6155587"/>
            <a:ext cx="663390" cy="66339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" name="Picture 4" descr="Feuille de chêne vert isolé sur fond blanc | Photo Premium">
            <a:extLst>
              <a:ext uri="{FF2B5EF4-FFF2-40B4-BE49-F238E27FC236}">
                <a16:creationId xmlns:a16="http://schemas.microsoft.com/office/drawing/2014/main" id="{8F3C0511-232A-2849-B8CE-2C6CF8E4204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 cstate="print">
            <a:extLst>
              <a:ext uri="{BEBA8EAE-BF5A-486C-A8C5-ECC9F3942E4B}">
                <a14:imgProps xmlns:a14="http://schemas.microsoft.com/office/drawing/2010/main">
                  <a14:imgLayer r:embed="rId6">
                    <a14:imgEffect>
                      <a14:backgroundRemoval t="10000" b="90000" l="10000" r="90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1130528" y="6155588"/>
            <a:ext cx="663389" cy="66338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3" name="Picture 6" descr="Pin Sylvestre | BIOLYS">
            <a:extLst>
              <a:ext uri="{FF2B5EF4-FFF2-40B4-BE49-F238E27FC236}">
                <a16:creationId xmlns:a16="http://schemas.microsoft.com/office/drawing/2014/main" id="{1A771FD3-BA09-B652-A346-1FA37ECCAF8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7" cstate="print">
            <a:extLst>
              <a:ext uri="{BEBA8EAE-BF5A-486C-A8C5-ECC9F3942E4B}">
                <a14:imgProps xmlns:a14="http://schemas.microsoft.com/office/drawing/2010/main">
                  <a14:imgLayer r:embed="rId8">
                    <a14:imgEffect>
                      <a14:backgroundRemoval t="10000" b="90000" l="10000" r="90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 rot="18575066">
            <a:off x="8738527" y="6400987"/>
            <a:ext cx="501230" cy="50123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4" name="Picture 4" descr="Feuille de chêne vert isolé sur fond blanc | Photo Premium">
            <a:extLst>
              <a:ext uri="{FF2B5EF4-FFF2-40B4-BE49-F238E27FC236}">
                <a16:creationId xmlns:a16="http://schemas.microsoft.com/office/drawing/2014/main" id="{89ECB079-19F0-4FB2-F8A4-18149C35F40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 cstate="print">
            <a:extLst>
              <a:ext uri="{BEBA8EAE-BF5A-486C-A8C5-ECC9F3942E4B}">
                <a14:imgProps xmlns:a14="http://schemas.microsoft.com/office/drawing/2010/main">
                  <a14:imgLayer r:embed="rId6">
                    <a14:imgEffect>
                      <a14:backgroundRemoval t="10000" b="90000" l="10000" r="90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101772" y="6455326"/>
            <a:ext cx="392552" cy="39255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382267838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Rectangle 10">
            <a:extLst>
              <a:ext uri="{FF2B5EF4-FFF2-40B4-BE49-F238E27FC236}">
                <a16:creationId xmlns:a16="http://schemas.microsoft.com/office/drawing/2014/main" id="{7C39E3C8-22BF-4F4A-9F2D-452D9E47CD2C}"/>
              </a:ext>
            </a:extLst>
          </p:cNvPr>
          <p:cNvSpPr/>
          <p:nvPr/>
        </p:nvSpPr>
        <p:spPr>
          <a:xfrm>
            <a:off x="0" y="-3652"/>
            <a:ext cx="12192000" cy="1306286"/>
          </a:xfrm>
          <a:prstGeom prst="rect">
            <a:avLst/>
          </a:prstGeom>
          <a:gradFill flip="none" rotWithShape="1">
            <a:gsLst>
              <a:gs pos="0">
                <a:srgbClr val="004537"/>
              </a:gs>
              <a:gs pos="100000">
                <a:srgbClr val="1F9032"/>
              </a:gs>
            </a:gsLst>
            <a:lin ang="10200000" scaled="0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12" name="ZoneTexte 11">
            <a:extLst>
              <a:ext uri="{FF2B5EF4-FFF2-40B4-BE49-F238E27FC236}">
                <a16:creationId xmlns:a16="http://schemas.microsoft.com/office/drawing/2014/main" id="{132192D3-4B3B-844F-BACF-523380D2E796}"/>
              </a:ext>
            </a:extLst>
          </p:cNvPr>
          <p:cNvSpPr txBox="1"/>
          <p:nvPr/>
        </p:nvSpPr>
        <p:spPr>
          <a:xfrm>
            <a:off x="0" y="34924"/>
            <a:ext cx="12192000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4000" b="1" dirty="0" err="1">
                <a:solidFill>
                  <a:schemeClr val="bg1"/>
                </a:solidFill>
                <a:latin typeface="Poppins" panose="02000000000000000000" pitchFamily="2" charset="0"/>
                <a:cs typeface="Poppins" panose="02000000000000000000" pitchFamily="2" charset="0"/>
              </a:rPr>
              <a:t>Results</a:t>
            </a:r>
            <a:r>
              <a:rPr lang="fr-FR" sz="4000" b="1" dirty="0">
                <a:solidFill>
                  <a:schemeClr val="bg1"/>
                </a:solidFill>
                <a:latin typeface="Poppins" panose="02000000000000000000" pitchFamily="2" charset="0"/>
                <a:cs typeface="Poppins" panose="02000000000000000000" pitchFamily="2" charset="0"/>
              </a:rPr>
              <a:t> - </a:t>
            </a:r>
            <a:r>
              <a:rPr lang="fr-FR" sz="4000" b="1" dirty="0" err="1">
                <a:solidFill>
                  <a:schemeClr val="bg1"/>
                </a:solidFill>
                <a:latin typeface="Poppins" panose="02000000000000000000" pitchFamily="2" charset="0"/>
                <a:cs typeface="Poppins" panose="02000000000000000000" pitchFamily="2" charset="0"/>
              </a:rPr>
              <a:t>saproxylic</a:t>
            </a:r>
            <a:r>
              <a:rPr lang="fr-FR" sz="4000" b="1" dirty="0">
                <a:solidFill>
                  <a:schemeClr val="bg1"/>
                </a:solidFill>
                <a:latin typeface="Poppins" panose="02000000000000000000" pitchFamily="2" charset="0"/>
                <a:cs typeface="Poppins" panose="02000000000000000000" pitchFamily="2" charset="0"/>
              </a:rPr>
              <a:t> </a:t>
            </a:r>
            <a:r>
              <a:rPr lang="fr-FR" sz="4000" b="1" dirty="0" err="1">
                <a:solidFill>
                  <a:schemeClr val="bg1"/>
                </a:solidFill>
                <a:latin typeface="Poppins" panose="02000000000000000000" pitchFamily="2" charset="0"/>
                <a:cs typeface="Poppins" panose="02000000000000000000" pitchFamily="2" charset="0"/>
              </a:rPr>
              <a:t>beetles</a:t>
            </a:r>
            <a:endParaRPr lang="fr-FR" b="1" dirty="0">
              <a:solidFill>
                <a:schemeClr val="bg1"/>
              </a:solidFill>
              <a:latin typeface="Poppins" panose="02000000000000000000" pitchFamily="2" charset="0"/>
              <a:cs typeface="Poppins" panose="02000000000000000000" pitchFamily="2" charset="0"/>
            </a:endParaRPr>
          </a:p>
        </p:txBody>
      </p:sp>
      <p:sp>
        <p:nvSpPr>
          <p:cNvPr id="2" name="Espace réservé du numéro de diapositive 1">
            <a:extLst>
              <a:ext uri="{FF2B5EF4-FFF2-40B4-BE49-F238E27FC236}">
                <a16:creationId xmlns:a16="http://schemas.microsoft.com/office/drawing/2014/main" id="{C906F80A-B3E0-0198-9799-6C7D9EDBA55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7E51662-EAF4-4F13-861F-8A695F40F4A6}" type="slidenum">
              <a:rPr lang="fr-FR" smtClean="0"/>
              <a:t>14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598294076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Rectangle 10">
            <a:extLst>
              <a:ext uri="{FF2B5EF4-FFF2-40B4-BE49-F238E27FC236}">
                <a16:creationId xmlns:a16="http://schemas.microsoft.com/office/drawing/2014/main" id="{7C39E3C8-22BF-4F4A-9F2D-452D9E47CD2C}"/>
              </a:ext>
            </a:extLst>
          </p:cNvPr>
          <p:cNvSpPr/>
          <p:nvPr/>
        </p:nvSpPr>
        <p:spPr>
          <a:xfrm>
            <a:off x="0" y="-3652"/>
            <a:ext cx="12192000" cy="1306286"/>
          </a:xfrm>
          <a:prstGeom prst="rect">
            <a:avLst/>
          </a:prstGeom>
          <a:gradFill flip="none" rotWithShape="1">
            <a:gsLst>
              <a:gs pos="0">
                <a:srgbClr val="004537"/>
              </a:gs>
              <a:gs pos="100000">
                <a:srgbClr val="1F9032"/>
              </a:gs>
            </a:gsLst>
            <a:lin ang="10200000" scaled="0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12" name="ZoneTexte 11">
            <a:extLst>
              <a:ext uri="{FF2B5EF4-FFF2-40B4-BE49-F238E27FC236}">
                <a16:creationId xmlns:a16="http://schemas.microsoft.com/office/drawing/2014/main" id="{132192D3-4B3B-844F-BACF-523380D2E796}"/>
              </a:ext>
            </a:extLst>
          </p:cNvPr>
          <p:cNvSpPr txBox="1"/>
          <p:nvPr/>
        </p:nvSpPr>
        <p:spPr>
          <a:xfrm>
            <a:off x="0" y="34924"/>
            <a:ext cx="12192000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4000" b="1" dirty="0" err="1">
                <a:solidFill>
                  <a:schemeClr val="bg1"/>
                </a:solidFill>
                <a:latin typeface="Poppins" panose="02000000000000000000" pitchFamily="2" charset="0"/>
                <a:cs typeface="Poppins" panose="02000000000000000000" pitchFamily="2" charset="0"/>
              </a:rPr>
              <a:t>Results</a:t>
            </a:r>
            <a:r>
              <a:rPr lang="fr-FR" sz="4000" b="1" dirty="0">
                <a:solidFill>
                  <a:schemeClr val="bg1"/>
                </a:solidFill>
                <a:latin typeface="Poppins" panose="02000000000000000000" pitchFamily="2" charset="0"/>
                <a:cs typeface="Poppins" panose="02000000000000000000" pitchFamily="2" charset="0"/>
              </a:rPr>
              <a:t> – </a:t>
            </a:r>
            <a:r>
              <a:rPr lang="fr-FR" sz="4000" b="1" dirty="0" err="1">
                <a:solidFill>
                  <a:schemeClr val="bg1"/>
                </a:solidFill>
                <a:latin typeface="Poppins" panose="02000000000000000000" pitchFamily="2" charset="0"/>
                <a:cs typeface="Poppins" panose="02000000000000000000" pitchFamily="2" charset="0"/>
              </a:rPr>
              <a:t>ground</a:t>
            </a:r>
            <a:r>
              <a:rPr lang="fr-FR" sz="4000" b="1" dirty="0">
                <a:solidFill>
                  <a:schemeClr val="bg1"/>
                </a:solidFill>
                <a:latin typeface="Poppins" panose="02000000000000000000" pitchFamily="2" charset="0"/>
                <a:cs typeface="Poppins" panose="02000000000000000000" pitchFamily="2" charset="0"/>
              </a:rPr>
              <a:t> </a:t>
            </a:r>
            <a:r>
              <a:rPr lang="fr-FR" sz="4000" b="1" dirty="0" err="1">
                <a:solidFill>
                  <a:schemeClr val="bg1"/>
                </a:solidFill>
                <a:latin typeface="Poppins" panose="02000000000000000000" pitchFamily="2" charset="0"/>
                <a:cs typeface="Poppins" panose="02000000000000000000" pitchFamily="2" charset="0"/>
              </a:rPr>
              <a:t>beetles</a:t>
            </a:r>
            <a:endParaRPr lang="fr-FR" sz="4000" b="1" dirty="0">
              <a:solidFill>
                <a:schemeClr val="bg1"/>
              </a:solidFill>
              <a:latin typeface="Poppins" panose="02000000000000000000" pitchFamily="2" charset="0"/>
              <a:cs typeface="Poppins" panose="02000000000000000000" pitchFamily="2" charset="0"/>
            </a:endParaRPr>
          </a:p>
        </p:txBody>
      </p:sp>
      <p:sp>
        <p:nvSpPr>
          <p:cNvPr id="2" name="Espace réservé du numéro de diapositive 1">
            <a:extLst>
              <a:ext uri="{FF2B5EF4-FFF2-40B4-BE49-F238E27FC236}">
                <a16:creationId xmlns:a16="http://schemas.microsoft.com/office/drawing/2014/main" id="{C906F80A-B3E0-0198-9799-6C7D9EDBA55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7E51662-EAF4-4F13-861F-8A695F40F4A6}" type="slidenum">
              <a:rPr lang="fr-FR" smtClean="0"/>
              <a:t>15</a:t>
            </a:fld>
            <a:endParaRPr lang="fr-FR"/>
          </a:p>
        </p:txBody>
      </p:sp>
      <p:pic>
        <p:nvPicPr>
          <p:cNvPr id="1028" name="Picture 4" descr="Feuille de chêne vert isolé sur fond blanc | Photo Premium">
            <a:extLst>
              <a:ext uri="{FF2B5EF4-FFF2-40B4-BE49-F238E27FC236}">
                <a16:creationId xmlns:a16="http://schemas.microsoft.com/office/drawing/2014/main" id="{2B8A0403-AC36-BF95-5C44-0DD228B66AF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983247" y="6129963"/>
            <a:ext cx="663389" cy="66338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30" name="Picture 6" descr="Pin Sylvestre | BIOLYS">
            <a:extLst>
              <a:ext uri="{FF2B5EF4-FFF2-40B4-BE49-F238E27FC236}">
                <a16:creationId xmlns:a16="http://schemas.microsoft.com/office/drawing/2014/main" id="{A4C07FE4-A405-7E5C-0028-09760812913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 rot="18575066">
            <a:off x="675671" y="6129963"/>
            <a:ext cx="663390" cy="66339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2" name="Picture 6" descr="Pin Sylvestre | BIOLYS">
            <a:extLst>
              <a:ext uri="{FF2B5EF4-FFF2-40B4-BE49-F238E27FC236}">
                <a16:creationId xmlns:a16="http://schemas.microsoft.com/office/drawing/2014/main" id="{665A0F8D-CFAD-B1C9-87DD-330E83B783F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 rot="18575066">
            <a:off x="2581998" y="6385753"/>
            <a:ext cx="481821" cy="48182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3" name="Picture 4" descr="Feuille de chêne vert isolé sur fond blanc | Photo Premium">
            <a:extLst>
              <a:ext uri="{FF2B5EF4-FFF2-40B4-BE49-F238E27FC236}">
                <a16:creationId xmlns:a16="http://schemas.microsoft.com/office/drawing/2014/main" id="{79D261D6-CDB4-DFAA-5107-14F5246DB36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943515" y="6248448"/>
            <a:ext cx="450766" cy="45076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9" name="Image 18">
            <a:extLst>
              <a:ext uri="{FF2B5EF4-FFF2-40B4-BE49-F238E27FC236}">
                <a16:creationId xmlns:a16="http://schemas.microsoft.com/office/drawing/2014/main" id="{BC165760-76EE-F31E-9B74-3C11AE3CB7CD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24672" y="1777033"/>
            <a:ext cx="5335585" cy="4434027"/>
          </a:xfrm>
          <a:prstGeom prst="rect">
            <a:avLst/>
          </a:prstGeom>
        </p:spPr>
      </p:pic>
      <p:sp>
        <p:nvSpPr>
          <p:cNvPr id="21" name="ZoneTexte 20">
            <a:extLst>
              <a:ext uri="{FF2B5EF4-FFF2-40B4-BE49-F238E27FC236}">
                <a16:creationId xmlns:a16="http://schemas.microsoft.com/office/drawing/2014/main" id="{C3363117-C944-81E2-BE23-049C83BBDEE2}"/>
              </a:ext>
            </a:extLst>
          </p:cNvPr>
          <p:cNvSpPr txBox="1"/>
          <p:nvPr/>
        </p:nvSpPr>
        <p:spPr>
          <a:xfrm>
            <a:off x="2794457" y="3646859"/>
            <a:ext cx="94448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dirty="0"/>
              <a:t>P=0.055</a:t>
            </a:r>
          </a:p>
        </p:txBody>
      </p:sp>
      <p:sp>
        <p:nvSpPr>
          <p:cNvPr id="26" name="ZoneTexte 25">
            <a:extLst>
              <a:ext uri="{FF2B5EF4-FFF2-40B4-BE49-F238E27FC236}">
                <a16:creationId xmlns:a16="http://schemas.microsoft.com/office/drawing/2014/main" id="{8CD8759C-2435-EDB5-607E-9A30E46CCBA6}"/>
              </a:ext>
            </a:extLst>
          </p:cNvPr>
          <p:cNvSpPr txBox="1"/>
          <p:nvPr/>
        </p:nvSpPr>
        <p:spPr>
          <a:xfrm>
            <a:off x="2120175" y="1406101"/>
            <a:ext cx="170591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dirty="0" err="1"/>
              <a:t>Species</a:t>
            </a:r>
            <a:r>
              <a:rPr lang="fr-FR" dirty="0"/>
              <a:t> </a:t>
            </a:r>
            <a:r>
              <a:rPr lang="fr-FR" dirty="0" err="1"/>
              <a:t>richness</a:t>
            </a:r>
            <a:endParaRPr lang="fr-FR" dirty="0"/>
          </a:p>
        </p:txBody>
      </p:sp>
      <p:sp>
        <p:nvSpPr>
          <p:cNvPr id="27" name="ZoneTexte 26">
            <a:extLst>
              <a:ext uri="{FF2B5EF4-FFF2-40B4-BE49-F238E27FC236}">
                <a16:creationId xmlns:a16="http://schemas.microsoft.com/office/drawing/2014/main" id="{4F5B7951-F8BD-6230-CF63-5E52EB3D7412}"/>
              </a:ext>
            </a:extLst>
          </p:cNvPr>
          <p:cNvSpPr txBox="1"/>
          <p:nvPr/>
        </p:nvSpPr>
        <p:spPr>
          <a:xfrm>
            <a:off x="8063775" y="1406101"/>
            <a:ext cx="125066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dirty="0" err="1"/>
              <a:t>Abundance</a:t>
            </a:r>
            <a:endParaRPr lang="fr-FR" dirty="0"/>
          </a:p>
        </p:txBody>
      </p:sp>
      <p:pic>
        <p:nvPicPr>
          <p:cNvPr id="28" name="Picture 4" descr="Feuille de chêne vert isolé sur fond blanc | Photo Premium">
            <a:extLst>
              <a:ext uri="{FF2B5EF4-FFF2-40B4-BE49-F238E27FC236}">
                <a16:creationId xmlns:a16="http://schemas.microsoft.com/office/drawing/2014/main" id="{8CE80BC8-964C-BB72-7AFB-2DA56B702F0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1112502" y="6132274"/>
            <a:ext cx="663389" cy="66338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9" name="Picture 6" descr="Pin Sylvestre | BIOLYS">
            <a:extLst>
              <a:ext uri="{FF2B5EF4-FFF2-40B4-BE49-F238E27FC236}">
                <a16:creationId xmlns:a16="http://schemas.microsoft.com/office/drawing/2014/main" id="{E0C0C8D0-128D-AFA6-ED37-52D80EBF91E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 rot="18575066">
            <a:off x="6804926" y="6132274"/>
            <a:ext cx="663390" cy="66339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30" name="Picture 6" descr="Pin Sylvestre | BIOLYS">
            <a:extLst>
              <a:ext uri="{FF2B5EF4-FFF2-40B4-BE49-F238E27FC236}">
                <a16:creationId xmlns:a16="http://schemas.microsoft.com/office/drawing/2014/main" id="{B5B4F4B3-7F3B-80AD-AEA4-DE66D89271F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 rot="18575066">
            <a:off x="8711253" y="6388064"/>
            <a:ext cx="481821" cy="48182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31" name="Picture 4" descr="Feuille de chêne vert isolé sur fond blanc | Photo Premium">
            <a:extLst>
              <a:ext uri="{FF2B5EF4-FFF2-40B4-BE49-F238E27FC236}">
                <a16:creationId xmlns:a16="http://schemas.microsoft.com/office/drawing/2014/main" id="{951607C5-A400-10D4-D190-4EE330A5738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072770" y="6250759"/>
            <a:ext cx="450766" cy="45076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5" name="Image 24">
            <a:extLst>
              <a:ext uri="{FF2B5EF4-FFF2-40B4-BE49-F238E27FC236}">
                <a16:creationId xmlns:a16="http://schemas.microsoft.com/office/drawing/2014/main" id="{B826197A-DC1D-EAC3-F2F1-F08073FED052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413885" y="1835513"/>
            <a:ext cx="5362006" cy="445598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80227741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Rectangle 10">
            <a:extLst>
              <a:ext uri="{FF2B5EF4-FFF2-40B4-BE49-F238E27FC236}">
                <a16:creationId xmlns:a16="http://schemas.microsoft.com/office/drawing/2014/main" id="{7C39E3C8-22BF-4F4A-9F2D-452D9E47CD2C}"/>
              </a:ext>
            </a:extLst>
          </p:cNvPr>
          <p:cNvSpPr/>
          <p:nvPr/>
        </p:nvSpPr>
        <p:spPr>
          <a:xfrm>
            <a:off x="0" y="-3652"/>
            <a:ext cx="12192000" cy="1306286"/>
          </a:xfrm>
          <a:prstGeom prst="rect">
            <a:avLst/>
          </a:prstGeom>
          <a:gradFill flip="none" rotWithShape="1">
            <a:gsLst>
              <a:gs pos="0">
                <a:srgbClr val="004537"/>
              </a:gs>
              <a:gs pos="100000">
                <a:srgbClr val="1F9032"/>
              </a:gs>
            </a:gsLst>
            <a:lin ang="10200000" scaled="0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12" name="ZoneTexte 11">
            <a:extLst>
              <a:ext uri="{FF2B5EF4-FFF2-40B4-BE49-F238E27FC236}">
                <a16:creationId xmlns:a16="http://schemas.microsoft.com/office/drawing/2014/main" id="{132192D3-4B3B-844F-BACF-523380D2E796}"/>
              </a:ext>
            </a:extLst>
          </p:cNvPr>
          <p:cNvSpPr txBox="1"/>
          <p:nvPr/>
        </p:nvSpPr>
        <p:spPr>
          <a:xfrm>
            <a:off x="0" y="34924"/>
            <a:ext cx="12192000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4000" b="1" dirty="0" err="1">
                <a:solidFill>
                  <a:schemeClr val="bg1"/>
                </a:solidFill>
                <a:latin typeface="Poppins" panose="02000000000000000000" pitchFamily="2" charset="0"/>
                <a:cs typeface="Poppins" panose="02000000000000000000" pitchFamily="2" charset="0"/>
              </a:rPr>
              <a:t>Results</a:t>
            </a:r>
            <a:r>
              <a:rPr lang="fr-FR" sz="4000" b="1" dirty="0">
                <a:solidFill>
                  <a:schemeClr val="bg1"/>
                </a:solidFill>
                <a:latin typeface="Poppins" panose="02000000000000000000" pitchFamily="2" charset="0"/>
                <a:cs typeface="Poppins" panose="02000000000000000000" pitchFamily="2" charset="0"/>
              </a:rPr>
              <a:t> – </a:t>
            </a:r>
            <a:r>
              <a:rPr lang="fr-FR" sz="4000" b="1" dirty="0" err="1">
                <a:solidFill>
                  <a:schemeClr val="bg1"/>
                </a:solidFill>
                <a:latin typeface="Poppins" panose="02000000000000000000" pitchFamily="2" charset="0"/>
                <a:cs typeface="Poppins" panose="02000000000000000000" pitchFamily="2" charset="0"/>
              </a:rPr>
              <a:t>ground</a:t>
            </a:r>
            <a:r>
              <a:rPr lang="fr-FR" sz="4000" b="1" dirty="0">
                <a:solidFill>
                  <a:schemeClr val="bg1"/>
                </a:solidFill>
                <a:latin typeface="Poppins" panose="02000000000000000000" pitchFamily="2" charset="0"/>
                <a:cs typeface="Poppins" panose="02000000000000000000" pitchFamily="2" charset="0"/>
              </a:rPr>
              <a:t> </a:t>
            </a:r>
            <a:r>
              <a:rPr lang="fr-FR" sz="4000" b="1" dirty="0" err="1">
                <a:solidFill>
                  <a:schemeClr val="bg1"/>
                </a:solidFill>
                <a:latin typeface="Poppins" panose="02000000000000000000" pitchFamily="2" charset="0"/>
                <a:cs typeface="Poppins" panose="02000000000000000000" pitchFamily="2" charset="0"/>
              </a:rPr>
              <a:t>beetles</a:t>
            </a:r>
            <a:endParaRPr lang="fr-FR" sz="4000" b="1" dirty="0">
              <a:solidFill>
                <a:schemeClr val="bg1"/>
              </a:solidFill>
              <a:latin typeface="Poppins" panose="02000000000000000000" pitchFamily="2" charset="0"/>
              <a:cs typeface="Poppins" panose="02000000000000000000" pitchFamily="2" charset="0"/>
            </a:endParaRPr>
          </a:p>
        </p:txBody>
      </p:sp>
      <p:sp>
        <p:nvSpPr>
          <p:cNvPr id="2" name="Espace réservé du numéro de diapositive 1">
            <a:extLst>
              <a:ext uri="{FF2B5EF4-FFF2-40B4-BE49-F238E27FC236}">
                <a16:creationId xmlns:a16="http://schemas.microsoft.com/office/drawing/2014/main" id="{C906F80A-B3E0-0198-9799-6C7D9EDBA55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7E51662-EAF4-4F13-861F-8A695F40F4A6}" type="slidenum">
              <a:rPr lang="fr-FR" smtClean="0"/>
              <a:t>16</a:t>
            </a:fld>
            <a:endParaRPr lang="fr-FR"/>
          </a:p>
        </p:txBody>
      </p:sp>
      <p:pic>
        <p:nvPicPr>
          <p:cNvPr id="4" name="Image 3">
            <a:extLst>
              <a:ext uri="{FF2B5EF4-FFF2-40B4-BE49-F238E27FC236}">
                <a16:creationId xmlns:a16="http://schemas.microsoft.com/office/drawing/2014/main" id="{DADAAB8C-C4DC-7BF4-09F2-9B6B4604FFF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169457" y="1330646"/>
            <a:ext cx="6768355" cy="5624701"/>
          </a:xfrm>
          <a:prstGeom prst="rect">
            <a:avLst/>
          </a:prstGeom>
        </p:spPr>
      </p:pic>
      <p:pic>
        <p:nvPicPr>
          <p:cNvPr id="5" name="Picture 6" descr="Pin Sylvestre | BIOLYS">
            <a:extLst>
              <a:ext uri="{FF2B5EF4-FFF2-40B4-BE49-F238E27FC236}">
                <a16:creationId xmlns:a16="http://schemas.microsoft.com/office/drawing/2014/main" id="{A554F7D3-5DFD-19FF-5728-A24A41EC276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 rot="18575066">
            <a:off x="6171140" y="5482539"/>
            <a:ext cx="394512" cy="39451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6" name="Picture 4" descr="Feuille de chêne vert isolé sur fond blanc | Photo Premium">
            <a:extLst>
              <a:ext uri="{FF2B5EF4-FFF2-40B4-BE49-F238E27FC236}">
                <a16:creationId xmlns:a16="http://schemas.microsoft.com/office/drawing/2014/main" id="{EF12CBB3-D943-4F35-55A0-82A3B3B5029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550103" y="3606770"/>
            <a:ext cx="445443" cy="44544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830365001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Rectangle 10">
            <a:extLst>
              <a:ext uri="{FF2B5EF4-FFF2-40B4-BE49-F238E27FC236}">
                <a16:creationId xmlns:a16="http://schemas.microsoft.com/office/drawing/2014/main" id="{7C39E3C8-22BF-4F4A-9F2D-452D9E47CD2C}"/>
              </a:ext>
            </a:extLst>
          </p:cNvPr>
          <p:cNvSpPr/>
          <p:nvPr/>
        </p:nvSpPr>
        <p:spPr>
          <a:xfrm>
            <a:off x="0" y="-3652"/>
            <a:ext cx="12192000" cy="1306286"/>
          </a:xfrm>
          <a:prstGeom prst="rect">
            <a:avLst/>
          </a:prstGeom>
          <a:gradFill flip="none" rotWithShape="1">
            <a:gsLst>
              <a:gs pos="0">
                <a:srgbClr val="004537"/>
              </a:gs>
              <a:gs pos="100000">
                <a:srgbClr val="1F9032"/>
              </a:gs>
            </a:gsLst>
            <a:lin ang="10200000" scaled="0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12" name="ZoneTexte 11">
            <a:extLst>
              <a:ext uri="{FF2B5EF4-FFF2-40B4-BE49-F238E27FC236}">
                <a16:creationId xmlns:a16="http://schemas.microsoft.com/office/drawing/2014/main" id="{132192D3-4B3B-844F-BACF-523380D2E796}"/>
              </a:ext>
            </a:extLst>
          </p:cNvPr>
          <p:cNvSpPr txBox="1"/>
          <p:nvPr/>
        </p:nvSpPr>
        <p:spPr>
          <a:xfrm>
            <a:off x="0" y="34924"/>
            <a:ext cx="12192000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4000" b="1" dirty="0" err="1">
                <a:solidFill>
                  <a:schemeClr val="bg1"/>
                </a:solidFill>
                <a:latin typeface="Poppins" panose="02000000000000000000" pitchFamily="2" charset="0"/>
                <a:cs typeface="Poppins" panose="02000000000000000000" pitchFamily="2" charset="0"/>
              </a:rPr>
              <a:t>Results</a:t>
            </a:r>
            <a:r>
              <a:rPr lang="fr-FR" sz="4000" b="1" dirty="0">
                <a:solidFill>
                  <a:schemeClr val="bg1"/>
                </a:solidFill>
                <a:latin typeface="Poppins" panose="02000000000000000000" pitchFamily="2" charset="0"/>
                <a:cs typeface="Poppins" panose="02000000000000000000" pitchFamily="2" charset="0"/>
              </a:rPr>
              <a:t> – </a:t>
            </a:r>
            <a:r>
              <a:rPr lang="fr-FR" sz="4000" b="1" dirty="0" err="1">
                <a:solidFill>
                  <a:schemeClr val="bg1"/>
                </a:solidFill>
                <a:latin typeface="Poppins" panose="02000000000000000000" pitchFamily="2" charset="0"/>
                <a:cs typeface="Poppins" panose="02000000000000000000" pitchFamily="2" charset="0"/>
              </a:rPr>
              <a:t>ground</a:t>
            </a:r>
            <a:r>
              <a:rPr lang="fr-FR" sz="4000" b="1" dirty="0">
                <a:solidFill>
                  <a:schemeClr val="bg1"/>
                </a:solidFill>
                <a:latin typeface="Poppins" panose="02000000000000000000" pitchFamily="2" charset="0"/>
                <a:cs typeface="Poppins" panose="02000000000000000000" pitchFamily="2" charset="0"/>
              </a:rPr>
              <a:t> </a:t>
            </a:r>
            <a:r>
              <a:rPr lang="fr-FR" sz="4000" b="1" dirty="0" err="1">
                <a:solidFill>
                  <a:schemeClr val="bg1"/>
                </a:solidFill>
                <a:latin typeface="Poppins" panose="02000000000000000000" pitchFamily="2" charset="0"/>
                <a:cs typeface="Poppins" panose="02000000000000000000" pitchFamily="2" charset="0"/>
              </a:rPr>
              <a:t>beetles</a:t>
            </a:r>
            <a:endParaRPr lang="fr-FR" sz="4000" b="1" dirty="0">
              <a:solidFill>
                <a:schemeClr val="bg1"/>
              </a:solidFill>
              <a:latin typeface="Poppins" panose="02000000000000000000" pitchFamily="2" charset="0"/>
              <a:cs typeface="Poppins" panose="02000000000000000000" pitchFamily="2" charset="0"/>
            </a:endParaRPr>
          </a:p>
        </p:txBody>
      </p:sp>
      <p:sp>
        <p:nvSpPr>
          <p:cNvPr id="2" name="Espace réservé du numéro de diapositive 1">
            <a:extLst>
              <a:ext uri="{FF2B5EF4-FFF2-40B4-BE49-F238E27FC236}">
                <a16:creationId xmlns:a16="http://schemas.microsoft.com/office/drawing/2014/main" id="{C906F80A-B3E0-0198-9799-6C7D9EDBA55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7E51662-EAF4-4F13-861F-8A695F40F4A6}" type="slidenum">
              <a:rPr lang="fr-FR" smtClean="0"/>
              <a:t>17</a:t>
            </a:fld>
            <a:endParaRPr lang="fr-FR"/>
          </a:p>
        </p:txBody>
      </p:sp>
      <p:pic>
        <p:nvPicPr>
          <p:cNvPr id="5" name="Picture 6" descr="Pin Sylvestre | BIOLYS">
            <a:extLst>
              <a:ext uri="{FF2B5EF4-FFF2-40B4-BE49-F238E27FC236}">
                <a16:creationId xmlns:a16="http://schemas.microsoft.com/office/drawing/2014/main" id="{A554F7D3-5DFD-19FF-5728-A24A41EC276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 rot="18575066">
            <a:off x="4252831" y="5758263"/>
            <a:ext cx="394512" cy="39451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6" name="Picture 4" descr="Feuille de chêne vert isolé sur fond blanc | Photo Premium">
            <a:extLst>
              <a:ext uri="{FF2B5EF4-FFF2-40B4-BE49-F238E27FC236}">
                <a16:creationId xmlns:a16="http://schemas.microsoft.com/office/drawing/2014/main" id="{EF12CBB3-D943-4F35-55A0-82A3B3B5029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934700" y="3354193"/>
            <a:ext cx="445443" cy="44544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4" name="Image 23">
            <a:extLst>
              <a:ext uri="{FF2B5EF4-FFF2-40B4-BE49-F238E27FC236}">
                <a16:creationId xmlns:a16="http://schemas.microsoft.com/office/drawing/2014/main" id="{1064B700-1210-E41A-F7F5-46F3835555CA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991225" y="1460452"/>
            <a:ext cx="6200775" cy="5153025"/>
          </a:xfrm>
          <a:prstGeom prst="rect">
            <a:avLst/>
          </a:prstGeom>
        </p:spPr>
      </p:pic>
      <p:sp>
        <p:nvSpPr>
          <p:cNvPr id="3" name="Flèche : droite 2">
            <a:extLst>
              <a:ext uri="{FF2B5EF4-FFF2-40B4-BE49-F238E27FC236}">
                <a16:creationId xmlns:a16="http://schemas.microsoft.com/office/drawing/2014/main" id="{E8AA78B4-217C-BC17-3A5F-6C1591EF211F}"/>
              </a:ext>
            </a:extLst>
          </p:cNvPr>
          <p:cNvSpPr/>
          <p:nvPr/>
        </p:nvSpPr>
        <p:spPr>
          <a:xfrm>
            <a:off x="5936647" y="1807757"/>
            <a:ext cx="318706" cy="118809"/>
          </a:xfrm>
          <a:prstGeom prst="rightArrow">
            <a:avLst/>
          </a:prstGeom>
          <a:solidFill>
            <a:srgbClr val="FF0000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7" name="Flèche : droite 6">
            <a:extLst>
              <a:ext uri="{FF2B5EF4-FFF2-40B4-BE49-F238E27FC236}">
                <a16:creationId xmlns:a16="http://schemas.microsoft.com/office/drawing/2014/main" id="{6103635D-D77B-DC86-A7C0-6C25C866A090}"/>
              </a:ext>
            </a:extLst>
          </p:cNvPr>
          <p:cNvSpPr/>
          <p:nvPr/>
        </p:nvSpPr>
        <p:spPr>
          <a:xfrm>
            <a:off x="5831872" y="5593307"/>
            <a:ext cx="318706" cy="118809"/>
          </a:xfrm>
          <a:prstGeom prst="rightArrow">
            <a:avLst/>
          </a:prstGeom>
          <a:solidFill>
            <a:srgbClr val="FF0000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8" name="Flèche : droite 7">
            <a:extLst>
              <a:ext uri="{FF2B5EF4-FFF2-40B4-BE49-F238E27FC236}">
                <a16:creationId xmlns:a16="http://schemas.microsoft.com/office/drawing/2014/main" id="{D9A1D521-1071-4C47-11B8-0C8862273545}"/>
              </a:ext>
            </a:extLst>
          </p:cNvPr>
          <p:cNvSpPr/>
          <p:nvPr/>
        </p:nvSpPr>
        <p:spPr>
          <a:xfrm>
            <a:off x="5639602" y="3214734"/>
            <a:ext cx="318706" cy="118809"/>
          </a:xfrm>
          <a:prstGeom prst="rightArrow">
            <a:avLst/>
          </a:prstGeom>
          <a:solidFill>
            <a:srgbClr val="FF0000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10" name="ZoneTexte 9">
            <a:extLst>
              <a:ext uri="{FF2B5EF4-FFF2-40B4-BE49-F238E27FC236}">
                <a16:creationId xmlns:a16="http://schemas.microsoft.com/office/drawing/2014/main" id="{DC662DDC-A17B-FD80-25E1-C578A641BAE0}"/>
              </a:ext>
            </a:extLst>
          </p:cNvPr>
          <p:cNvSpPr txBox="1"/>
          <p:nvPr/>
        </p:nvSpPr>
        <p:spPr>
          <a:xfrm>
            <a:off x="4059320" y="1668675"/>
            <a:ext cx="1931905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dirty="0" err="1"/>
              <a:t>Carabus</a:t>
            </a:r>
            <a:r>
              <a:rPr lang="fr-FR" dirty="0"/>
              <a:t> </a:t>
            </a:r>
            <a:r>
              <a:rPr lang="fr-FR" dirty="0" err="1"/>
              <a:t>intricatus</a:t>
            </a:r>
            <a:endParaRPr lang="fr-FR" dirty="0"/>
          </a:p>
        </p:txBody>
      </p:sp>
      <p:sp>
        <p:nvSpPr>
          <p:cNvPr id="18" name="ZoneTexte 17">
            <a:extLst>
              <a:ext uri="{FF2B5EF4-FFF2-40B4-BE49-F238E27FC236}">
                <a16:creationId xmlns:a16="http://schemas.microsoft.com/office/drawing/2014/main" id="{03B9C93B-35DF-6A95-E9F5-968D1D3DF32F}"/>
              </a:ext>
            </a:extLst>
          </p:cNvPr>
          <p:cNvSpPr txBox="1"/>
          <p:nvPr/>
        </p:nvSpPr>
        <p:spPr>
          <a:xfrm>
            <a:off x="3953436" y="5439905"/>
            <a:ext cx="60960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dirty="0" err="1"/>
              <a:t>Carabus</a:t>
            </a:r>
            <a:r>
              <a:rPr lang="fr-FR" dirty="0"/>
              <a:t> </a:t>
            </a:r>
            <a:r>
              <a:rPr lang="fr-FR" dirty="0" err="1"/>
              <a:t>coriaceus</a:t>
            </a:r>
            <a:endParaRPr lang="fr-FR" dirty="0"/>
          </a:p>
        </p:txBody>
      </p:sp>
      <p:sp>
        <p:nvSpPr>
          <p:cNvPr id="20" name="ZoneTexte 19">
            <a:extLst>
              <a:ext uri="{FF2B5EF4-FFF2-40B4-BE49-F238E27FC236}">
                <a16:creationId xmlns:a16="http://schemas.microsoft.com/office/drawing/2014/main" id="{577974B2-91D9-F607-4AC0-BAB6D47808A5}"/>
              </a:ext>
            </a:extLst>
          </p:cNvPr>
          <p:cNvSpPr txBox="1"/>
          <p:nvPr/>
        </p:nvSpPr>
        <p:spPr>
          <a:xfrm>
            <a:off x="3663468" y="3079256"/>
            <a:ext cx="60960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dirty="0" err="1"/>
              <a:t>Carabus</a:t>
            </a:r>
            <a:r>
              <a:rPr lang="fr-FR" dirty="0"/>
              <a:t> </a:t>
            </a:r>
            <a:r>
              <a:rPr lang="fr-FR" dirty="0" err="1"/>
              <a:t>nemoralis</a:t>
            </a:r>
            <a:endParaRPr lang="fr-FR" dirty="0"/>
          </a:p>
        </p:txBody>
      </p:sp>
      <p:pic>
        <p:nvPicPr>
          <p:cNvPr id="21" name="Picture 6" descr="Pin Sylvestre | BIOLYS">
            <a:extLst>
              <a:ext uri="{FF2B5EF4-FFF2-40B4-BE49-F238E27FC236}">
                <a16:creationId xmlns:a16="http://schemas.microsoft.com/office/drawing/2014/main" id="{8AF8FC6C-1B90-8B21-2FF3-BC63C183085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6" cstate="print">
            <a:extLst>
              <a:ext uri="{BEBA8EAE-BF5A-486C-A8C5-ECC9F3942E4B}">
                <a14:imgProps xmlns:a14="http://schemas.microsoft.com/office/drawing/2010/main">
                  <a14:imgLayer r:embed="rId7">
                    <a14:imgEffect>
                      <a14:backgroundRemoval t="10000" b="90000" l="10000" r="90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 rot="18575066">
            <a:off x="5122621" y="5818522"/>
            <a:ext cx="390962" cy="39096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2" name="Picture 4" descr="Feuille de chêne vert isolé sur fond blanc | Photo Premium">
            <a:extLst>
              <a:ext uri="{FF2B5EF4-FFF2-40B4-BE49-F238E27FC236}">
                <a16:creationId xmlns:a16="http://schemas.microsoft.com/office/drawing/2014/main" id="{1BB90457-456C-482C-6ACE-0000241C825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8" cstate="print">
            <a:extLst>
              <a:ext uri="{BEBA8EAE-BF5A-486C-A8C5-ECC9F3942E4B}">
                <a14:imgProps xmlns:a14="http://schemas.microsoft.com/office/drawing/2010/main">
                  <a14:imgLayer r:embed="rId9">
                    <a14:imgEffect>
                      <a14:backgroundRemoval t="10000" b="90000" l="10000" r="90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744678" y="1966464"/>
            <a:ext cx="470489" cy="47048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3" name="Picture 4" descr="Feuille de chêne vert isolé sur fond blanc | Photo Premium">
            <a:extLst>
              <a:ext uri="{FF2B5EF4-FFF2-40B4-BE49-F238E27FC236}">
                <a16:creationId xmlns:a16="http://schemas.microsoft.com/office/drawing/2014/main" id="{C202AB7E-E079-FCDF-1747-A1E397172CB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10" cstate="print">
            <a:extLst>
              <a:ext uri="{BEBA8EAE-BF5A-486C-A8C5-ECC9F3942E4B}">
                <a14:imgProps xmlns:a14="http://schemas.microsoft.com/office/drawing/2010/main">
                  <a14:imgLayer r:embed="rId11">
                    <a14:imgEffect>
                      <a14:backgroundRemoval t="10000" b="90000" l="10000" r="90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995430" y="5715172"/>
            <a:ext cx="327892" cy="32789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5" name="ZoneTexte 24">
            <a:extLst>
              <a:ext uri="{FF2B5EF4-FFF2-40B4-BE49-F238E27FC236}">
                <a16:creationId xmlns:a16="http://schemas.microsoft.com/office/drawing/2014/main" id="{9CCC6D92-7E87-35B3-CA35-C3C40F059DF8}"/>
              </a:ext>
            </a:extLst>
          </p:cNvPr>
          <p:cNvSpPr txBox="1"/>
          <p:nvPr/>
        </p:nvSpPr>
        <p:spPr>
          <a:xfrm>
            <a:off x="4625217" y="5770853"/>
            <a:ext cx="30008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dirty="0"/>
              <a:t>+</a:t>
            </a:r>
          </a:p>
        </p:txBody>
      </p:sp>
      <p:pic>
        <p:nvPicPr>
          <p:cNvPr id="30" name="Picture 6" descr="Pin Sylvestre | BIOLYS">
            <a:extLst>
              <a:ext uri="{FF2B5EF4-FFF2-40B4-BE49-F238E27FC236}">
                <a16:creationId xmlns:a16="http://schemas.microsoft.com/office/drawing/2014/main" id="{951F2543-8E31-A58F-0498-08B9A16BC2A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6" cstate="print">
            <a:extLst>
              <a:ext uri="{BEBA8EAE-BF5A-486C-A8C5-ECC9F3942E4B}">
                <a14:imgProps xmlns:a14="http://schemas.microsoft.com/office/drawing/2010/main">
                  <a14:imgLayer r:embed="rId7">
                    <a14:imgEffect>
                      <a14:backgroundRemoval t="10000" b="90000" l="10000" r="90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 rot="18575066">
            <a:off x="4947678" y="3433930"/>
            <a:ext cx="390962" cy="39096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31" name="Picture 4" descr="Feuille de chêne vert isolé sur fond blanc | Photo Premium">
            <a:extLst>
              <a:ext uri="{FF2B5EF4-FFF2-40B4-BE49-F238E27FC236}">
                <a16:creationId xmlns:a16="http://schemas.microsoft.com/office/drawing/2014/main" id="{583F3B44-575A-AFA0-1C37-15F5C54C9DC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10" cstate="print">
            <a:extLst>
              <a:ext uri="{BEBA8EAE-BF5A-486C-A8C5-ECC9F3942E4B}">
                <a14:imgProps xmlns:a14="http://schemas.microsoft.com/office/drawing/2010/main">
                  <a14:imgLayer r:embed="rId11">
                    <a14:imgEffect>
                      <a14:backgroundRemoval t="10000" b="90000" l="10000" r="90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820487" y="3330580"/>
            <a:ext cx="327892" cy="32789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2" name="ZoneTexte 31">
            <a:extLst>
              <a:ext uri="{FF2B5EF4-FFF2-40B4-BE49-F238E27FC236}">
                <a16:creationId xmlns:a16="http://schemas.microsoft.com/office/drawing/2014/main" id="{B8731F76-67EC-BC2D-AE32-0521A0BC9563}"/>
              </a:ext>
            </a:extLst>
          </p:cNvPr>
          <p:cNvSpPr txBox="1"/>
          <p:nvPr/>
        </p:nvSpPr>
        <p:spPr>
          <a:xfrm>
            <a:off x="4450274" y="3386261"/>
            <a:ext cx="30008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dirty="0"/>
              <a:t>+</a:t>
            </a:r>
          </a:p>
        </p:txBody>
      </p:sp>
      <p:pic>
        <p:nvPicPr>
          <p:cNvPr id="33" name="Image 32">
            <a:extLst>
              <a:ext uri="{FF2B5EF4-FFF2-40B4-BE49-F238E27FC236}">
                <a16:creationId xmlns:a16="http://schemas.microsoft.com/office/drawing/2014/main" id="{BF9349B3-189A-765D-9E64-24A110756B49}"/>
              </a:ext>
            </a:extLst>
      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 rot="5400000">
            <a:off x="1554769" y="955399"/>
            <a:ext cx="1195169" cy="2039030"/>
          </a:xfrm>
          <a:prstGeom prst="rect">
            <a:avLst/>
          </a:prstGeom>
        </p:spPr>
      </p:pic>
      <p:pic>
        <p:nvPicPr>
          <p:cNvPr id="34" name="Image 33">
            <a:extLst>
              <a:ext uri="{FF2B5EF4-FFF2-40B4-BE49-F238E27FC236}">
                <a16:creationId xmlns:a16="http://schemas.microsoft.com/office/drawing/2014/main" id="{19801CBE-65AB-7756-A514-A42BE0322F90}"/>
              </a:ext>
            </a:extLst>
          </p:cNvPr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1084483" y="2885826"/>
            <a:ext cx="2157562" cy="1739534"/>
          </a:xfrm>
          <a:prstGeom prst="rect">
            <a:avLst/>
          </a:prstGeom>
        </p:spPr>
      </p:pic>
      <p:sp>
        <p:nvSpPr>
          <p:cNvPr id="36" name="ZoneTexte 35">
            <a:extLst>
              <a:ext uri="{FF2B5EF4-FFF2-40B4-BE49-F238E27FC236}">
                <a16:creationId xmlns:a16="http://schemas.microsoft.com/office/drawing/2014/main" id="{04A39451-9581-D42B-20D0-1C83496A4AD3}"/>
              </a:ext>
            </a:extLst>
          </p:cNvPr>
          <p:cNvSpPr txBox="1"/>
          <p:nvPr/>
        </p:nvSpPr>
        <p:spPr>
          <a:xfrm>
            <a:off x="1410823" y="4625360"/>
            <a:ext cx="1451700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sz="1200" dirty="0"/>
              <a:t>© Didier </a:t>
            </a:r>
            <a:r>
              <a:rPr lang="fr-FR" sz="1200" dirty="0" err="1"/>
              <a:t>Descouens</a:t>
            </a:r>
            <a:endParaRPr lang="fr-FR" sz="1200" dirty="0"/>
          </a:p>
        </p:txBody>
      </p:sp>
      <p:sp>
        <p:nvSpPr>
          <p:cNvPr id="38" name="ZoneTexte 37">
            <a:extLst>
              <a:ext uri="{FF2B5EF4-FFF2-40B4-BE49-F238E27FC236}">
                <a16:creationId xmlns:a16="http://schemas.microsoft.com/office/drawing/2014/main" id="{97B04178-2A51-DDBF-238E-6FDB5EA464E6}"/>
              </a:ext>
            </a:extLst>
          </p:cNvPr>
          <p:cNvSpPr txBox="1"/>
          <p:nvPr/>
        </p:nvSpPr>
        <p:spPr>
          <a:xfrm>
            <a:off x="1603723" y="2578825"/>
            <a:ext cx="6096000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sz="1200" dirty="0"/>
              <a:t>© </a:t>
            </a:r>
            <a:r>
              <a:rPr lang="fr-FR" sz="1200" b="0" i="0" dirty="0" err="1">
                <a:solidFill>
                  <a:srgbClr val="202122"/>
                </a:solidFill>
                <a:effectLst/>
                <a:latin typeface="Arial" panose="020B0604020202020204" pitchFamily="34" charset="0"/>
              </a:rPr>
              <a:t>U.Schmidt</a:t>
            </a:r>
            <a:r>
              <a:rPr lang="fr-FR" sz="1200" b="0" i="0" dirty="0">
                <a:solidFill>
                  <a:srgbClr val="202122"/>
                </a:solidFill>
                <a:effectLst/>
                <a:latin typeface="Arial" panose="020B0604020202020204" pitchFamily="34" charset="0"/>
              </a:rPr>
              <a:t>,</a:t>
            </a:r>
            <a:endParaRPr lang="fr-FR" sz="1200" dirty="0"/>
          </a:p>
        </p:txBody>
      </p:sp>
      <p:pic>
        <p:nvPicPr>
          <p:cNvPr id="39" name="Image 38">
            <a:extLst>
              <a:ext uri="{FF2B5EF4-FFF2-40B4-BE49-F238E27FC236}">
                <a16:creationId xmlns:a16="http://schemas.microsoft.com/office/drawing/2014/main" id="{94AE34A4-0DDF-7D0B-5706-E16429B34484}"/>
              </a:ext>
            </a:extLst>
          </p:cNvPr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1524000" y="4976690"/>
            <a:ext cx="2250465" cy="150031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63803182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66" name="Google Shape;166;g28808c7f580_2_1"/>
          <p:cNvPicPr preferRelativeResize="0">
            <a:picLocks noGrp="1"/>
          </p:cNvPicPr>
          <p:nvPr>
            <p:ph type="body" idx="1"/>
          </p:nvPr>
        </p:nvPicPr>
        <p:blipFill rotWithShape="1">
          <a:blip r:embed="rId3">
            <a:alphaModFix/>
          </a:blip>
          <a:srcRect l="47673" r="30985"/>
          <a:stretch/>
        </p:blipFill>
        <p:spPr>
          <a:xfrm>
            <a:off x="-68094" y="0"/>
            <a:ext cx="2193000" cy="6858000"/>
          </a:xfrm>
          <a:prstGeom prst="rect">
            <a:avLst/>
          </a:prstGeom>
          <a:noFill/>
          <a:ln>
            <a:noFill/>
          </a:ln>
        </p:spPr>
      </p:pic>
      <p:sp>
        <p:nvSpPr>
          <p:cNvPr id="167" name="Google Shape;167;g28808c7f580_2_1"/>
          <p:cNvSpPr txBox="1"/>
          <p:nvPr/>
        </p:nvSpPr>
        <p:spPr>
          <a:xfrm>
            <a:off x="2098244" y="35130"/>
            <a:ext cx="10067100" cy="769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fr-FR" sz="4400" b="1" dirty="0">
                <a:solidFill>
                  <a:srgbClr val="1F9032"/>
                </a:solidFill>
                <a:latin typeface="Poppins"/>
                <a:ea typeface="Poppins"/>
                <a:cs typeface="Poppins"/>
                <a:sym typeface="Poppins"/>
              </a:rPr>
              <a:t>Discussion</a:t>
            </a:r>
            <a:endParaRPr b="1" dirty="0"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171" name="Google Shape;171;g28808c7f580_2_1"/>
          <p:cNvSpPr txBox="1">
            <a:spLocks noGrp="1"/>
          </p:cNvSpPr>
          <p:nvPr>
            <p:ph type="sldNum" idx="12"/>
          </p:nvPr>
        </p:nvSpPr>
        <p:spPr>
          <a:xfrm>
            <a:off x="10780776" y="6356350"/>
            <a:ext cx="573000" cy="36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</a:pPr>
            <a:fld id="{00000000-1234-1234-1234-123412341234}" type="slidenum">
              <a:rPr lang="fr-FR"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rPr>
              <a:t>18</a:t>
            </a:fld>
            <a:endParaRPr sz="1200" b="0" i="0" u="none" strike="noStrike" cap="none">
              <a:solidFill>
                <a:srgbClr val="888888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" name="Google Shape;173;g28808c7f580_2_1">
            <a:extLst>
              <a:ext uri="{FF2B5EF4-FFF2-40B4-BE49-F238E27FC236}">
                <a16:creationId xmlns:a16="http://schemas.microsoft.com/office/drawing/2014/main" id="{F35F613E-0CD8-B5A8-A692-DF898BF37E85}"/>
              </a:ext>
            </a:extLst>
          </p:cNvPr>
          <p:cNvSpPr txBox="1"/>
          <p:nvPr/>
        </p:nvSpPr>
        <p:spPr>
          <a:xfrm>
            <a:off x="2477011" y="1110629"/>
            <a:ext cx="9141248" cy="489361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lvl="0"/>
            <a:r>
              <a:rPr lang="en-US" sz="2100" dirty="0">
                <a:latin typeface="Poppins"/>
                <a:ea typeface="Poppins"/>
                <a:cs typeface="Poppins"/>
                <a:sym typeface="Poppins"/>
              </a:rPr>
              <a:t>Main question</a:t>
            </a:r>
          </a:p>
          <a:p>
            <a:pPr lvl="0"/>
            <a:endParaRPr lang="en-US" sz="2100" dirty="0">
              <a:latin typeface="Poppins"/>
              <a:ea typeface="Poppins"/>
              <a:cs typeface="Poppins"/>
              <a:sym typeface="Poppins"/>
            </a:endParaRPr>
          </a:p>
          <a:p>
            <a:pPr marL="342900" lvl="0" indent="-342900">
              <a:buFont typeface="Aptos" panose="020B0004020202020204" pitchFamily="34" charset="0"/>
              <a:buChar char="-"/>
            </a:pPr>
            <a:r>
              <a:rPr lang="fr-FR" sz="1800" dirty="0">
                <a:effectLst/>
                <a:latin typeface="Aptos" panose="020B0004020202020204" pitchFamily="34" charset="0"/>
                <a:ea typeface="Times New Roman" panose="02020603050405020304" pitchFamily="18" charset="0"/>
                <a:cs typeface="Times New Roman" panose="02020603050405020304" pitchFamily="18" charset="0"/>
              </a:rPr>
              <a:t>Are mixed </a:t>
            </a:r>
            <a:r>
              <a:rPr lang="fr-FR" sz="1800" dirty="0" err="1">
                <a:effectLst/>
                <a:latin typeface="Aptos" panose="020B0004020202020204" pitchFamily="34" charset="0"/>
                <a:ea typeface="Times New Roman" panose="02020603050405020304" pitchFamily="18" charset="0"/>
                <a:cs typeface="Times New Roman" panose="02020603050405020304" pitchFamily="18" charset="0"/>
              </a:rPr>
              <a:t>oak</a:t>
            </a:r>
            <a:r>
              <a:rPr lang="fr-FR" sz="1800" dirty="0">
                <a:effectLst/>
                <a:latin typeface="Aptos" panose="020B0004020202020204" pitchFamily="34" charset="0"/>
                <a:ea typeface="Times New Roman" panose="02020603050405020304" pitchFamily="18" charset="0"/>
                <a:cs typeface="Times New Roman" panose="02020603050405020304" pitchFamily="18" charset="0"/>
              </a:rPr>
              <a:t>-pine stands </a:t>
            </a:r>
            <a:r>
              <a:rPr lang="fr-FR" sz="1800" dirty="0" err="1">
                <a:effectLst/>
                <a:latin typeface="Aptos" panose="020B0004020202020204" pitchFamily="34" charset="0"/>
                <a:ea typeface="Times New Roman" panose="02020603050405020304" pitchFamily="18" charset="0"/>
                <a:cs typeface="Times New Roman" panose="02020603050405020304" pitchFamily="18" charset="0"/>
              </a:rPr>
              <a:t>beneficial</a:t>
            </a:r>
            <a:r>
              <a:rPr lang="fr-FR" sz="1800" dirty="0">
                <a:effectLst/>
                <a:latin typeface="Aptos" panose="020B0004020202020204" pitchFamily="34" charset="0"/>
                <a:ea typeface="Times New Roman" panose="02020603050405020304" pitchFamily="18" charset="0"/>
                <a:cs typeface="Times New Roman" panose="02020603050405020304" pitchFamily="18" charset="0"/>
              </a:rPr>
              <a:t> to </a:t>
            </a:r>
            <a:r>
              <a:rPr lang="fr-FR" sz="1800" dirty="0" err="1">
                <a:effectLst/>
                <a:latin typeface="Aptos" panose="020B0004020202020204" pitchFamily="34" charset="0"/>
                <a:ea typeface="Times New Roman" panose="02020603050405020304" pitchFamily="18" charset="0"/>
                <a:cs typeface="Times New Roman" panose="02020603050405020304" pitchFamily="18" charset="0"/>
              </a:rPr>
              <a:t>common</a:t>
            </a:r>
            <a:r>
              <a:rPr lang="fr-FR" sz="1800" dirty="0">
                <a:effectLst/>
                <a:latin typeface="Aptos" panose="020B0004020202020204" pitchFamily="34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fr-FR" sz="1800" dirty="0" err="1">
                <a:effectLst/>
                <a:latin typeface="Aptos" panose="020B0004020202020204" pitchFamily="34" charset="0"/>
                <a:ea typeface="Times New Roman" panose="02020603050405020304" pitchFamily="18" charset="0"/>
                <a:cs typeface="Times New Roman" panose="02020603050405020304" pitchFamily="18" charset="0"/>
              </a:rPr>
              <a:t>birds</a:t>
            </a:r>
            <a:r>
              <a:rPr lang="fr-FR" sz="1800" dirty="0">
                <a:effectLst/>
                <a:latin typeface="Aptos" panose="020B0004020202020204" pitchFamily="34" charset="0"/>
                <a:ea typeface="Times New Roman" panose="02020603050405020304" pitchFamily="18" charset="0"/>
                <a:cs typeface="Times New Roman" panose="02020603050405020304" pitchFamily="18" charset="0"/>
              </a:rPr>
              <a:t>, </a:t>
            </a:r>
            <a:r>
              <a:rPr lang="fr-FR" sz="1800" dirty="0" err="1">
                <a:effectLst/>
                <a:latin typeface="Aptos" panose="020B0004020202020204" pitchFamily="34" charset="0"/>
                <a:ea typeface="Times New Roman" panose="02020603050405020304" pitchFamily="18" charset="0"/>
                <a:cs typeface="Times New Roman" panose="02020603050405020304" pitchFamily="18" charset="0"/>
              </a:rPr>
              <a:t>saproxylic</a:t>
            </a:r>
            <a:r>
              <a:rPr lang="fr-FR" sz="1800" dirty="0">
                <a:effectLst/>
                <a:latin typeface="Aptos" panose="020B0004020202020204" pitchFamily="34" charset="0"/>
                <a:ea typeface="Times New Roman" panose="02020603050405020304" pitchFamily="18" charset="0"/>
                <a:cs typeface="Times New Roman" panose="02020603050405020304" pitchFamily="18" charset="0"/>
              </a:rPr>
              <a:t> and </a:t>
            </a:r>
            <a:r>
              <a:rPr lang="fr-FR" sz="1800" dirty="0" err="1">
                <a:effectLst/>
                <a:latin typeface="Aptos" panose="020B0004020202020204" pitchFamily="34" charset="0"/>
                <a:ea typeface="Times New Roman" panose="02020603050405020304" pitchFamily="18" charset="0"/>
                <a:cs typeface="Times New Roman" panose="02020603050405020304" pitchFamily="18" charset="0"/>
              </a:rPr>
              <a:t>ground</a:t>
            </a:r>
            <a:r>
              <a:rPr lang="fr-FR" sz="1800" dirty="0">
                <a:effectLst/>
                <a:latin typeface="Aptos" panose="020B0004020202020204" pitchFamily="34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fr-FR" sz="1800" dirty="0" err="1">
                <a:effectLst/>
                <a:latin typeface="Aptos" panose="020B0004020202020204" pitchFamily="34" charset="0"/>
                <a:ea typeface="Times New Roman" panose="02020603050405020304" pitchFamily="18" charset="0"/>
                <a:cs typeface="Times New Roman" panose="02020603050405020304" pitchFamily="18" charset="0"/>
              </a:rPr>
              <a:t>beetles</a:t>
            </a:r>
            <a:r>
              <a:rPr lang="fr-FR" sz="1800" dirty="0">
                <a:effectLst/>
                <a:latin typeface="Aptos" panose="020B0004020202020204" pitchFamily="34" charset="0"/>
                <a:ea typeface="Times New Roman" panose="02020603050405020304" pitchFamily="18" charset="0"/>
                <a:cs typeface="Times New Roman" panose="02020603050405020304" pitchFamily="18" charset="0"/>
              </a:rPr>
              <a:t>?</a:t>
            </a:r>
            <a:endParaRPr lang="fr-FR" sz="1800" dirty="0">
              <a:effectLst/>
              <a:latin typeface="Aptos" panose="020B0004020202020204" pitchFamily="34" charset="0"/>
              <a:ea typeface="Aptos" panose="020B0004020202020204" pitchFamily="34" charset="0"/>
              <a:cs typeface="Times New Roman" panose="02020603050405020304" pitchFamily="18" charset="0"/>
            </a:endParaRPr>
          </a:p>
          <a:p>
            <a:r>
              <a:rPr lang="fr-FR" sz="1800" dirty="0">
                <a:effectLst/>
                <a:latin typeface="Aptos" panose="020B0004020202020204" pitchFamily="34" charset="0"/>
                <a:ea typeface="Aptos" panose="020B0004020202020204" pitchFamily="34" charset="0"/>
                <a:cs typeface="Aptos" panose="020B0004020202020204" pitchFamily="34" charset="0"/>
              </a:rPr>
              <a:t> </a:t>
            </a:r>
          </a:p>
          <a:p>
            <a:r>
              <a:rPr lang="fr-FR" sz="2400" dirty="0" err="1">
                <a:effectLst/>
                <a:latin typeface="Aptos" panose="020B0004020202020204" pitchFamily="34" charset="0"/>
                <a:ea typeface="Aptos" panose="020B0004020202020204" pitchFamily="34" charset="0"/>
                <a:cs typeface="Aptos" panose="020B0004020202020204" pitchFamily="34" charset="0"/>
              </a:rPr>
              <a:t>Hypotheses</a:t>
            </a:r>
            <a:endParaRPr lang="fr-FR" sz="2400" dirty="0">
              <a:effectLst/>
              <a:latin typeface="Aptos" panose="020B0004020202020204" pitchFamily="34" charset="0"/>
              <a:ea typeface="Aptos" panose="020B0004020202020204" pitchFamily="34" charset="0"/>
              <a:cs typeface="Aptos" panose="020B0004020202020204" pitchFamily="34" charset="0"/>
            </a:endParaRPr>
          </a:p>
          <a:p>
            <a:endParaRPr lang="fr-FR" sz="2400" dirty="0">
              <a:effectLst/>
              <a:latin typeface="Aptos" panose="020B0004020202020204" pitchFamily="34" charset="0"/>
              <a:ea typeface="Aptos" panose="020B0004020202020204" pitchFamily="34" charset="0"/>
              <a:cs typeface="Aptos" panose="020B0004020202020204" pitchFamily="34" charset="0"/>
            </a:endParaRPr>
          </a:p>
          <a:p>
            <a:pPr marL="342900" lvl="0" indent="-342900">
              <a:buFont typeface="Aptos" panose="020B0004020202020204" pitchFamily="34" charset="0"/>
              <a:buChar char="-"/>
            </a:pPr>
            <a:r>
              <a:rPr lang="fr-FR" sz="1800" dirty="0" err="1">
                <a:effectLst/>
                <a:latin typeface="Aptos" panose="020B0004020202020204" pitchFamily="34" charset="0"/>
                <a:ea typeface="Times New Roman" panose="02020603050405020304" pitchFamily="18" charset="0"/>
                <a:cs typeface="Times New Roman" panose="02020603050405020304" pitchFamily="18" charset="0"/>
              </a:rPr>
              <a:t>Response</a:t>
            </a:r>
            <a:r>
              <a:rPr lang="fr-FR" sz="1800" dirty="0">
                <a:effectLst/>
                <a:latin typeface="Aptos" panose="020B0004020202020204" pitchFamily="34" charset="0"/>
                <a:ea typeface="Times New Roman" panose="02020603050405020304" pitchFamily="18" charset="0"/>
                <a:cs typeface="Times New Roman" panose="02020603050405020304" pitchFamily="18" charset="0"/>
              </a:rPr>
              <a:t> to </a:t>
            </a:r>
            <a:r>
              <a:rPr lang="fr-FR" sz="1800" dirty="0" err="1">
                <a:effectLst/>
                <a:latin typeface="Aptos" panose="020B0004020202020204" pitchFamily="34" charset="0"/>
                <a:ea typeface="Times New Roman" panose="02020603050405020304" pitchFamily="18" charset="0"/>
                <a:cs typeface="Times New Roman" panose="02020603050405020304" pitchFamily="18" charset="0"/>
              </a:rPr>
              <a:t>tree</a:t>
            </a:r>
            <a:r>
              <a:rPr lang="fr-FR" sz="1800" dirty="0">
                <a:effectLst/>
                <a:latin typeface="Aptos" panose="020B0004020202020204" pitchFamily="34" charset="0"/>
                <a:ea typeface="Times New Roman" panose="02020603050405020304" pitchFamily="18" charset="0"/>
                <a:cs typeface="Times New Roman" panose="02020603050405020304" pitchFamily="18" charset="0"/>
              </a:rPr>
              <a:t> mixture </a:t>
            </a:r>
            <a:r>
              <a:rPr lang="fr-FR" sz="1800" dirty="0" err="1">
                <a:effectLst/>
                <a:latin typeface="Aptos" panose="020B0004020202020204" pitchFamily="34" charset="0"/>
                <a:ea typeface="Times New Roman" panose="02020603050405020304" pitchFamily="18" charset="0"/>
                <a:cs typeface="Times New Roman" panose="02020603050405020304" pitchFamily="18" charset="0"/>
              </a:rPr>
              <a:t>is</a:t>
            </a:r>
            <a:r>
              <a:rPr lang="fr-FR" sz="1800" dirty="0">
                <a:effectLst/>
                <a:latin typeface="Aptos" panose="020B0004020202020204" pitchFamily="34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fr-FR" sz="1800" dirty="0" err="1">
                <a:effectLst/>
                <a:latin typeface="Aptos" panose="020B0004020202020204" pitchFamily="34" charset="0"/>
                <a:ea typeface="Times New Roman" panose="02020603050405020304" pitchFamily="18" charset="0"/>
                <a:cs typeface="Times New Roman" panose="02020603050405020304" pitchFamily="18" charset="0"/>
              </a:rPr>
              <a:t>stronger</a:t>
            </a:r>
            <a:r>
              <a:rPr lang="fr-FR" sz="1800" dirty="0">
                <a:effectLst/>
                <a:latin typeface="Aptos" panose="020B0004020202020204" pitchFamily="34" charset="0"/>
                <a:ea typeface="Times New Roman" panose="02020603050405020304" pitchFamily="18" charset="0"/>
                <a:cs typeface="Times New Roman" panose="02020603050405020304" pitchFamily="18" charset="0"/>
              </a:rPr>
              <a:t> for </a:t>
            </a:r>
            <a:r>
              <a:rPr lang="fr-FR" sz="1800" dirty="0" err="1">
                <a:effectLst/>
                <a:latin typeface="Aptos" panose="020B0004020202020204" pitchFamily="34" charset="0"/>
                <a:ea typeface="Times New Roman" panose="02020603050405020304" pitchFamily="18" charset="0"/>
                <a:cs typeface="Times New Roman" panose="02020603050405020304" pitchFamily="18" charset="0"/>
              </a:rPr>
              <a:t>taxonomic</a:t>
            </a:r>
            <a:r>
              <a:rPr lang="fr-FR" sz="1800" dirty="0">
                <a:effectLst/>
                <a:latin typeface="Aptos" panose="020B0004020202020204" pitchFamily="34" charset="0"/>
                <a:ea typeface="Times New Roman" panose="02020603050405020304" pitchFamily="18" charset="0"/>
                <a:cs typeface="Times New Roman" panose="02020603050405020304" pitchFamily="18" charset="0"/>
              </a:rPr>
              <a:t> groups/</a:t>
            </a:r>
            <a:r>
              <a:rPr lang="fr-FR" sz="1800" dirty="0" err="1">
                <a:effectLst/>
                <a:latin typeface="Aptos" panose="020B0004020202020204" pitchFamily="34" charset="0"/>
                <a:ea typeface="Times New Roman" panose="02020603050405020304" pitchFamily="18" charset="0"/>
                <a:cs typeface="Times New Roman" panose="02020603050405020304" pitchFamily="18" charset="0"/>
              </a:rPr>
              <a:t>species</a:t>
            </a:r>
            <a:r>
              <a:rPr lang="fr-FR" sz="1800" dirty="0">
                <a:effectLst/>
                <a:latin typeface="Aptos" panose="020B0004020202020204" pitchFamily="34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fr-FR" sz="1800" dirty="0" err="1">
                <a:effectLst/>
                <a:latin typeface="Aptos" panose="020B0004020202020204" pitchFamily="34" charset="0"/>
                <a:ea typeface="Times New Roman" panose="02020603050405020304" pitchFamily="18" charset="0"/>
                <a:cs typeface="Times New Roman" panose="02020603050405020304" pitchFamily="18" charset="0"/>
              </a:rPr>
              <a:t>having</a:t>
            </a:r>
            <a:r>
              <a:rPr lang="fr-FR" sz="1800" dirty="0">
                <a:effectLst/>
                <a:latin typeface="Aptos" panose="020B0004020202020204" pitchFamily="34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fr-FR" sz="1800" dirty="0" err="1">
                <a:effectLst/>
                <a:latin typeface="Aptos" panose="020B0004020202020204" pitchFamily="34" charset="0"/>
                <a:ea typeface="Times New Roman" panose="02020603050405020304" pitchFamily="18" charset="0"/>
                <a:cs typeface="Times New Roman" panose="02020603050405020304" pitchFamily="18" charset="0"/>
              </a:rPr>
              <a:t>strong</a:t>
            </a:r>
            <a:r>
              <a:rPr lang="fr-FR" sz="1800" dirty="0">
                <a:effectLst/>
                <a:latin typeface="Aptos" panose="020B0004020202020204" pitchFamily="34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fr-FR" sz="1800" dirty="0" err="1">
                <a:effectLst/>
                <a:latin typeface="Aptos" panose="020B0004020202020204" pitchFamily="34" charset="0"/>
                <a:ea typeface="Times New Roman" panose="02020603050405020304" pitchFamily="18" charset="0"/>
                <a:cs typeface="Times New Roman" panose="02020603050405020304" pitchFamily="18" charset="0"/>
              </a:rPr>
              <a:t>affinity</a:t>
            </a:r>
            <a:r>
              <a:rPr lang="fr-FR" sz="1800" dirty="0">
                <a:effectLst/>
                <a:latin typeface="Aptos" panose="020B0004020202020204" pitchFamily="34" charset="0"/>
                <a:ea typeface="Times New Roman" panose="02020603050405020304" pitchFamily="18" charset="0"/>
                <a:cs typeface="Times New Roman" panose="02020603050405020304" pitchFamily="18" charset="0"/>
              </a:rPr>
              <a:t> for one </a:t>
            </a:r>
            <a:r>
              <a:rPr lang="fr-FR" sz="1800" dirty="0" err="1">
                <a:effectLst/>
                <a:latin typeface="Aptos" panose="020B0004020202020204" pitchFamily="34" charset="0"/>
                <a:ea typeface="Times New Roman" panose="02020603050405020304" pitchFamily="18" charset="0"/>
                <a:cs typeface="Times New Roman" panose="02020603050405020304" pitchFamily="18" charset="0"/>
              </a:rPr>
              <a:t>tree</a:t>
            </a:r>
            <a:r>
              <a:rPr lang="fr-FR" sz="1800" dirty="0">
                <a:effectLst/>
                <a:latin typeface="Aptos" panose="020B0004020202020204" pitchFamily="34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fr-FR" sz="1800" dirty="0" err="1">
                <a:effectLst/>
                <a:latin typeface="Aptos" panose="020B0004020202020204" pitchFamily="34" charset="0"/>
                <a:ea typeface="Times New Roman" panose="02020603050405020304" pitchFamily="18" charset="0"/>
                <a:cs typeface="Times New Roman" panose="02020603050405020304" pitchFamily="18" charset="0"/>
              </a:rPr>
              <a:t>species</a:t>
            </a:r>
            <a:r>
              <a:rPr lang="fr-FR" sz="1800" dirty="0">
                <a:effectLst/>
                <a:latin typeface="Aptos" panose="020B0004020202020204" pitchFamily="34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fr-FR" sz="1800" dirty="0" err="1">
                <a:effectLst/>
                <a:latin typeface="Aptos" panose="020B0004020202020204" pitchFamily="34" charset="0"/>
                <a:ea typeface="Times New Roman" panose="02020603050405020304" pitchFamily="18" charset="0"/>
                <a:cs typeface="Times New Roman" panose="02020603050405020304" pitchFamily="18" charset="0"/>
              </a:rPr>
              <a:t>only</a:t>
            </a:r>
            <a:r>
              <a:rPr lang="fr-FR" sz="1800" dirty="0">
                <a:effectLst/>
                <a:latin typeface="Aptos" panose="020B0004020202020204" pitchFamily="34" charset="0"/>
                <a:ea typeface="Times New Roman" panose="02020603050405020304" pitchFamily="18" charset="0"/>
                <a:cs typeface="Times New Roman" panose="02020603050405020304" pitchFamily="18" charset="0"/>
              </a:rPr>
              <a:t> (</a:t>
            </a:r>
            <a:r>
              <a:rPr lang="fr-FR" sz="1800" dirty="0" err="1">
                <a:effectLst/>
                <a:latin typeface="Aptos" panose="020B0004020202020204" pitchFamily="34" charset="0"/>
                <a:ea typeface="Times New Roman" panose="02020603050405020304" pitchFamily="18" charset="0"/>
                <a:cs typeface="Times New Roman" panose="02020603050405020304" pitchFamily="18" charset="0"/>
              </a:rPr>
              <a:t>eg</a:t>
            </a:r>
            <a:r>
              <a:rPr lang="fr-FR" sz="1800" dirty="0">
                <a:effectLst/>
                <a:latin typeface="Aptos" panose="020B0004020202020204" pitchFamily="34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fr-FR" sz="1800" dirty="0" err="1">
                <a:effectLst/>
                <a:latin typeface="Aptos" panose="020B0004020202020204" pitchFamily="34" charset="0"/>
                <a:ea typeface="Times New Roman" panose="02020603050405020304" pitchFamily="18" charset="0"/>
                <a:cs typeface="Times New Roman" panose="02020603050405020304" pitchFamily="18" charset="0"/>
              </a:rPr>
              <a:t>strongest</a:t>
            </a:r>
            <a:r>
              <a:rPr lang="fr-FR" sz="1800" dirty="0">
                <a:effectLst/>
                <a:latin typeface="Aptos" panose="020B0004020202020204" pitchFamily="34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fr-FR" sz="1800" dirty="0" err="1">
                <a:effectLst/>
                <a:latin typeface="Aptos" panose="020B0004020202020204" pitchFamily="34" charset="0"/>
                <a:ea typeface="Times New Roman" panose="02020603050405020304" pitchFamily="18" charset="0"/>
                <a:cs typeface="Times New Roman" panose="02020603050405020304" pitchFamily="18" charset="0"/>
              </a:rPr>
              <a:t>response</a:t>
            </a:r>
            <a:r>
              <a:rPr lang="fr-FR" sz="1800" dirty="0">
                <a:effectLst/>
                <a:latin typeface="Aptos" panose="020B0004020202020204" pitchFamily="34" charset="0"/>
                <a:ea typeface="Times New Roman" panose="02020603050405020304" pitchFamily="18" charset="0"/>
                <a:cs typeface="Times New Roman" panose="02020603050405020304" pitchFamily="18" charset="0"/>
              </a:rPr>
              <a:t> for </a:t>
            </a:r>
            <a:r>
              <a:rPr lang="fr-FR" sz="1800" dirty="0" err="1">
                <a:effectLst/>
                <a:latin typeface="Aptos" panose="020B0004020202020204" pitchFamily="34" charset="0"/>
                <a:ea typeface="Times New Roman" panose="02020603050405020304" pitchFamily="18" charset="0"/>
                <a:cs typeface="Times New Roman" panose="02020603050405020304" pitchFamily="18" charset="0"/>
              </a:rPr>
              <a:t>saproxylic</a:t>
            </a:r>
            <a:r>
              <a:rPr lang="fr-FR" sz="1800" dirty="0">
                <a:effectLst/>
                <a:latin typeface="Aptos" panose="020B0004020202020204" pitchFamily="34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fr-FR" dirty="0" err="1">
                <a:latin typeface="Aptos" panose="020B0004020202020204" pitchFamily="34" charset="0"/>
                <a:ea typeface="Times New Roman" panose="02020603050405020304" pitchFamily="18" charset="0"/>
                <a:cs typeface="Times New Roman" panose="02020603050405020304" pitchFamily="18" charset="0"/>
              </a:rPr>
              <a:t>beetles</a:t>
            </a:r>
            <a:r>
              <a:rPr lang="fr-FR" dirty="0">
                <a:latin typeface="Aptos" panose="020B0004020202020204" pitchFamily="34" charset="0"/>
                <a:ea typeface="Times New Roman" panose="02020603050405020304" pitchFamily="18" charset="0"/>
                <a:cs typeface="Times New Roman" panose="02020603050405020304" pitchFamily="18" charset="0"/>
              </a:rPr>
              <a:t>, </a:t>
            </a:r>
            <a:r>
              <a:rPr lang="fr-FR" dirty="0" err="1">
                <a:latin typeface="Aptos" panose="020B0004020202020204" pitchFamily="34" charset="0"/>
                <a:ea typeface="Times New Roman" panose="02020603050405020304" pitchFamily="18" charset="0"/>
                <a:cs typeface="Times New Roman" panose="02020603050405020304" pitchFamily="18" charset="0"/>
              </a:rPr>
              <a:t>intermediate</a:t>
            </a:r>
            <a:r>
              <a:rPr lang="fr-FR" dirty="0">
                <a:latin typeface="Aptos" panose="020B0004020202020204" pitchFamily="34" charset="0"/>
                <a:ea typeface="Times New Roman" panose="02020603050405020304" pitchFamily="18" charset="0"/>
                <a:cs typeface="Times New Roman" panose="02020603050405020304" pitchFamily="18" charset="0"/>
              </a:rPr>
              <a:t> for </a:t>
            </a:r>
            <a:r>
              <a:rPr lang="fr-FR" dirty="0" err="1">
                <a:latin typeface="Aptos" panose="020B0004020202020204" pitchFamily="34" charset="0"/>
                <a:ea typeface="Times New Roman" panose="02020603050405020304" pitchFamily="18" charset="0"/>
                <a:cs typeface="Times New Roman" panose="02020603050405020304" pitchFamily="18" charset="0"/>
              </a:rPr>
              <a:t>birds</a:t>
            </a:r>
            <a:r>
              <a:rPr lang="fr-FR" dirty="0">
                <a:latin typeface="Aptos" panose="020B0004020202020204" pitchFamily="34" charset="0"/>
                <a:ea typeface="Times New Roman" panose="02020603050405020304" pitchFamily="18" charset="0"/>
                <a:cs typeface="Times New Roman" panose="02020603050405020304" pitchFamily="18" charset="0"/>
              </a:rPr>
              <a:t>, </a:t>
            </a:r>
            <a:r>
              <a:rPr lang="fr-FR" dirty="0" err="1">
                <a:latin typeface="Aptos" panose="020B0004020202020204" pitchFamily="34" charset="0"/>
                <a:ea typeface="Times New Roman" panose="02020603050405020304" pitchFamily="18" charset="0"/>
                <a:cs typeface="Times New Roman" panose="02020603050405020304" pitchFamily="18" charset="0"/>
              </a:rPr>
              <a:t>lowest</a:t>
            </a:r>
            <a:r>
              <a:rPr lang="fr-FR" dirty="0">
                <a:latin typeface="Aptos" panose="020B0004020202020204" pitchFamily="34" charset="0"/>
                <a:ea typeface="Times New Roman" panose="02020603050405020304" pitchFamily="18" charset="0"/>
                <a:cs typeface="Times New Roman" panose="02020603050405020304" pitchFamily="18" charset="0"/>
              </a:rPr>
              <a:t> for </a:t>
            </a:r>
            <a:r>
              <a:rPr lang="fr-FR" dirty="0" err="1">
                <a:latin typeface="Aptos" panose="020B0004020202020204" pitchFamily="34" charset="0"/>
                <a:ea typeface="Times New Roman" panose="02020603050405020304" pitchFamily="18" charset="0"/>
                <a:cs typeface="Times New Roman" panose="02020603050405020304" pitchFamily="18" charset="0"/>
              </a:rPr>
              <a:t>ground</a:t>
            </a:r>
            <a:r>
              <a:rPr lang="fr-FR" dirty="0">
                <a:latin typeface="Aptos" panose="020B0004020202020204" pitchFamily="34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fr-FR" dirty="0" err="1">
                <a:latin typeface="Aptos" panose="020B0004020202020204" pitchFamily="34" charset="0"/>
                <a:ea typeface="Times New Roman" panose="02020603050405020304" pitchFamily="18" charset="0"/>
                <a:cs typeface="Times New Roman" panose="02020603050405020304" pitchFamily="18" charset="0"/>
              </a:rPr>
              <a:t>beetles</a:t>
            </a:r>
            <a:r>
              <a:rPr lang="fr-FR" dirty="0">
                <a:latin typeface="Aptos" panose="020B0004020202020204" pitchFamily="34" charset="0"/>
                <a:ea typeface="Times New Roman" panose="02020603050405020304" pitchFamily="18" charset="0"/>
                <a:cs typeface="Times New Roman" panose="02020603050405020304" pitchFamily="18" charset="0"/>
              </a:rPr>
              <a:t>)</a:t>
            </a:r>
          </a:p>
          <a:p>
            <a:pPr marL="342900" lvl="0" indent="-342900">
              <a:buFont typeface="Aptos" panose="020B0004020202020204" pitchFamily="34" charset="0"/>
              <a:buChar char="-"/>
            </a:pPr>
            <a:endParaRPr lang="fr-FR" sz="1800" dirty="0">
              <a:effectLst/>
              <a:latin typeface="Aptos" panose="020B0004020202020204" pitchFamily="34" charset="0"/>
              <a:ea typeface="Aptos" panose="020B0004020202020204" pitchFamily="34" charset="0"/>
              <a:cs typeface="Times New Roman" panose="02020603050405020304" pitchFamily="18" charset="0"/>
            </a:endParaRPr>
          </a:p>
          <a:p>
            <a:pPr marL="342900" lvl="0" indent="-342900">
              <a:buFont typeface="Aptos" panose="020B0004020202020204" pitchFamily="34" charset="0"/>
              <a:buChar char="-"/>
            </a:pPr>
            <a:r>
              <a:rPr lang="fr-FR" sz="1800" dirty="0" err="1">
                <a:effectLst/>
                <a:latin typeface="Aptos" panose="020B0004020202020204" pitchFamily="34" charset="0"/>
                <a:ea typeface="Times New Roman" panose="02020603050405020304" pitchFamily="18" charset="0"/>
                <a:cs typeface="Times New Roman" panose="02020603050405020304" pitchFamily="18" charset="0"/>
              </a:rPr>
              <a:t>Higher</a:t>
            </a:r>
            <a:r>
              <a:rPr lang="fr-FR" sz="1800" dirty="0">
                <a:effectLst/>
                <a:latin typeface="Aptos" panose="020B0004020202020204" pitchFamily="34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fr-FR" sz="1800" dirty="0" err="1">
                <a:effectLst/>
                <a:latin typeface="Aptos" panose="020B0004020202020204" pitchFamily="34" charset="0"/>
                <a:ea typeface="Times New Roman" panose="02020603050405020304" pitchFamily="18" charset="0"/>
                <a:cs typeface="Times New Roman" panose="02020603050405020304" pitchFamily="18" charset="0"/>
              </a:rPr>
              <a:t>diversity</a:t>
            </a:r>
            <a:r>
              <a:rPr lang="fr-FR" sz="1800" dirty="0">
                <a:effectLst/>
                <a:latin typeface="Aptos" panose="020B0004020202020204" pitchFamily="34" charset="0"/>
                <a:ea typeface="Times New Roman" panose="02020603050405020304" pitchFamily="18" charset="0"/>
                <a:cs typeface="Times New Roman" panose="02020603050405020304" pitchFamily="18" charset="0"/>
              </a:rPr>
              <a:t>/</a:t>
            </a:r>
            <a:r>
              <a:rPr lang="fr-FR" sz="1800" dirty="0" err="1">
                <a:effectLst/>
                <a:latin typeface="Aptos" panose="020B0004020202020204" pitchFamily="34" charset="0"/>
                <a:ea typeface="Times New Roman" panose="02020603050405020304" pitchFamily="18" charset="0"/>
                <a:cs typeface="Times New Roman" panose="02020603050405020304" pitchFamily="18" charset="0"/>
              </a:rPr>
              <a:t>abundance</a:t>
            </a:r>
            <a:r>
              <a:rPr lang="fr-FR" sz="1800" dirty="0">
                <a:effectLst/>
                <a:latin typeface="Aptos" panose="020B0004020202020204" pitchFamily="34" charset="0"/>
                <a:ea typeface="Times New Roman" panose="02020603050405020304" pitchFamily="18" charset="0"/>
                <a:cs typeface="Times New Roman" panose="02020603050405020304" pitchFamily="18" charset="0"/>
              </a:rPr>
              <a:t> in pure </a:t>
            </a:r>
            <a:r>
              <a:rPr lang="fr-FR" sz="1800" dirty="0" err="1">
                <a:effectLst/>
                <a:latin typeface="Aptos" panose="020B0004020202020204" pitchFamily="34" charset="0"/>
                <a:ea typeface="Times New Roman" panose="02020603050405020304" pitchFamily="18" charset="0"/>
                <a:cs typeface="Times New Roman" panose="02020603050405020304" pitchFamily="18" charset="0"/>
              </a:rPr>
              <a:t>oak</a:t>
            </a:r>
            <a:r>
              <a:rPr lang="fr-FR" sz="1800" dirty="0">
                <a:effectLst/>
                <a:latin typeface="Aptos" panose="020B0004020202020204" pitchFamily="34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fr-FR" sz="1800" dirty="0" err="1">
                <a:effectLst/>
                <a:latin typeface="Aptos" panose="020B0004020202020204" pitchFamily="34" charset="0"/>
                <a:ea typeface="Times New Roman" panose="02020603050405020304" pitchFamily="18" charset="0"/>
                <a:cs typeface="Times New Roman" panose="02020603050405020304" pitchFamily="18" charset="0"/>
              </a:rPr>
              <a:t>than</a:t>
            </a:r>
            <a:r>
              <a:rPr lang="fr-FR" sz="1800" dirty="0">
                <a:effectLst/>
                <a:latin typeface="Aptos" panose="020B0004020202020204" pitchFamily="34" charset="0"/>
                <a:ea typeface="Times New Roman" panose="02020603050405020304" pitchFamily="18" charset="0"/>
                <a:cs typeface="Times New Roman" panose="02020603050405020304" pitchFamily="18" charset="0"/>
              </a:rPr>
              <a:t> in pure pine stands (at least for </a:t>
            </a:r>
            <a:r>
              <a:rPr lang="fr-FR" sz="1800" dirty="0" err="1">
                <a:effectLst/>
                <a:latin typeface="Aptos" panose="020B0004020202020204" pitchFamily="34" charset="0"/>
                <a:ea typeface="Times New Roman" panose="02020603050405020304" pitchFamily="18" charset="0"/>
                <a:cs typeface="Times New Roman" panose="02020603050405020304" pitchFamily="18" charset="0"/>
              </a:rPr>
              <a:t>birds</a:t>
            </a:r>
            <a:r>
              <a:rPr lang="fr-FR" sz="1800" dirty="0">
                <a:effectLst/>
                <a:latin typeface="Aptos" panose="020B0004020202020204" pitchFamily="34" charset="0"/>
                <a:ea typeface="Times New Roman" panose="02020603050405020304" pitchFamily="18" charset="0"/>
                <a:cs typeface="Times New Roman" panose="02020603050405020304" pitchFamily="18" charset="0"/>
              </a:rPr>
              <a:t> and </a:t>
            </a:r>
            <a:r>
              <a:rPr lang="fr-FR" sz="1800" dirty="0" err="1">
                <a:effectLst/>
                <a:latin typeface="Aptos" panose="020B0004020202020204" pitchFamily="34" charset="0"/>
                <a:ea typeface="Times New Roman" panose="02020603050405020304" pitchFamily="18" charset="0"/>
                <a:cs typeface="Times New Roman" panose="02020603050405020304" pitchFamily="18" charset="0"/>
              </a:rPr>
              <a:t>saproxylic</a:t>
            </a:r>
            <a:r>
              <a:rPr lang="fr-FR" sz="1800" dirty="0">
                <a:effectLst/>
                <a:latin typeface="Aptos" panose="020B0004020202020204" pitchFamily="34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fr-FR" sz="1800" dirty="0" err="1">
                <a:effectLst/>
                <a:latin typeface="Aptos" panose="020B0004020202020204" pitchFamily="34" charset="0"/>
                <a:ea typeface="Times New Roman" panose="02020603050405020304" pitchFamily="18" charset="0"/>
                <a:cs typeface="Times New Roman" panose="02020603050405020304" pitchFamily="18" charset="0"/>
              </a:rPr>
              <a:t>beetles</a:t>
            </a:r>
            <a:r>
              <a:rPr lang="fr-FR" sz="1800" dirty="0">
                <a:effectLst/>
                <a:latin typeface="Aptos" panose="020B0004020202020204" pitchFamily="34" charset="0"/>
                <a:ea typeface="Times New Roman" panose="02020603050405020304" pitchFamily="18" charset="0"/>
                <a:cs typeface="Times New Roman" panose="02020603050405020304" pitchFamily="18" charset="0"/>
              </a:rPr>
              <a:t>)</a:t>
            </a:r>
          </a:p>
          <a:p>
            <a:pPr marL="342900" lvl="0" indent="-342900">
              <a:buFont typeface="Aptos" panose="020B0004020202020204" pitchFamily="34" charset="0"/>
              <a:buChar char="-"/>
            </a:pPr>
            <a:endParaRPr lang="fr-FR" sz="1800" dirty="0">
              <a:effectLst/>
              <a:latin typeface="Aptos" panose="020B0004020202020204" pitchFamily="34" charset="0"/>
              <a:ea typeface="Aptos" panose="020B0004020202020204" pitchFamily="34" charset="0"/>
              <a:cs typeface="Times New Roman" panose="02020603050405020304" pitchFamily="18" charset="0"/>
            </a:endParaRPr>
          </a:p>
          <a:p>
            <a:pPr marL="342900" lvl="0" indent="-342900">
              <a:buFont typeface="Aptos" panose="020B0004020202020204" pitchFamily="34" charset="0"/>
              <a:buChar char="-"/>
            </a:pPr>
            <a:r>
              <a:rPr lang="fr-FR" sz="1800" dirty="0">
                <a:effectLst/>
                <a:latin typeface="Aptos" panose="020B0004020202020204" pitchFamily="34" charset="0"/>
                <a:ea typeface="Times New Roman" panose="02020603050405020304" pitchFamily="18" charset="0"/>
                <a:cs typeface="Times New Roman" panose="02020603050405020304" pitchFamily="18" charset="0"/>
              </a:rPr>
              <a:t>Assemblages in mixed stands combine </a:t>
            </a:r>
            <a:r>
              <a:rPr lang="fr-FR" dirty="0" err="1">
                <a:latin typeface="Aptos" panose="020B0004020202020204" pitchFamily="34" charset="0"/>
                <a:ea typeface="Times New Roman" panose="02020603050405020304" pitchFamily="18" charset="0"/>
                <a:cs typeface="Times New Roman" panose="02020603050405020304" pitchFamily="18" charset="0"/>
              </a:rPr>
              <a:t>tree-generalist</a:t>
            </a:r>
            <a:r>
              <a:rPr lang="fr-FR" dirty="0">
                <a:latin typeface="Aptos" panose="020B0004020202020204" pitchFamily="34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fr-FR" dirty="0" err="1">
                <a:latin typeface="Aptos" panose="020B0004020202020204" pitchFamily="34" charset="0"/>
                <a:ea typeface="Times New Roman" panose="02020603050405020304" pitchFamily="18" charset="0"/>
                <a:cs typeface="Times New Roman" panose="02020603050405020304" pitchFamily="18" charset="0"/>
              </a:rPr>
              <a:t>species</a:t>
            </a:r>
            <a:r>
              <a:rPr lang="fr-FR" dirty="0">
                <a:latin typeface="Aptos" panose="020B0004020202020204" pitchFamily="34" charset="0"/>
                <a:ea typeface="Times New Roman" panose="02020603050405020304" pitchFamily="18" charset="0"/>
                <a:cs typeface="Times New Roman" panose="02020603050405020304" pitchFamily="18" charset="0"/>
              </a:rPr>
              <a:t> and </a:t>
            </a:r>
            <a:r>
              <a:rPr lang="fr-FR" dirty="0" err="1">
                <a:latin typeface="Aptos" panose="020B0004020202020204" pitchFamily="34" charset="0"/>
                <a:ea typeface="Times New Roman" panose="02020603050405020304" pitchFamily="18" charset="0"/>
                <a:cs typeface="Times New Roman" panose="02020603050405020304" pitchFamily="18" charset="0"/>
              </a:rPr>
              <a:t>only</a:t>
            </a:r>
            <a:r>
              <a:rPr lang="fr-FR" dirty="0">
                <a:latin typeface="Aptos" panose="020B0004020202020204" pitchFamily="34" charset="0"/>
                <a:ea typeface="Times New Roman" panose="02020603050405020304" pitchFamily="18" charset="0"/>
                <a:cs typeface="Times New Roman" panose="02020603050405020304" pitchFamily="18" charset="0"/>
              </a:rPr>
              <a:t> a </a:t>
            </a:r>
            <a:r>
              <a:rPr lang="fr-FR" dirty="0" err="1">
                <a:latin typeface="Aptos" panose="020B0004020202020204" pitchFamily="34" charset="0"/>
                <a:ea typeface="Times New Roman" panose="02020603050405020304" pitchFamily="18" charset="0"/>
                <a:cs typeface="Times New Roman" panose="02020603050405020304" pitchFamily="18" charset="0"/>
              </a:rPr>
              <a:t>subset</a:t>
            </a:r>
            <a:r>
              <a:rPr lang="fr-FR" dirty="0">
                <a:latin typeface="Aptos" panose="020B0004020202020204" pitchFamily="34" charset="0"/>
                <a:ea typeface="Times New Roman" panose="02020603050405020304" pitchFamily="18" charset="0"/>
                <a:cs typeface="Times New Roman" panose="02020603050405020304" pitchFamily="18" charset="0"/>
              </a:rPr>
              <a:t> of </a:t>
            </a:r>
            <a:r>
              <a:rPr lang="fr-FR" sz="1800" dirty="0" err="1">
                <a:effectLst/>
                <a:latin typeface="Aptos" panose="020B0004020202020204" pitchFamily="34" charset="0"/>
                <a:ea typeface="Times New Roman" panose="02020603050405020304" pitchFamily="18" charset="0"/>
                <a:cs typeface="Times New Roman" panose="02020603050405020304" pitchFamily="18" charset="0"/>
              </a:rPr>
              <a:t>tree</a:t>
            </a:r>
            <a:r>
              <a:rPr lang="fr-FR" dirty="0" err="1">
                <a:latin typeface="Aptos" panose="020B0004020202020204" pitchFamily="34" charset="0"/>
                <a:ea typeface="Times New Roman" panose="02020603050405020304" pitchFamily="18" charset="0"/>
                <a:cs typeface="Times New Roman" panose="02020603050405020304" pitchFamily="18" charset="0"/>
              </a:rPr>
              <a:t>-dependent</a:t>
            </a:r>
            <a:r>
              <a:rPr lang="fr-FR" dirty="0">
                <a:latin typeface="Aptos" panose="020B0004020202020204" pitchFamily="34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fr-FR" dirty="0" err="1">
                <a:latin typeface="Aptos" panose="020B0004020202020204" pitchFamily="34" charset="0"/>
                <a:ea typeface="Times New Roman" panose="02020603050405020304" pitchFamily="18" charset="0"/>
                <a:cs typeface="Times New Roman" panose="02020603050405020304" pitchFamily="18" charset="0"/>
              </a:rPr>
              <a:t>species</a:t>
            </a:r>
            <a:r>
              <a:rPr lang="fr-FR" dirty="0">
                <a:latin typeface="Aptos" panose="020B0004020202020204" pitchFamily="34" charset="0"/>
                <a:ea typeface="Times New Roman" panose="02020603050405020304" pitchFamily="18" charset="0"/>
                <a:cs typeface="Times New Roman" panose="02020603050405020304" pitchFamily="18" charset="0"/>
              </a:rPr>
              <a:t>, </a:t>
            </a:r>
            <a:r>
              <a:rPr lang="fr-FR" dirty="0" err="1">
                <a:latin typeface="Aptos" panose="020B0004020202020204" pitchFamily="34" charset="0"/>
                <a:ea typeface="Times New Roman" panose="02020603050405020304" pitchFamily="18" charset="0"/>
                <a:cs typeface="Times New Roman" panose="02020603050405020304" pitchFamily="18" charset="0"/>
              </a:rPr>
              <a:t>with</a:t>
            </a:r>
            <a:r>
              <a:rPr lang="fr-FR" dirty="0">
                <a:latin typeface="Aptos" panose="020B0004020202020204" pitchFamily="34" charset="0"/>
                <a:ea typeface="Times New Roman" panose="02020603050405020304" pitchFamily="18" charset="0"/>
                <a:cs typeface="Times New Roman" panose="02020603050405020304" pitchFamily="18" charset="0"/>
              </a:rPr>
              <a:t> few or none </a:t>
            </a:r>
            <a:r>
              <a:rPr lang="fr-FR" dirty="0" err="1">
                <a:latin typeface="Aptos" panose="020B0004020202020204" pitchFamily="34" charset="0"/>
                <a:ea typeface="Times New Roman" panose="02020603050405020304" pitchFamily="18" charset="0"/>
                <a:cs typeface="Times New Roman" panose="02020603050405020304" pitchFamily="18" charset="0"/>
              </a:rPr>
              <a:t>species</a:t>
            </a:r>
            <a:r>
              <a:rPr lang="fr-FR" dirty="0">
                <a:latin typeface="Aptos" panose="020B0004020202020204" pitchFamily="34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fr-FR" dirty="0" err="1">
                <a:latin typeface="Aptos" panose="020B0004020202020204" pitchFamily="34" charset="0"/>
                <a:ea typeface="Times New Roman" panose="02020603050405020304" pitchFamily="18" charset="0"/>
                <a:cs typeface="Times New Roman" panose="02020603050405020304" pitchFamily="18" charset="0"/>
              </a:rPr>
              <a:t>favoured</a:t>
            </a:r>
            <a:r>
              <a:rPr lang="fr-FR" dirty="0">
                <a:latin typeface="Aptos" panose="020B0004020202020204" pitchFamily="34" charset="0"/>
                <a:ea typeface="Times New Roman" panose="02020603050405020304" pitchFamily="18" charset="0"/>
                <a:cs typeface="Times New Roman" panose="02020603050405020304" pitchFamily="18" charset="0"/>
              </a:rPr>
              <a:t> by the </a:t>
            </a:r>
            <a:r>
              <a:rPr lang="fr-FR" dirty="0" err="1">
                <a:latin typeface="Aptos" panose="020B0004020202020204" pitchFamily="34" charset="0"/>
                <a:ea typeface="Times New Roman" panose="02020603050405020304" pitchFamily="18" charset="0"/>
                <a:cs typeface="Times New Roman" panose="02020603050405020304" pitchFamily="18" charset="0"/>
              </a:rPr>
              <a:t>mixing</a:t>
            </a:r>
            <a:r>
              <a:rPr lang="fr-FR" dirty="0">
                <a:latin typeface="Aptos" panose="020B0004020202020204" pitchFamily="34" charset="0"/>
                <a:ea typeface="Times New Roman" panose="02020603050405020304" pitchFamily="18" charset="0"/>
                <a:cs typeface="Times New Roman" panose="02020603050405020304" pitchFamily="18" charset="0"/>
              </a:rPr>
              <a:t> (</a:t>
            </a:r>
            <a:r>
              <a:rPr lang="fr-FR" dirty="0" err="1">
                <a:latin typeface="Aptos" panose="020B0004020202020204" pitchFamily="34" charset="0"/>
                <a:ea typeface="Times New Roman" panose="02020603050405020304" pitchFamily="18" charset="0"/>
                <a:cs typeface="Times New Roman" panose="02020603050405020304" pitchFamily="18" charset="0"/>
              </a:rPr>
              <a:t>leading</a:t>
            </a:r>
            <a:r>
              <a:rPr lang="fr-FR" dirty="0">
                <a:latin typeface="Aptos" panose="020B0004020202020204" pitchFamily="34" charset="0"/>
                <a:ea typeface="Times New Roman" panose="02020603050405020304" pitchFamily="18" charset="0"/>
                <a:cs typeface="Times New Roman" panose="02020603050405020304" pitchFamily="18" charset="0"/>
              </a:rPr>
              <a:t> to </a:t>
            </a:r>
            <a:r>
              <a:rPr lang="fr-FR" dirty="0" err="1">
                <a:latin typeface="Aptos" panose="020B0004020202020204" pitchFamily="34" charset="0"/>
                <a:ea typeface="Times New Roman" panose="02020603050405020304" pitchFamily="18" charset="0"/>
                <a:cs typeface="Times New Roman" panose="02020603050405020304" pitchFamily="18" charset="0"/>
              </a:rPr>
              <a:t>linear</a:t>
            </a:r>
            <a:r>
              <a:rPr lang="fr-FR" dirty="0">
                <a:latin typeface="Aptos" panose="020B0004020202020204" pitchFamily="34" charset="0"/>
                <a:ea typeface="Times New Roman" panose="02020603050405020304" pitchFamily="18" charset="0"/>
                <a:cs typeface="Times New Roman" panose="02020603050405020304" pitchFamily="18" charset="0"/>
              </a:rPr>
              <a:t> or </a:t>
            </a:r>
            <a:r>
              <a:rPr lang="fr-FR" dirty="0" err="1">
                <a:latin typeface="Aptos" panose="020B0004020202020204" pitchFamily="34" charset="0"/>
                <a:ea typeface="Times New Roman" panose="02020603050405020304" pitchFamily="18" charset="0"/>
                <a:cs typeface="Times New Roman" panose="02020603050405020304" pitchFamily="18" charset="0"/>
              </a:rPr>
              <a:t>hump-shaped</a:t>
            </a:r>
            <a:r>
              <a:rPr lang="fr-FR" dirty="0">
                <a:latin typeface="Aptos" panose="020B0004020202020204" pitchFamily="34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fr-FR" dirty="0" err="1">
                <a:latin typeface="Aptos" panose="020B0004020202020204" pitchFamily="34" charset="0"/>
                <a:ea typeface="Times New Roman" panose="02020603050405020304" pitchFamily="18" charset="0"/>
                <a:cs typeface="Times New Roman" panose="02020603050405020304" pitchFamily="18" charset="0"/>
              </a:rPr>
              <a:t>relationships</a:t>
            </a:r>
            <a:r>
              <a:rPr lang="fr-FR" dirty="0">
                <a:latin typeface="Aptos" panose="020B0004020202020204" pitchFamily="34" charset="0"/>
                <a:ea typeface="Times New Roman" panose="02020603050405020304" pitchFamily="18" charset="0"/>
                <a:cs typeface="Times New Roman" panose="02020603050405020304" pitchFamily="18" charset="0"/>
              </a:rPr>
              <a:t>)</a:t>
            </a:r>
            <a:endParaRPr lang="fr-FR" sz="1800" dirty="0">
              <a:effectLst/>
              <a:latin typeface="Aptos" panose="020B0004020202020204" pitchFamily="34" charset="0"/>
              <a:ea typeface="Aptos" panose="020B0004020202020204" pitchFamily="34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528401525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66" name="Google Shape;166;g28808c7f580_2_1"/>
          <p:cNvPicPr preferRelativeResize="0">
            <a:picLocks noGrp="1"/>
          </p:cNvPicPr>
          <p:nvPr>
            <p:ph type="body" idx="1"/>
          </p:nvPr>
        </p:nvPicPr>
        <p:blipFill rotWithShape="1">
          <a:blip r:embed="rId3">
            <a:alphaModFix/>
          </a:blip>
          <a:srcRect l="47673" r="30985"/>
          <a:stretch/>
        </p:blipFill>
        <p:spPr>
          <a:xfrm>
            <a:off x="-68094" y="0"/>
            <a:ext cx="2193000" cy="6858000"/>
          </a:xfrm>
          <a:prstGeom prst="rect">
            <a:avLst/>
          </a:prstGeom>
          <a:noFill/>
          <a:ln>
            <a:noFill/>
          </a:ln>
        </p:spPr>
      </p:pic>
      <p:sp>
        <p:nvSpPr>
          <p:cNvPr id="167" name="Google Shape;167;g28808c7f580_2_1"/>
          <p:cNvSpPr txBox="1"/>
          <p:nvPr/>
        </p:nvSpPr>
        <p:spPr>
          <a:xfrm>
            <a:off x="2098244" y="35130"/>
            <a:ext cx="10067100" cy="769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fr-FR" sz="4400" b="1" dirty="0">
                <a:solidFill>
                  <a:srgbClr val="1F9032"/>
                </a:solidFill>
                <a:latin typeface="Poppins"/>
                <a:ea typeface="Poppins"/>
                <a:cs typeface="Poppins"/>
                <a:sym typeface="Poppins"/>
              </a:rPr>
              <a:t>Conclusion</a:t>
            </a:r>
            <a:endParaRPr b="1" dirty="0"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171" name="Google Shape;171;g28808c7f580_2_1"/>
          <p:cNvSpPr txBox="1">
            <a:spLocks noGrp="1"/>
          </p:cNvSpPr>
          <p:nvPr>
            <p:ph type="sldNum" idx="12"/>
          </p:nvPr>
        </p:nvSpPr>
        <p:spPr>
          <a:xfrm>
            <a:off x="10780776" y="6356350"/>
            <a:ext cx="573000" cy="36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</a:pPr>
            <a:fld id="{00000000-1234-1234-1234-123412341234}" type="slidenum">
              <a:rPr lang="fr-FR"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rPr>
              <a:t>19</a:t>
            </a:fld>
            <a:endParaRPr sz="1200" b="0" i="0" u="none" strike="noStrike" cap="none">
              <a:solidFill>
                <a:srgbClr val="888888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" name="Google Shape;173;g28808c7f580_2_1">
            <a:extLst>
              <a:ext uri="{FF2B5EF4-FFF2-40B4-BE49-F238E27FC236}">
                <a16:creationId xmlns:a16="http://schemas.microsoft.com/office/drawing/2014/main" id="{F35F613E-0CD8-B5A8-A692-DF898BF37E85}"/>
              </a:ext>
            </a:extLst>
          </p:cNvPr>
          <p:cNvSpPr txBox="1"/>
          <p:nvPr/>
        </p:nvSpPr>
        <p:spPr>
          <a:xfrm>
            <a:off x="2477011" y="1110629"/>
            <a:ext cx="9141248" cy="83096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lvl="0"/>
            <a:r>
              <a:rPr lang="en-US" sz="2100" dirty="0">
                <a:latin typeface="Poppins"/>
                <a:ea typeface="Poppins"/>
                <a:cs typeface="Poppins"/>
                <a:sym typeface="Poppins"/>
              </a:rPr>
              <a:t>Main question</a:t>
            </a:r>
          </a:p>
          <a:p>
            <a:pPr lvl="0"/>
            <a:r>
              <a:rPr lang="en-US" sz="2100" dirty="0">
                <a:effectLst/>
                <a:latin typeface="Poppins"/>
                <a:ea typeface="Aptos" panose="020B0004020202020204" pitchFamily="34" charset="0"/>
                <a:cs typeface="Poppins"/>
                <a:sym typeface="Poppins"/>
              </a:rPr>
              <a:t>…</a:t>
            </a:r>
            <a:endParaRPr lang="fr-FR" sz="1800" dirty="0">
              <a:effectLst/>
              <a:latin typeface="Aptos" panose="020B0004020202020204" pitchFamily="34" charset="0"/>
              <a:ea typeface="Aptos" panose="020B0004020202020204" pitchFamily="34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866372378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Image 4">
            <a:extLst>
              <a:ext uri="{FF2B5EF4-FFF2-40B4-BE49-F238E27FC236}">
                <a16:creationId xmlns:a16="http://schemas.microsoft.com/office/drawing/2014/main" id="{B138A5ED-F0E6-0041-9117-F39DD2CD736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6" name="Rectangle 5">
            <a:extLst>
              <a:ext uri="{FF2B5EF4-FFF2-40B4-BE49-F238E27FC236}">
                <a16:creationId xmlns:a16="http://schemas.microsoft.com/office/drawing/2014/main" id="{D6A2F171-794B-B345-B610-6BE121D9ABB9}"/>
              </a:ext>
            </a:extLst>
          </p:cNvPr>
          <p:cNvSpPr/>
          <p:nvPr/>
        </p:nvSpPr>
        <p:spPr>
          <a:xfrm>
            <a:off x="0" y="1838130"/>
            <a:ext cx="12192000" cy="3181739"/>
          </a:xfrm>
          <a:prstGeom prst="rect">
            <a:avLst/>
          </a:prstGeom>
          <a:solidFill>
            <a:srgbClr val="004537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dirty="0"/>
          </a:p>
        </p:txBody>
      </p:sp>
      <p:sp>
        <p:nvSpPr>
          <p:cNvPr id="11" name="ZoneTexte 10">
            <a:extLst>
              <a:ext uri="{FF2B5EF4-FFF2-40B4-BE49-F238E27FC236}">
                <a16:creationId xmlns:a16="http://schemas.microsoft.com/office/drawing/2014/main" id="{679587FE-B0C4-DF4D-ACDA-99ED1763A293}"/>
              </a:ext>
            </a:extLst>
          </p:cNvPr>
          <p:cNvSpPr txBox="1"/>
          <p:nvPr/>
        </p:nvSpPr>
        <p:spPr>
          <a:xfrm>
            <a:off x="3928993" y="2796567"/>
            <a:ext cx="5374433" cy="830997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r>
              <a:rPr lang="fr-FR" sz="4800" b="1" dirty="0" err="1">
                <a:solidFill>
                  <a:schemeClr val="bg1"/>
                </a:solidFill>
                <a:latin typeface="Poppins" panose="00000500000000000000" pitchFamily="2" charset="0"/>
                <a:cs typeface="Poppins" panose="00000500000000000000" pitchFamily="2" charset="0"/>
              </a:rPr>
              <a:t>Thank</a:t>
            </a:r>
            <a:r>
              <a:rPr lang="fr-FR" sz="4800" b="1" dirty="0">
                <a:solidFill>
                  <a:schemeClr val="bg1"/>
                </a:solidFill>
                <a:latin typeface="Poppins" panose="00000500000000000000" pitchFamily="2" charset="0"/>
                <a:cs typeface="Poppins" panose="00000500000000000000" pitchFamily="2" charset="0"/>
              </a:rPr>
              <a:t> </a:t>
            </a:r>
            <a:r>
              <a:rPr lang="fr-FR" sz="4800" b="1" dirty="0" err="1">
                <a:solidFill>
                  <a:schemeClr val="bg1"/>
                </a:solidFill>
                <a:latin typeface="Poppins" panose="00000500000000000000" pitchFamily="2" charset="0"/>
                <a:cs typeface="Poppins" panose="00000500000000000000" pitchFamily="2" charset="0"/>
              </a:rPr>
              <a:t>you</a:t>
            </a:r>
            <a:endParaRPr lang="fr-FR" sz="4800" b="1" dirty="0">
              <a:solidFill>
                <a:schemeClr val="bg1"/>
              </a:solidFill>
              <a:latin typeface="Poppins" panose="00000500000000000000" pitchFamily="2" charset="0"/>
              <a:cs typeface="Poppins" panose="00000500000000000000" pitchFamily="2" charset="0"/>
            </a:endParaRPr>
          </a:p>
        </p:txBody>
      </p:sp>
      <p:pic>
        <p:nvPicPr>
          <p:cNvPr id="9" name="Image 8" descr="Une image contenant Police, Graphique, logo, symbole&#10;&#10;Description générée automatiquement">
            <a:extLst>
              <a:ext uri="{FF2B5EF4-FFF2-40B4-BE49-F238E27FC236}">
                <a16:creationId xmlns:a16="http://schemas.microsoft.com/office/drawing/2014/main" id="{AEC6BD76-1F88-6E41-8BF0-C6601F191290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104390" y="5832268"/>
            <a:ext cx="1715310" cy="45294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28948928"/>
      </p:ext>
    </p:extLst>
  </p:cSld>
  <p:clrMapOvr>
    <a:masterClrMapping/>
  </p:clrMapOvr>
</p:sld>
</file>

<file path=ppt/theme/theme1.xml><?xml version="1.0" encoding="utf-8"?>
<a:theme xmlns:a="http://schemas.openxmlformats.org/drawingml/2006/main" name="Thème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Thème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1535</TotalTime>
  <Words>1459</Words>
  <Application>Microsoft Office PowerPoint</Application>
  <PresentationFormat>Grand écran</PresentationFormat>
  <Paragraphs>201</Paragraphs>
  <Slides>20</Slides>
  <Notes>18</Notes>
  <HiddenSlides>0</HiddenSlides>
  <MMClips>0</MMClips>
  <ScaleCrop>false</ScaleCrop>
  <HeadingPairs>
    <vt:vector size="6" baseType="variant">
      <vt:variant>
        <vt:lpstr>Polices utilisées</vt:lpstr>
      </vt:variant>
      <vt:variant>
        <vt:i4>7</vt:i4>
      </vt:variant>
      <vt:variant>
        <vt:lpstr>Thème</vt:lpstr>
      </vt:variant>
      <vt:variant>
        <vt:i4>1</vt:i4>
      </vt:variant>
      <vt:variant>
        <vt:lpstr>Titres des diapositives</vt:lpstr>
      </vt:variant>
      <vt:variant>
        <vt:i4>20</vt:i4>
      </vt:variant>
    </vt:vector>
  </HeadingPairs>
  <TitlesOfParts>
    <vt:vector size="28" baseType="lpstr">
      <vt:lpstr>Aptos</vt:lpstr>
      <vt:lpstr>Aptos Narrow</vt:lpstr>
      <vt:lpstr>Arial</vt:lpstr>
      <vt:lpstr>Calibri</vt:lpstr>
      <vt:lpstr>Calibri Light</vt:lpstr>
      <vt:lpstr>Poppins</vt:lpstr>
      <vt:lpstr>Wingdings</vt:lpstr>
      <vt:lpstr>Thème Office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</vt:vector>
  </TitlesOfParts>
  <Company>IRSTEA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Présentation PowerPoint</dc:title>
  <dc:creator>Hélène LE BORGNE</dc:creator>
  <cp:lastModifiedBy>frederic.archaux</cp:lastModifiedBy>
  <cp:revision>68</cp:revision>
  <dcterms:created xsi:type="dcterms:W3CDTF">2023-09-26T08:53:35Z</dcterms:created>
  <dcterms:modified xsi:type="dcterms:W3CDTF">2026-05-07T17:59:42Z</dcterms:modified>
</cp:coreProperties>
</file>