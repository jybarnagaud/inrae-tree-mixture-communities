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66" r:id="rId2"/>
    <p:sldId id="298" r:id="rId3"/>
    <p:sldId id="314" r:id="rId4"/>
    <p:sldId id="315" r:id="rId5"/>
    <p:sldId id="317" r:id="rId6"/>
    <p:sldId id="316" r:id="rId7"/>
    <p:sldId id="318" r:id="rId8"/>
    <p:sldId id="321" r:id="rId9"/>
    <p:sldId id="322" r:id="rId10"/>
    <p:sldId id="330" r:id="rId11"/>
    <p:sldId id="324" r:id="rId12"/>
    <p:sldId id="331" r:id="rId13"/>
    <p:sldId id="332" r:id="rId14"/>
    <p:sldId id="320" r:id="rId15"/>
    <p:sldId id="325" r:id="rId16"/>
    <p:sldId id="326" r:id="rId17"/>
    <p:sldId id="333" r:id="rId18"/>
    <p:sldId id="327" r:id="rId19"/>
    <p:sldId id="334" r:id="rId20"/>
    <p:sldId id="313" r:id="rId21"/>
    <p:sldId id="319" r:id="rId22"/>
    <p:sldId id="323" r:id="rId23"/>
    <p:sldId id="329" r:id="rId24"/>
    <p:sldId id="328" r:id="rId25"/>
    <p:sldId id="294" r:id="rId2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1317"/>
    <a:srgbClr val="188963"/>
    <a:srgbClr val="6CB546"/>
    <a:srgbClr val="F4C74E"/>
    <a:srgbClr val="C20102"/>
    <a:srgbClr val="D7AA14"/>
    <a:srgbClr val="009196"/>
    <a:srgbClr val="008C48"/>
    <a:srgbClr val="0045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6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514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9D11E9-6D16-41A5-968F-A88F80B11349}" type="datetimeFigureOut">
              <a:rPr lang="fr-FR" smtClean="0"/>
              <a:t>11/05/2026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F05A88-E4CC-4534-B79C-E3319D0E81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519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8808c7f580_2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g28808c7f580_2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22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28808c7f580_2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2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8808c7f580_2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g28808c7f580_2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22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28808c7f580_2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00918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8808c7f580_2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g28808c7f580_2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22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28808c7f580_2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480691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8808c7f580_2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g28808c7f580_2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22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28808c7f580_2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437009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Carte 2020 V3 masque OSO : donc tous peuplements feuillus représenté</a:t>
            </a:r>
          </a:p>
          <a:p>
            <a:r>
              <a:rPr lang="fr-FR" sz="1900" dirty="0">
                <a:latin typeface="Arial" panose="020B0604020202020204" pitchFamily="34" charset="0"/>
                <a:ea typeface="Arial" panose="020B0604020202020204" pitchFamily="34" charset="0"/>
              </a:rPr>
              <a:t>Evolution de l’état sanitaire des chênaies de 2017 à 2022 (a) sur notre zone d’étude et (b) par département (avec utilisation du masque BD Forêt® version 2).</a:t>
            </a:r>
            <a:endParaRPr lang="fr-FR" dirty="0"/>
          </a:p>
          <a:p>
            <a:r>
              <a:rPr lang="fr-FR" dirty="0"/>
              <a:t>Autres plateformes : Foret Bouge, </a:t>
            </a:r>
            <a:r>
              <a:rPr lang="fr-FR" dirty="0" err="1"/>
              <a:t>géoportail</a:t>
            </a:r>
            <a:r>
              <a:rPr lang="fr-FR" dirty="0"/>
              <a:t>, SI …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4F93B8-F018-4800-8025-4613B8FEEE34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61329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Carte 2020 V3 masque OSO : donc tous peuplements feuillus représenté</a:t>
            </a:r>
          </a:p>
          <a:p>
            <a:r>
              <a:rPr lang="fr-FR" sz="1900" dirty="0">
                <a:latin typeface="Arial" panose="020B0604020202020204" pitchFamily="34" charset="0"/>
                <a:ea typeface="Arial" panose="020B0604020202020204" pitchFamily="34" charset="0"/>
              </a:rPr>
              <a:t>Evolution de l’état sanitaire des chênaies de 2017 à 2022 (a) sur notre zone d’étude et (b) par département (avec utilisation du masque BD Forêt® version 2).</a:t>
            </a:r>
            <a:endParaRPr lang="fr-FR" dirty="0"/>
          </a:p>
          <a:p>
            <a:r>
              <a:rPr lang="fr-FR" dirty="0"/>
              <a:t>Autres plateformes : Foret Bouge, </a:t>
            </a:r>
            <a:r>
              <a:rPr lang="fr-FR" dirty="0" err="1"/>
              <a:t>géoportail</a:t>
            </a:r>
            <a:r>
              <a:rPr lang="fr-FR" dirty="0"/>
              <a:t>, SI …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4F93B8-F018-4800-8025-4613B8FEEE34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39440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Carte 2020 V3 masque OSO : donc tous peuplements feuillus représenté</a:t>
            </a:r>
          </a:p>
          <a:p>
            <a:r>
              <a:rPr lang="fr-FR" sz="1900" dirty="0">
                <a:latin typeface="Arial" panose="020B0604020202020204" pitchFamily="34" charset="0"/>
                <a:ea typeface="Arial" panose="020B0604020202020204" pitchFamily="34" charset="0"/>
              </a:rPr>
              <a:t>Evolution de l’état sanitaire des chênaies de 2017 à 2022 (a) sur notre zone d’étude et (b) par département (avec utilisation du masque BD Forêt® version 2).</a:t>
            </a:r>
            <a:endParaRPr lang="fr-FR" dirty="0"/>
          </a:p>
          <a:p>
            <a:r>
              <a:rPr lang="fr-FR" dirty="0"/>
              <a:t>Autres plateformes : Foret Bouge, </a:t>
            </a:r>
            <a:r>
              <a:rPr lang="fr-FR" dirty="0" err="1"/>
              <a:t>géoportail</a:t>
            </a:r>
            <a:r>
              <a:rPr lang="fr-FR" dirty="0"/>
              <a:t>, SI …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4F93B8-F018-4800-8025-4613B8FEEE34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4317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Carte 2020 V3 masque OSO : donc tous peuplements feuillus représenté</a:t>
            </a:r>
          </a:p>
          <a:p>
            <a:r>
              <a:rPr lang="fr-FR" sz="1900" dirty="0">
                <a:latin typeface="Arial" panose="020B0604020202020204" pitchFamily="34" charset="0"/>
                <a:ea typeface="Arial" panose="020B0604020202020204" pitchFamily="34" charset="0"/>
              </a:rPr>
              <a:t>Evolution de l’état sanitaire des chênaies de 2017 à 2022 (a) sur notre zone d’étude et (b) par département (avec utilisation du masque BD Forêt® version 2).</a:t>
            </a:r>
            <a:endParaRPr lang="fr-FR" dirty="0"/>
          </a:p>
          <a:p>
            <a:r>
              <a:rPr lang="fr-FR" dirty="0"/>
              <a:t>Autres plateformes : Foret Bouge, </a:t>
            </a:r>
            <a:r>
              <a:rPr lang="fr-FR" dirty="0" err="1"/>
              <a:t>géoportail</a:t>
            </a:r>
            <a:r>
              <a:rPr lang="fr-FR" dirty="0"/>
              <a:t>, SI …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4F93B8-F018-4800-8025-4613B8FEEE34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82717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Carte 2020 V3 masque OSO : donc tous peuplements feuillus représenté</a:t>
            </a:r>
          </a:p>
          <a:p>
            <a:r>
              <a:rPr lang="fr-FR" sz="1900" dirty="0">
                <a:latin typeface="Arial" panose="020B0604020202020204" pitchFamily="34" charset="0"/>
                <a:ea typeface="Arial" panose="020B0604020202020204" pitchFamily="34" charset="0"/>
              </a:rPr>
              <a:t>Evolution de l’état sanitaire des chênaies de 2017 à 2022 (a) sur notre zone d’étude et (b) par département (avec utilisation du masque BD Forêt® version 2).</a:t>
            </a:r>
            <a:endParaRPr lang="fr-FR" dirty="0"/>
          </a:p>
          <a:p>
            <a:r>
              <a:rPr lang="fr-FR" dirty="0"/>
              <a:t>Autres plateformes : Foret Bouge, </a:t>
            </a:r>
            <a:r>
              <a:rPr lang="fr-FR" dirty="0" err="1"/>
              <a:t>géoportail</a:t>
            </a:r>
            <a:r>
              <a:rPr lang="fr-FR" dirty="0"/>
              <a:t>, SI …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4F93B8-F018-4800-8025-4613B8FEEE34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93349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Carte 2020 V3 masque OSO : donc tous peuplements feuillus représenté</a:t>
            </a:r>
          </a:p>
          <a:p>
            <a:r>
              <a:rPr lang="fr-FR" sz="1900" dirty="0">
                <a:latin typeface="Arial" panose="020B0604020202020204" pitchFamily="34" charset="0"/>
                <a:ea typeface="Arial" panose="020B0604020202020204" pitchFamily="34" charset="0"/>
              </a:rPr>
              <a:t>Evolution de l’état sanitaire des chênaies de 2017 à 2022 (a) sur notre zone d’étude et (b) par département (avec utilisation du masque BD Forêt® version 2).</a:t>
            </a:r>
            <a:endParaRPr lang="fr-FR" dirty="0"/>
          </a:p>
          <a:p>
            <a:r>
              <a:rPr lang="fr-FR" dirty="0"/>
              <a:t>Autres plateformes : Foret Bouge, </a:t>
            </a:r>
            <a:r>
              <a:rPr lang="fr-FR" dirty="0" err="1"/>
              <a:t>géoportail</a:t>
            </a:r>
            <a:r>
              <a:rPr lang="fr-FR" dirty="0"/>
              <a:t>, SI …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4F93B8-F018-4800-8025-4613B8FEEE34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94320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Carte 2020 V3 masque OSO : donc tous peuplements feuillus représenté</a:t>
            </a:r>
          </a:p>
          <a:p>
            <a:r>
              <a:rPr lang="fr-FR" sz="1900" dirty="0">
                <a:latin typeface="Arial" panose="020B0604020202020204" pitchFamily="34" charset="0"/>
                <a:ea typeface="Arial" panose="020B0604020202020204" pitchFamily="34" charset="0"/>
              </a:rPr>
              <a:t>Evolution de l’état sanitaire des chênaies de 2017 à 2022 (a) sur notre zone d’étude et (b) par département (avec utilisation du masque BD Forêt® version 2).</a:t>
            </a:r>
            <a:endParaRPr lang="fr-FR" dirty="0"/>
          </a:p>
          <a:p>
            <a:r>
              <a:rPr lang="fr-FR" dirty="0"/>
              <a:t>Autres plateformes : Foret Bouge, </a:t>
            </a:r>
            <a:r>
              <a:rPr lang="fr-FR" dirty="0" err="1"/>
              <a:t>géoportail</a:t>
            </a:r>
            <a:r>
              <a:rPr lang="fr-FR" dirty="0"/>
              <a:t>, SI …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4F93B8-F018-4800-8025-4613B8FEEE34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84396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Carte 2020 V3 masque OSO : donc tous peuplements feuillus représenté</a:t>
            </a:r>
          </a:p>
          <a:p>
            <a:r>
              <a:rPr lang="fr-FR" sz="1900" dirty="0">
                <a:latin typeface="Arial" panose="020B0604020202020204" pitchFamily="34" charset="0"/>
                <a:ea typeface="Arial" panose="020B0604020202020204" pitchFamily="34" charset="0"/>
              </a:rPr>
              <a:t>Evolution de l’état sanitaire des chênaies de 2017 à 2022 (a) sur notre zone d’étude et (b) par département (avec utilisation du masque BD Forêt® version 2).</a:t>
            </a:r>
            <a:endParaRPr lang="fr-FR" dirty="0"/>
          </a:p>
          <a:p>
            <a:r>
              <a:rPr lang="fr-FR" dirty="0"/>
              <a:t>Autres plateformes : Foret Bouge, </a:t>
            </a:r>
            <a:r>
              <a:rPr lang="fr-FR" dirty="0" err="1"/>
              <a:t>géoportail</a:t>
            </a:r>
            <a:r>
              <a:rPr lang="fr-FR" dirty="0"/>
              <a:t>, SI …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4F93B8-F018-4800-8025-4613B8FEEE34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61355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Carte 2020 V3 masque OSO : donc tous peuplements feuillus représenté</a:t>
            </a:r>
          </a:p>
          <a:p>
            <a:r>
              <a:rPr lang="fr-FR" sz="1900" dirty="0">
                <a:latin typeface="Arial" panose="020B0604020202020204" pitchFamily="34" charset="0"/>
                <a:ea typeface="Arial" panose="020B0604020202020204" pitchFamily="34" charset="0"/>
              </a:rPr>
              <a:t>Evolution de l’état sanitaire des chênaies de 2017 à 2022 (a) sur notre zone d’étude et (b) par département (avec utilisation du masque BD Forêt® version 2).</a:t>
            </a:r>
            <a:endParaRPr lang="fr-FR" dirty="0"/>
          </a:p>
          <a:p>
            <a:r>
              <a:rPr lang="fr-FR" dirty="0"/>
              <a:t>Autres plateformes : Foret Bouge, </a:t>
            </a:r>
            <a:r>
              <a:rPr lang="fr-FR" dirty="0" err="1"/>
              <a:t>géoportail</a:t>
            </a:r>
            <a:r>
              <a:rPr lang="fr-FR" dirty="0"/>
              <a:t>, SI …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4F93B8-F018-4800-8025-4613B8FEEE34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15150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Carte 2020 V3 masque OSO : donc tous peuplements feuillus représenté</a:t>
            </a:r>
          </a:p>
          <a:p>
            <a:r>
              <a:rPr lang="fr-FR" sz="1900" dirty="0">
                <a:latin typeface="Arial" panose="020B0604020202020204" pitchFamily="34" charset="0"/>
                <a:ea typeface="Arial" panose="020B0604020202020204" pitchFamily="34" charset="0"/>
              </a:rPr>
              <a:t>Evolution de l’état sanitaire des chênaies de 2017 à 2022 (a) sur notre zone d’étude et (b) par département (avec utilisation du masque BD Forêt® version 2).</a:t>
            </a:r>
            <a:endParaRPr lang="fr-FR" dirty="0"/>
          </a:p>
          <a:p>
            <a:r>
              <a:rPr lang="fr-FR" dirty="0"/>
              <a:t>Autres plateformes : Foret Bouge, </a:t>
            </a:r>
            <a:r>
              <a:rPr lang="fr-FR" dirty="0" err="1"/>
              <a:t>géoportail</a:t>
            </a:r>
            <a:r>
              <a:rPr lang="fr-FR" dirty="0"/>
              <a:t>, SI …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4F93B8-F018-4800-8025-4613B8FEEE34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49945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Carte 2020 V3 masque OSO : donc tous peuplements feuillus représenté</a:t>
            </a:r>
          </a:p>
          <a:p>
            <a:r>
              <a:rPr lang="fr-FR" sz="1900" dirty="0">
                <a:latin typeface="Arial" panose="020B0604020202020204" pitchFamily="34" charset="0"/>
                <a:ea typeface="Arial" panose="020B0604020202020204" pitchFamily="34" charset="0"/>
              </a:rPr>
              <a:t>Evolution de l’état sanitaire des chênaies de 2017 à 2022 (a) sur notre zone d’étude et (b) par département (avec utilisation du masque BD Forêt® version 2).</a:t>
            </a:r>
            <a:endParaRPr lang="fr-FR" dirty="0"/>
          </a:p>
          <a:p>
            <a:r>
              <a:rPr lang="fr-FR" dirty="0"/>
              <a:t>Autres plateformes : Foret Bouge, </a:t>
            </a:r>
            <a:r>
              <a:rPr lang="fr-FR" dirty="0" err="1"/>
              <a:t>géoportail</a:t>
            </a:r>
            <a:r>
              <a:rPr lang="fr-FR" dirty="0"/>
              <a:t>, SI …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4F93B8-F018-4800-8025-4613B8FEEE34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05244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Carte 2020 V3 masque OSO : donc tous peuplements feuillus représenté</a:t>
            </a:r>
          </a:p>
          <a:p>
            <a:r>
              <a:rPr lang="fr-FR" sz="1900" dirty="0">
                <a:latin typeface="Arial" panose="020B0604020202020204" pitchFamily="34" charset="0"/>
                <a:ea typeface="Arial" panose="020B0604020202020204" pitchFamily="34" charset="0"/>
              </a:rPr>
              <a:t>Evolution de l’état sanitaire des chênaies de 2017 à 2022 (a) sur notre zone d’étude et (b) par département (avec utilisation du masque BD Forêt® version 2).</a:t>
            </a:r>
            <a:endParaRPr lang="fr-FR" dirty="0"/>
          </a:p>
          <a:p>
            <a:r>
              <a:rPr lang="fr-FR" dirty="0"/>
              <a:t>Autres plateformes : Foret Bouge, </a:t>
            </a:r>
            <a:r>
              <a:rPr lang="fr-FR" dirty="0" err="1"/>
              <a:t>géoportail</a:t>
            </a:r>
            <a:r>
              <a:rPr lang="fr-FR" dirty="0"/>
              <a:t>, SI …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4F93B8-F018-4800-8025-4613B8FEEE34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63665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Carte 2020 V3 masque OSO : donc tous peuplements feuillus représenté</a:t>
            </a:r>
          </a:p>
          <a:p>
            <a:r>
              <a:rPr lang="fr-FR" sz="1900" dirty="0">
                <a:latin typeface="Arial" panose="020B0604020202020204" pitchFamily="34" charset="0"/>
                <a:ea typeface="Arial" panose="020B0604020202020204" pitchFamily="34" charset="0"/>
              </a:rPr>
              <a:t>Evolution de l’état sanitaire des chênaies de 2017 à 2022 (a) sur notre zone d’étude et (b) par département (avec utilisation du masque BD Forêt® version 2).</a:t>
            </a:r>
            <a:endParaRPr lang="fr-FR" dirty="0"/>
          </a:p>
          <a:p>
            <a:r>
              <a:rPr lang="fr-FR" dirty="0"/>
              <a:t>Autres plateformes : Foret Bouge, </a:t>
            </a:r>
            <a:r>
              <a:rPr lang="fr-FR" dirty="0" err="1"/>
              <a:t>géoportail</a:t>
            </a:r>
            <a:r>
              <a:rPr lang="fr-FR" dirty="0"/>
              <a:t>, SI …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4F93B8-F018-4800-8025-4613B8FEEE34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46868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Carte 2020 V3 masque OSO : donc tous peuplements feuillus représenté</a:t>
            </a:r>
          </a:p>
          <a:p>
            <a:r>
              <a:rPr lang="fr-FR" sz="1900" dirty="0">
                <a:latin typeface="Arial" panose="020B0604020202020204" pitchFamily="34" charset="0"/>
                <a:ea typeface="Arial" panose="020B0604020202020204" pitchFamily="34" charset="0"/>
              </a:rPr>
              <a:t>Evolution de l’état sanitaire des chênaies de 2017 à 2022 (a) sur notre zone d’étude et (b) par département (avec utilisation du masque BD Forêt® version 2).</a:t>
            </a:r>
            <a:endParaRPr lang="fr-FR" dirty="0"/>
          </a:p>
          <a:p>
            <a:r>
              <a:rPr lang="fr-FR" dirty="0"/>
              <a:t>Autres plateformes : Foret Bouge, </a:t>
            </a:r>
            <a:r>
              <a:rPr lang="fr-FR" dirty="0" err="1"/>
              <a:t>géoportail</a:t>
            </a:r>
            <a:r>
              <a:rPr lang="fr-FR" dirty="0"/>
              <a:t>, SI …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4F93B8-F018-4800-8025-4613B8FEEE34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67911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Carte 2020 V3 masque OSO : donc tous peuplements feuillus représenté</a:t>
            </a:r>
          </a:p>
          <a:p>
            <a:r>
              <a:rPr lang="fr-FR" sz="1900" dirty="0">
                <a:latin typeface="Arial" panose="020B0604020202020204" pitchFamily="34" charset="0"/>
                <a:ea typeface="Arial" panose="020B0604020202020204" pitchFamily="34" charset="0"/>
              </a:rPr>
              <a:t>Evolution de l’état sanitaire des chênaies de 2017 à 2022 (a) sur notre zone d’étude et (b) par département (avec utilisation du masque BD Forêt® version 2).</a:t>
            </a:r>
            <a:endParaRPr lang="fr-FR" dirty="0"/>
          </a:p>
          <a:p>
            <a:r>
              <a:rPr lang="fr-FR" dirty="0"/>
              <a:t>Autres plateformes : Foret Bouge, </a:t>
            </a:r>
            <a:r>
              <a:rPr lang="fr-FR" dirty="0" err="1"/>
              <a:t>géoportail</a:t>
            </a:r>
            <a:r>
              <a:rPr lang="fr-FR" dirty="0"/>
              <a:t>, SI …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4F93B8-F018-4800-8025-4613B8FEEE34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83500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Carte 2020 V3 masque OSO : donc tous peuplements feuillus représenté</a:t>
            </a:r>
          </a:p>
          <a:p>
            <a:r>
              <a:rPr lang="fr-FR" sz="1900" dirty="0">
                <a:latin typeface="Arial" panose="020B0604020202020204" pitchFamily="34" charset="0"/>
                <a:ea typeface="Arial" panose="020B0604020202020204" pitchFamily="34" charset="0"/>
              </a:rPr>
              <a:t>Evolution de l’état sanitaire des chênaies de 2017 à 2022 (a) sur notre zone d’étude et (b) par département (avec utilisation du masque BD Forêt® version 2).</a:t>
            </a:r>
            <a:endParaRPr lang="fr-FR" dirty="0"/>
          </a:p>
          <a:p>
            <a:r>
              <a:rPr lang="fr-FR" dirty="0"/>
              <a:t>Autres plateformes : Foret Bouge, </a:t>
            </a:r>
            <a:r>
              <a:rPr lang="fr-FR" dirty="0" err="1"/>
              <a:t>géoportail</a:t>
            </a:r>
            <a:r>
              <a:rPr lang="fr-FR" dirty="0"/>
              <a:t>, SI …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4F93B8-F018-4800-8025-4613B8FEEE34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01311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Carte 2020 V3 masque OSO : donc tous peuplements feuillus représenté</a:t>
            </a:r>
          </a:p>
          <a:p>
            <a:r>
              <a:rPr lang="fr-FR" sz="1900" dirty="0">
                <a:latin typeface="Arial" panose="020B0604020202020204" pitchFamily="34" charset="0"/>
                <a:ea typeface="Arial" panose="020B0604020202020204" pitchFamily="34" charset="0"/>
              </a:rPr>
              <a:t>Evolution de l’état sanitaire des chênaies de 2017 à 2022 (a) sur notre zone d’étude et (b) par département (avec utilisation du masque BD Forêt® version 2).</a:t>
            </a:r>
            <a:endParaRPr lang="fr-FR" dirty="0"/>
          </a:p>
          <a:p>
            <a:r>
              <a:rPr lang="fr-FR" dirty="0"/>
              <a:t>Autres plateformes : Foret Bouge, </a:t>
            </a:r>
            <a:r>
              <a:rPr lang="fr-FR" dirty="0" err="1"/>
              <a:t>géoportail</a:t>
            </a:r>
            <a:r>
              <a:rPr lang="fr-FR" dirty="0"/>
              <a:t>, SI …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4F93B8-F018-4800-8025-4613B8FEEE34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961179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8808c7f580_2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g28808c7f580_2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22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28808c7f580_2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199938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8808c7f580_2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g28808c7f580_2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22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28808c7f580_2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303943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1B150-801F-4271-B188-F6E1042EBAAC}" type="datetimeFigureOut">
              <a:rPr lang="fr-FR" smtClean="0"/>
              <a:t>11/05/2026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77A45-31CF-41A0-B76F-35716B58F8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3492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1B150-801F-4271-B188-F6E1042EBAAC}" type="datetimeFigureOut">
              <a:rPr lang="fr-FR" smtClean="0"/>
              <a:t>11/05/2026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77A45-31CF-41A0-B76F-35716B58F8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6229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1B150-801F-4271-B188-F6E1042EBAAC}" type="datetimeFigureOut">
              <a:rPr lang="fr-FR" smtClean="0"/>
              <a:t>11/05/2026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77A45-31CF-41A0-B76F-35716B58F8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6326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1B150-801F-4271-B188-F6E1042EBAAC}" type="datetimeFigureOut">
              <a:rPr lang="fr-FR" smtClean="0"/>
              <a:t>11/05/2026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77A45-31CF-41A0-B76F-35716B58F8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117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1B150-801F-4271-B188-F6E1042EBAAC}" type="datetimeFigureOut">
              <a:rPr lang="fr-FR" smtClean="0"/>
              <a:t>11/05/2026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77A45-31CF-41A0-B76F-35716B58F8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0740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1B150-801F-4271-B188-F6E1042EBAAC}" type="datetimeFigureOut">
              <a:rPr lang="fr-FR" smtClean="0"/>
              <a:t>11/05/2026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77A45-31CF-41A0-B76F-35716B58F8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7151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1B150-801F-4271-B188-F6E1042EBAAC}" type="datetimeFigureOut">
              <a:rPr lang="fr-FR" smtClean="0"/>
              <a:t>11/05/2026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77A45-31CF-41A0-B76F-35716B58F8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9534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1B150-801F-4271-B188-F6E1042EBAAC}" type="datetimeFigureOut">
              <a:rPr lang="fr-FR" smtClean="0"/>
              <a:t>11/05/2026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77A45-31CF-41A0-B76F-35716B58F8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7837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1B150-801F-4271-B188-F6E1042EBAAC}" type="datetimeFigureOut">
              <a:rPr lang="fr-FR" smtClean="0"/>
              <a:t>11/05/2026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77A45-31CF-41A0-B76F-35716B58F8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9259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1B150-801F-4271-B188-F6E1042EBAAC}" type="datetimeFigureOut">
              <a:rPr lang="fr-FR" smtClean="0"/>
              <a:t>11/05/2026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77A45-31CF-41A0-B76F-35716B58F8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6970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1B150-801F-4271-B188-F6E1042EBAAC}" type="datetimeFigureOut">
              <a:rPr lang="fr-FR" smtClean="0"/>
              <a:t>11/05/2026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77A45-31CF-41A0-B76F-35716B58F8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9292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41B150-801F-4271-B188-F6E1042EBAAC}" type="datetimeFigureOut">
              <a:rPr lang="fr-FR" smtClean="0"/>
              <a:t>11/05/2026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F77A45-31CF-41A0-B76F-35716B58F8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9923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10.png"/><Relationship Id="rId10" Type="http://schemas.microsoft.com/office/2007/relationships/hdphoto" Target="../media/hdphoto3.wdp"/><Relationship Id="rId4" Type="http://schemas.openxmlformats.org/officeDocument/2006/relationships/image" Target="../media/image9.png"/><Relationship Id="rId9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11.png"/><Relationship Id="rId4" Type="http://schemas.microsoft.com/office/2007/relationships/hdphoto" Target="../media/hdphoto3.wdp"/><Relationship Id="rId9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11.png"/><Relationship Id="rId4" Type="http://schemas.microsoft.com/office/2007/relationships/hdphoto" Target="../media/hdphoto3.wdp"/><Relationship Id="rId9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2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11.png"/><Relationship Id="rId4" Type="http://schemas.microsoft.com/office/2007/relationships/hdphoto" Target="../media/hdphoto3.wdp"/><Relationship Id="rId9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2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11.png"/><Relationship Id="rId4" Type="http://schemas.microsoft.com/office/2007/relationships/hdphoto" Target="../media/hdphoto3.wdp"/><Relationship Id="rId9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28.png"/><Relationship Id="rId18" Type="http://schemas.microsoft.com/office/2007/relationships/hdphoto" Target="../media/hdphoto7.wdp"/><Relationship Id="rId3" Type="http://schemas.openxmlformats.org/officeDocument/2006/relationships/image" Target="../media/image23.png"/><Relationship Id="rId7" Type="http://schemas.microsoft.com/office/2007/relationships/hdphoto" Target="../media/hdphoto2.wdp"/><Relationship Id="rId12" Type="http://schemas.openxmlformats.org/officeDocument/2006/relationships/image" Target="../media/image27.jpeg"/><Relationship Id="rId17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microsoft.com/office/2007/relationships/hdphoto" Target="../media/hdphoto6.wdp"/><Relationship Id="rId5" Type="http://schemas.microsoft.com/office/2007/relationships/hdphoto" Target="../media/hdphoto4.wdp"/><Relationship Id="rId15" Type="http://schemas.openxmlformats.org/officeDocument/2006/relationships/image" Target="../media/image30.png"/><Relationship Id="rId10" Type="http://schemas.openxmlformats.org/officeDocument/2006/relationships/image" Target="../media/image26.png"/><Relationship Id="rId4" Type="http://schemas.openxmlformats.org/officeDocument/2006/relationships/image" Target="../media/image24.png"/><Relationship Id="rId9" Type="http://schemas.microsoft.com/office/2007/relationships/hdphoto" Target="../media/hdphoto5.wdp"/><Relationship Id="rId1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10.png"/><Relationship Id="rId10" Type="http://schemas.microsoft.com/office/2007/relationships/hdphoto" Target="../media/hdphoto3.wdp"/><Relationship Id="rId4" Type="http://schemas.openxmlformats.org/officeDocument/2006/relationships/image" Target="../media/image34.png"/><Relationship Id="rId9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jpeg"/><Relationship Id="rId4" Type="http://schemas.openxmlformats.org/officeDocument/2006/relationships/image" Target="../media/image50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jpeg"/><Relationship Id="rId4" Type="http://schemas.openxmlformats.org/officeDocument/2006/relationships/image" Target="../media/image55.jpe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58.png"/><Relationship Id="rId3" Type="http://schemas.openxmlformats.org/officeDocument/2006/relationships/image" Target="../media/image55.jpeg"/><Relationship Id="rId7" Type="http://schemas.microsoft.com/office/2007/relationships/hdphoto" Target="../media/hdphoto4.wdp"/><Relationship Id="rId12" Type="http://schemas.openxmlformats.org/officeDocument/2006/relationships/image" Target="../media/image5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microsoft.com/office/2007/relationships/hdphoto" Target="../media/hdphoto5.wdp"/><Relationship Id="rId5" Type="http://schemas.openxmlformats.org/officeDocument/2006/relationships/image" Target="../media/image56.png"/><Relationship Id="rId10" Type="http://schemas.openxmlformats.org/officeDocument/2006/relationships/image" Target="../media/image25.png"/><Relationship Id="rId4" Type="http://schemas.openxmlformats.org/officeDocument/2006/relationships/image" Target="../media/image49.jpeg"/><Relationship Id="rId9" Type="http://schemas.microsoft.com/office/2007/relationships/hdphoto" Target="../media/hdphoto2.wdp"/><Relationship Id="rId14" Type="http://schemas.openxmlformats.org/officeDocument/2006/relationships/image" Target="../media/image5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B138A5ED-F0E6-0041-9117-F39DD2CD7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6A2F171-794B-B345-B610-6BE121D9ABB9}"/>
              </a:ext>
            </a:extLst>
          </p:cNvPr>
          <p:cNvSpPr/>
          <p:nvPr/>
        </p:nvSpPr>
        <p:spPr>
          <a:xfrm>
            <a:off x="0" y="1838130"/>
            <a:ext cx="12192000" cy="3181739"/>
          </a:xfrm>
          <a:prstGeom prst="rect">
            <a:avLst/>
          </a:prstGeom>
          <a:solidFill>
            <a:srgbClr val="004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79587FE-B0C4-DF4D-ACDA-99ED1763A293}"/>
              </a:ext>
            </a:extLst>
          </p:cNvPr>
          <p:cNvSpPr txBox="1"/>
          <p:nvPr/>
        </p:nvSpPr>
        <p:spPr>
          <a:xfrm>
            <a:off x="-137747" y="2019065"/>
            <a:ext cx="12191999" cy="23083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spcAft>
                <a:spcPts val="2400"/>
              </a:spcAft>
            </a:pPr>
            <a:r>
              <a:rPr lang="fr-FR" sz="3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Does </a:t>
            </a:r>
            <a:r>
              <a:rPr lang="fr-FR" sz="3200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biodiversity</a:t>
            </a:r>
            <a:r>
              <a:rPr lang="fr-FR" sz="3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r-FR" sz="3200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benefit</a:t>
            </a:r>
            <a:r>
              <a:rPr lang="fr-FR" sz="3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r-FR" sz="3200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from</a:t>
            </a:r>
            <a:r>
              <a:rPr lang="fr-FR" sz="3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r-FR" sz="3200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tree</a:t>
            </a:r>
            <a:r>
              <a:rPr lang="fr-FR" sz="3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r-FR" sz="3200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mixing</a:t>
            </a:r>
            <a:r>
              <a:rPr lang="fr-FR" sz="3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at stand </a:t>
            </a:r>
            <a:r>
              <a:rPr lang="fr-FR" sz="3200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scale</a:t>
            </a:r>
            <a:r>
              <a:rPr lang="fr-FR" sz="3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? A test on </a:t>
            </a:r>
            <a:r>
              <a:rPr lang="fr-FR" sz="3200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birds</a:t>
            </a:r>
            <a:r>
              <a:rPr lang="fr-FR" sz="3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and  </a:t>
            </a:r>
            <a:r>
              <a:rPr lang="fr-FR" sz="3200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saproxylic</a:t>
            </a:r>
            <a:r>
              <a:rPr lang="fr-FR" sz="3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and </a:t>
            </a:r>
            <a:r>
              <a:rPr lang="fr-FR" sz="3200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ground</a:t>
            </a:r>
            <a:r>
              <a:rPr lang="fr-FR" sz="3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r-FR" sz="3200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beetles</a:t>
            </a:r>
            <a:r>
              <a:rPr lang="fr-FR" sz="3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r-FR" sz="3200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along</a:t>
            </a:r>
            <a:r>
              <a:rPr lang="fr-FR" sz="3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 </a:t>
            </a:r>
            <a:r>
              <a:rPr lang="fr-FR" sz="3200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oak</a:t>
            </a:r>
            <a:r>
              <a:rPr lang="fr-FR" sz="3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-pine </a:t>
            </a:r>
            <a:r>
              <a:rPr lang="fr-FR" sz="3200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mixing</a:t>
            </a:r>
            <a:r>
              <a:rPr lang="fr-FR" sz="3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gradient</a:t>
            </a:r>
          </a:p>
          <a:p>
            <a:pPr algn="ctr"/>
            <a:r>
              <a:rPr lang="fr-FR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F. Archaux, J-Y </a:t>
            </a:r>
            <a:r>
              <a:rPr lang="fr-FR" sz="28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Barnagaud</a:t>
            </a:r>
            <a:r>
              <a:rPr lang="fr-FR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C. Bouget, E. </a:t>
            </a:r>
            <a:r>
              <a:rPr lang="fr-FR" sz="28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Dauffy</a:t>
            </a:r>
            <a:r>
              <a:rPr lang="fr-FR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-Richard</a:t>
            </a:r>
          </a:p>
        </p:txBody>
      </p:sp>
      <p:pic>
        <p:nvPicPr>
          <p:cNvPr id="7" name="Image 6" descr="Une image contenant Police, Graphique, logo, symbole&#10;&#10;Description générée automatiquement">
            <a:extLst>
              <a:ext uri="{FF2B5EF4-FFF2-40B4-BE49-F238E27FC236}">
                <a16:creationId xmlns:a16="http://schemas.microsoft.com/office/drawing/2014/main" id="{498A347A-32F4-C55D-9C2D-0753E45ED2F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4390" y="5832268"/>
            <a:ext cx="1715310" cy="452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835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g28808c7f580_2_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l="47673" r="30985"/>
          <a:stretch/>
        </p:blipFill>
        <p:spPr>
          <a:xfrm>
            <a:off x="-68094" y="0"/>
            <a:ext cx="2193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g28808c7f580_2_1"/>
          <p:cNvSpPr txBox="1"/>
          <p:nvPr/>
        </p:nvSpPr>
        <p:spPr>
          <a:xfrm>
            <a:off x="2098244" y="35130"/>
            <a:ext cx="100671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400" b="1" dirty="0" err="1">
                <a:solidFill>
                  <a:srgbClr val="1F9032"/>
                </a:solidFill>
                <a:latin typeface="Poppins"/>
                <a:ea typeface="Poppins"/>
                <a:cs typeface="Poppins"/>
                <a:sym typeface="Poppins"/>
              </a:rPr>
              <a:t>Context</a:t>
            </a:r>
            <a:endParaRPr b="1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1" name="Google Shape;171;g28808c7f580_2_1"/>
          <p:cNvSpPr txBox="1">
            <a:spLocks noGrp="1"/>
          </p:cNvSpPr>
          <p:nvPr>
            <p:ph type="sldNum" idx="12"/>
          </p:nvPr>
        </p:nvSpPr>
        <p:spPr>
          <a:xfrm>
            <a:off x="10780776" y="6356350"/>
            <a:ext cx="573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fr-FR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28808c7f580_2_1"/>
          <p:cNvSpPr txBox="1"/>
          <p:nvPr/>
        </p:nvSpPr>
        <p:spPr>
          <a:xfrm>
            <a:off x="2612376" y="883992"/>
            <a:ext cx="8168400" cy="1800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sz="2100" dirty="0">
                <a:latin typeface="Poppins"/>
                <a:ea typeface="Poppins"/>
                <a:cs typeface="Poppins"/>
                <a:sym typeface="Poppins"/>
              </a:rPr>
              <a:t>Generic effects of forest management on biodiversity</a:t>
            </a:r>
          </a:p>
          <a:p>
            <a:pPr lvl="0"/>
            <a:endParaRPr lang="en-US" sz="2100" dirty="0">
              <a:latin typeface="Poppins"/>
              <a:ea typeface="Poppins"/>
              <a:cs typeface="Poppins"/>
              <a:sym typeface="Poppin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latin typeface="Poppins"/>
                <a:ea typeface="Poppins"/>
                <a:cs typeface="Poppins"/>
                <a:sym typeface="Poppins"/>
              </a:rPr>
              <a:t>Reducing mature stages while shortening early stages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100" dirty="0">
                <a:latin typeface="Poppins"/>
                <a:ea typeface="Poppins"/>
                <a:cs typeface="Poppins"/>
                <a:sym typeface="Poppins"/>
              </a:rPr>
              <a:t>Reducing vertical and horizontal heterogeneity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100" dirty="0">
                <a:latin typeface="Poppins"/>
                <a:ea typeface="Poppins"/>
                <a:cs typeface="Poppins"/>
                <a:sym typeface="Poppins"/>
              </a:rPr>
              <a:t>Reducing tree species diversity</a:t>
            </a:r>
          </a:p>
        </p:txBody>
      </p:sp>
      <p:pic>
        <p:nvPicPr>
          <p:cNvPr id="6146" name="Picture 2" descr="La diversité des peuplements forestiers - INVENTAIRE FORESTIER">
            <a:extLst>
              <a:ext uri="{FF2B5EF4-FFF2-40B4-BE49-F238E27FC236}">
                <a16:creationId xmlns:a16="http://schemas.microsoft.com/office/drawing/2014/main" id="{F5693C3A-593D-2DD1-D6DB-35A9EA79E6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1009" y="2759050"/>
            <a:ext cx="4762500" cy="396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DA333E01-0C24-A6DD-A881-8EDA2ECE7296}"/>
              </a:ext>
            </a:extLst>
          </p:cNvPr>
          <p:cNvSpPr txBox="1"/>
          <p:nvPr/>
        </p:nvSpPr>
        <p:spPr>
          <a:xfrm>
            <a:off x="8203172" y="3671520"/>
            <a:ext cx="115288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 </a:t>
            </a:r>
            <a:r>
              <a:rPr lang="fr-FR" dirty="0" err="1"/>
              <a:t>species</a:t>
            </a:r>
            <a:endParaRPr lang="fr-FR" dirty="0"/>
          </a:p>
          <a:p>
            <a:r>
              <a:rPr lang="fr-FR" dirty="0"/>
              <a:t>2 </a:t>
            </a:r>
            <a:r>
              <a:rPr lang="fr-FR" dirty="0" err="1"/>
              <a:t>species</a:t>
            </a:r>
            <a:endParaRPr lang="fr-FR" dirty="0"/>
          </a:p>
          <a:p>
            <a:r>
              <a:rPr lang="fr-FR" dirty="0"/>
              <a:t>3 </a:t>
            </a:r>
            <a:r>
              <a:rPr lang="fr-FR" dirty="0" err="1"/>
              <a:t>species</a:t>
            </a:r>
            <a:endParaRPr lang="fr-FR" dirty="0"/>
          </a:p>
          <a:p>
            <a:r>
              <a:rPr lang="fr-FR" dirty="0"/>
              <a:t>4+ </a:t>
            </a:r>
            <a:r>
              <a:rPr lang="fr-FR" dirty="0" err="1"/>
              <a:t>species</a:t>
            </a:r>
            <a:endParaRPr lang="fr-FR" dirty="0"/>
          </a:p>
        </p:txBody>
      </p:sp>
      <p:sp>
        <p:nvSpPr>
          <p:cNvPr id="5" name="Forme libre : forme 4">
            <a:extLst>
              <a:ext uri="{FF2B5EF4-FFF2-40B4-BE49-F238E27FC236}">
                <a16:creationId xmlns:a16="http://schemas.microsoft.com/office/drawing/2014/main" id="{C7BBC5D0-228D-E23D-458D-84079E8AF08E}"/>
              </a:ext>
            </a:extLst>
          </p:cNvPr>
          <p:cNvSpPr/>
          <p:nvPr/>
        </p:nvSpPr>
        <p:spPr>
          <a:xfrm>
            <a:off x="2868706" y="4285129"/>
            <a:ext cx="1640541" cy="1201271"/>
          </a:xfrm>
          <a:custGeom>
            <a:avLst/>
            <a:gdLst>
              <a:gd name="connsiteX0" fmla="*/ 125506 w 1640541"/>
              <a:gd name="connsiteY0" fmla="*/ 0 h 1201271"/>
              <a:gd name="connsiteX1" fmla="*/ 1129553 w 1640541"/>
              <a:gd name="connsiteY1" fmla="*/ 98612 h 1201271"/>
              <a:gd name="connsiteX2" fmla="*/ 1488141 w 1640541"/>
              <a:gd name="connsiteY2" fmla="*/ 528918 h 1201271"/>
              <a:gd name="connsiteX3" fmla="*/ 1640541 w 1640541"/>
              <a:gd name="connsiteY3" fmla="*/ 932330 h 1201271"/>
              <a:gd name="connsiteX4" fmla="*/ 1568823 w 1640541"/>
              <a:gd name="connsiteY4" fmla="*/ 1156447 h 1201271"/>
              <a:gd name="connsiteX5" fmla="*/ 197223 w 1640541"/>
              <a:gd name="connsiteY5" fmla="*/ 1201271 h 1201271"/>
              <a:gd name="connsiteX6" fmla="*/ 0 w 1640541"/>
              <a:gd name="connsiteY6" fmla="*/ 815789 h 1201271"/>
              <a:gd name="connsiteX7" fmla="*/ 125506 w 1640541"/>
              <a:gd name="connsiteY7" fmla="*/ 0 h 1201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40541" h="1201271">
                <a:moveTo>
                  <a:pt x="125506" y="0"/>
                </a:moveTo>
                <a:lnTo>
                  <a:pt x="1129553" y="98612"/>
                </a:lnTo>
                <a:lnTo>
                  <a:pt x="1488141" y="528918"/>
                </a:lnTo>
                <a:lnTo>
                  <a:pt x="1640541" y="932330"/>
                </a:lnTo>
                <a:lnTo>
                  <a:pt x="1568823" y="1156447"/>
                </a:lnTo>
                <a:lnTo>
                  <a:pt x="197223" y="1201271"/>
                </a:lnTo>
                <a:lnTo>
                  <a:pt x="0" y="815789"/>
                </a:lnTo>
                <a:lnTo>
                  <a:pt x="125506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909C84-EE45-BA5F-DBD5-7204846A23F3}"/>
              </a:ext>
            </a:extLst>
          </p:cNvPr>
          <p:cNvSpPr/>
          <p:nvPr/>
        </p:nvSpPr>
        <p:spPr>
          <a:xfrm>
            <a:off x="7440706" y="3774144"/>
            <a:ext cx="197223" cy="995082"/>
          </a:xfrm>
          <a:prstGeom prst="rect">
            <a:avLst/>
          </a:prstGeom>
          <a:solidFill>
            <a:srgbClr val="F4C7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4C74E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0A56FD-7D35-4FEE-E2B9-8ADB6F55EDD4}"/>
              </a:ext>
            </a:extLst>
          </p:cNvPr>
          <p:cNvSpPr/>
          <p:nvPr/>
        </p:nvSpPr>
        <p:spPr>
          <a:xfrm>
            <a:off x="7637108" y="4173545"/>
            <a:ext cx="197223" cy="595681"/>
          </a:xfrm>
          <a:prstGeom prst="rect">
            <a:avLst/>
          </a:prstGeom>
          <a:solidFill>
            <a:srgbClr val="6CB5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4C74E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CEFFA7-AF95-362B-D8E4-C4F1BE5948C1}"/>
              </a:ext>
            </a:extLst>
          </p:cNvPr>
          <p:cNvSpPr/>
          <p:nvPr/>
        </p:nvSpPr>
        <p:spPr>
          <a:xfrm>
            <a:off x="7838590" y="4427216"/>
            <a:ext cx="197222" cy="342010"/>
          </a:xfrm>
          <a:prstGeom prst="rect">
            <a:avLst/>
          </a:prstGeom>
          <a:solidFill>
            <a:srgbClr val="18896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4C74E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DC3888-A9EF-DD92-B2F6-8F68EF7D86E9}"/>
              </a:ext>
            </a:extLst>
          </p:cNvPr>
          <p:cNvSpPr/>
          <p:nvPr/>
        </p:nvSpPr>
        <p:spPr>
          <a:xfrm>
            <a:off x="8024900" y="4584131"/>
            <a:ext cx="206216" cy="185095"/>
          </a:xfrm>
          <a:prstGeom prst="rect">
            <a:avLst/>
          </a:prstGeom>
          <a:solidFill>
            <a:srgbClr val="0E13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4C74E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g28808c7f580_2_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l="47673" r="30985"/>
          <a:stretch/>
        </p:blipFill>
        <p:spPr>
          <a:xfrm>
            <a:off x="-68094" y="0"/>
            <a:ext cx="2193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g28808c7f580_2_1"/>
          <p:cNvSpPr txBox="1"/>
          <p:nvPr/>
        </p:nvSpPr>
        <p:spPr>
          <a:xfrm>
            <a:off x="2098244" y="35130"/>
            <a:ext cx="100671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400" b="1" dirty="0" err="1">
                <a:solidFill>
                  <a:srgbClr val="1F9032"/>
                </a:solidFill>
                <a:latin typeface="Poppins"/>
                <a:ea typeface="Poppins"/>
                <a:cs typeface="Poppins"/>
                <a:sym typeface="Poppins"/>
              </a:rPr>
              <a:t>Context</a:t>
            </a:r>
            <a:endParaRPr b="1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1" name="Google Shape;171;g28808c7f580_2_1"/>
          <p:cNvSpPr txBox="1">
            <a:spLocks noGrp="1"/>
          </p:cNvSpPr>
          <p:nvPr>
            <p:ph type="sldNum" idx="12"/>
          </p:nvPr>
        </p:nvSpPr>
        <p:spPr>
          <a:xfrm>
            <a:off x="10780776" y="6356350"/>
            <a:ext cx="573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fr-FR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0" name="Picture 2" descr="Fig. 5">
            <a:extLst>
              <a:ext uri="{FF2B5EF4-FFF2-40B4-BE49-F238E27FC236}">
                <a16:creationId xmlns:a16="http://schemas.microsoft.com/office/drawing/2014/main" id="{477B69FF-87F0-80DA-94B0-FF4F4C921F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02"/>
          <a:stretch/>
        </p:blipFill>
        <p:spPr bwMode="auto">
          <a:xfrm>
            <a:off x="5815584" y="1394388"/>
            <a:ext cx="4965192" cy="520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8115D638-340D-5A74-1874-70FBD38BE89E}"/>
              </a:ext>
            </a:extLst>
          </p:cNvPr>
          <p:cNvSpPr txBox="1"/>
          <p:nvPr/>
        </p:nvSpPr>
        <p:spPr>
          <a:xfrm>
            <a:off x="2183941" y="6461486"/>
            <a:ext cx="61318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Kremer et al. 2025. Biol. </a:t>
            </a:r>
            <a:r>
              <a:rPr lang="fr-FR" sz="1400" b="0" i="0" u="none" strike="noStrike" dirty="0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Conserv</a:t>
            </a:r>
            <a:r>
              <a:rPr lang="fr-FR" sz="14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.</a:t>
            </a:r>
            <a:endParaRPr lang="fr-FR" sz="140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3A981F4-0C23-6C58-E71D-F3125D1FEF02}"/>
              </a:ext>
            </a:extLst>
          </p:cNvPr>
          <p:cNvSpPr txBox="1"/>
          <p:nvPr/>
        </p:nvSpPr>
        <p:spPr>
          <a:xfrm>
            <a:off x="5672935" y="1466087"/>
            <a:ext cx="846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Overall</a:t>
            </a:r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010F769-1963-0BC3-B5D2-371D362C556E}"/>
              </a:ext>
            </a:extLst>
          </p:cNvPr>
          <p:cNvSpPr txBox="1"/>
          <p:nvPr/>
        </p:nvSpPr>
        <p:spPr>
          <a:xfrm>
            <a:off x="5249870" y="2120378"/>
            <a:ext cx="1367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Climate</a:t>
            </a:r>
            <a:r>
              <a:rPr lang="fr-FR" dirty="0"/>
              <a:t> type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90289D1-E322-14B4-AE8C-FAB79E707E28}"/>
              </a:ext>
            </a:extLst>
          </p:cNvPr>
          <p:cNvSpPr txBox="1"/>
          <p:nvPr/>
        </p:nvSpPr>
        <p:spPr>
          <a:xfrm>
            <a:off x="4821708" y="3095042"/>
            <a:ext cx="1528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Plantation </a:t>
            </a:r>
            <a:r>
              <a:rPr lang="fr-FR" dirty="0" err="1"/>
              <a:t>age</a:t>
            </a:r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BF9F3FD-7490-775C-BDC3-49AD13FB73B2}"/>
              </a:ext>
            </a:extLst>
          </p:cNvPr>
          <p:cNvSpPr txBox="1"/>
          <p:nvPr/>
        </p:nvSpPr>
        <p:spPr>
          <a:xfrm>
            <a:off x="4159778" y="4069706"/>
            <a:ext cx="2069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Nber</a:t>
            </a:r>
            <a:r>
              <a:rPr lang="fr-FR" dirty="0"/>
              <a:t> of </a:t>
            </a:r>
            <a:r>
              <a:rPr lang="fr-FR" dirty="0" err="1"/>
              <a:t>tree</a:t>
            </a:r>
            <a:r>
              <a:rPr lang="fr-FR" dirty="0"/>
              <a:t> </a:t>
            </a:r>
            <a:r>
              <a:rPr lang="fr-FR" dirty="0" err="1"/>
              <a:t>species</a:t>
            </a:r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893680D-5A02-24A9-9BB4-20A88E20FB98}"/>
              </a:ext>
            </a:extLst>
          </p:cNvPr>
          <p:cNvSpPr txBox="1"/>
          <p:nvPr/>
        </p:nvSpPr>
        <p:spPr>
          <a:xfrm>
            <a:off x="2512147" y="4963040"/>
            <a:ext cx="3717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Relative </a:t>
            </a:r>
            <a:r>
              <a:rPr lang="fr-FR" dirty="0" err="1"/>
              <a:t>abundance</a:t>
            </a:r>
            <a:r>
              <a:rPr lang="fr-FR" dirty="0"/>
              <a:t> of mixed </a:t>
            </a:r>
            <a:r>
              <a:rPr lang="fr-FR" dirty="0" err="1"/>
              <a:t>species</a:t>
            </a:r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B2B771C-25BA-B598-DDB8-18258ED7BE83}"/>
              </a:ext>
            </a:extLst>
          </p:cNvPr>
          <p:cNvSpPr txBox="1"/>
          <p:nvPr/>
        </p:nvSpPr>
        <p:spPr>
          <a:xfrm>
            <a:off x="4370958" y="5632179"/>
            <a:ext cx="1444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Species</a:t>
            </a:r>
            <a:r>
              <a:rPr lang="fr-FR" dirty="0"/>
              <a:t> types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BE6F21E1-4936-E733-45B3-37C319DB40DD}"/>
              </a:ext>
            </a:extLst>
          </p:cNvPr>
          <p:cNvSpPr txBox="1"/>
          <p:nvPr/>
        </p:nvSpPr>
        <p:spPr>
          <a:xfrm>
            <a:off x="2512147" y="842338"/>
            <a:ext cx="92416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sym typeface="Wingdings" panose="05000000000000000000" pitchFamily="2" charset="2"/>
              </a:rPr>
              <a:t> </a:t>
            </a:r>
            <a:r>
              <a:rPr lang="fr-FR" sz="2000" dirty="0" err="1">
                <a:sym typeface="Wingdings" panose="05000000000000000000" pitchFamily="2" charset="2"/>
              </a:rPr>
              <a:t>E</a:t>
            </a:r>
            <a:r>
              <a:rPr lang="fr-FR" sz="2000" dirty="0" err="1"/>
              <a:t>ffect</a:t>
            </a:r>
            <a:r>
              <a:rPr lang="fr-FR" sz="2000" dirty="0"/>
              <a:t> of </a:t>
            </a:r>
            <a:r>
              <a:rPr lang="fr-FR" sz="2000" dirty="0" err="1"/>
              <a:t>tree</a:t>
            </a:r>
            <a:r>
              <a:rPr lang="fr-FR" sz="2000" dirty="0"/>
              <a:t> mixture on </a:t>
            </a:r>
            <a:r>
              <a:rPr lang="fr-FR" sz="2000" dirty="0" err="1"/>
              <a:t>biodiversity</a:t>
            </a:r>
            <a:r>
              <a:rPr lang="fr-FR" sz="2000" dirty="0"/>
              <a:t>: </a:t>
            </a:r>
            <a:r>
              <a:rPr lang="fr-FR" sz="2000" dirty="0" err="1"/>
              <a:t>mostly</a:t>
            </a:r>
            <a:r>
              <a:rPr lang="fr-FR" sz="2000" dirty="0"/>
              <a:t> neutral and, to a </a:t>
            </a:r>
            <a:r>
              <a:rPr lang="fr-FR" sz="2000" dirty="0" err="1"/>
              <a:t>lesser</a:t>
            </a:r>
            <a:r>
              <a:rPr lang="fr-FR" sz="2000" dirty="0"/>
              <a:t> </a:t>
            </a:r>
            <a:r>
              <a:rPr lang="fr-FR" sz="2000" dirty="0" err="1"/>
              <a:t>extent</a:t>
            </a:r>
            <a:r>
              <a:rPr lang="fr-FR" sz="2000" dirty="0"/>
              <a:t>, positive</a:t>
            </a:r>
          </a:p>
        </p:txBody>
      </p: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E65FBE3-90C8-37E6-D0AF-6FA6825E2BC7}"/>
              </a:ext>
            </a:extLst>
          </p:cNvPr>
          <p:cNvCxnSpPr/>
          <p:nvPr/>
        </p:nvCxnSpPr>
        <p:spPr>
          <a:xfrm>
            <a:off x="6714565" y="2426955"/>
            <a:ext cx="636494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BB961DD5-1AAF-B915-8C00-1E8FD35E0F34}"/>
              </a:ext>
            </a:extLst>
          </p:cNvPr>
          <p:cNvCxnSpPr/>
          <p:nvPr/>
        </p:nvCxnSpPr>
        <p:spPr>
          <a:xfrm>
            <a:off x="6714565" y="3646155"/>
            <a:ext cx="636494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4E2E4968-B2C2-585E-B76C-27B482844569}"/>
              </a:ext>
            </a:extLst>
          </p:cNvPr>
          <p:cNvCxnSpPr/>
          <p:nvPr/>
        </p:nvCxnSpPr>
        <p:spPr>
          <a:xfrm>
            <a:off x="6714565" y="4076190"/>
            <a:ext cx="636494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B24BAD0B-EA40-9DE1-60A1-B67C3E97A953}"/>
              </a:ext>
            </a:extLst>
          </p:cNvPr>
          <p:cNvCxnSpPr>
            <a:cxnSpLocks/>
          </p:cNvCxnSpPr>
          <p:nvPr/>
        </p:nvCxnSpPr>
        <p:spPr>
          <a:xfrm>
            <a:off x="6519064" y="5403238"/>
            <a:ext cx="83199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890A9542-5587-36D9-F098-BED11196E520}"/>
              </a:ext>
            </a:extLst>
          </p:cNvPr>
          <p:cNvCxnSpPr>
            <a:cxnSpLocks/>
          </p:cNvCxnSpPr>
          <p:nvPr/>
        </p:nvCxnSpPr>
        <p:spPr>
          <a:xfrm>
            <a:off x="5909465" y="6102484"/>
            <a:ext cx="136091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9310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g28808c7f580_2_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l="47673" r="30985"/>
          <a:stretch/>
        </p:blipFill>
        <p:spPr>
          <a:xfrm>
            <a:off x="-68094" y="0"/>
            <a:ext cx="2193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g28808c7f580_2_1"/>
          <p:cNvSpPr txBox="1"/>
          <p:nvPr/>
        </p:nvSpPr>
        <p:spPr>
          <a:xfrm>
            <a:off x="2098244" y="35130"/>
            <a:ext cx="100671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400" b="1" dirty="0" err="1">
                <a:solidFill>
                  <a:srgbClr val="1F9032"/>
                </a:solidFill>
                <a:latin typeface="Poppins"/>
                <a:ea typeface="Poppins"/>
                <a:cs typeface="Poppins"/>
                <a:sym typeface="Poppins"/>
              </a:rPr>
              <a:t>Context</a:t>
            </a:r>
            <a:endParaRPr b="1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1" name="Google Shape;171;g28808c7f580_2_1"/>
          <p:cNvSpPr txBox="1">
            <a:spLocks noGrp="1"/>
          </p:cNvSpPr>
          <p:nvPr>
            <p:ph type="sldNum" idx="12"/>
          </p:nvPr>
        </p:nvSpPr>
        <p:spPr>
          <a:xfrm>
            <a:off x="10780776" y="6356350"/>
            <a:ext cx="573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fr-FR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115D638-340D-5A74-1874-70FBD38BE89E}"/>
              </a:ext>
            </a:extLst>
          </p:cNvPr>
          <p:cNvSpPr txBox="1"/>
          <p:nvPr/>
        </p:nvSpPr>
        <p:spPr>
          <a:xfrm>
            <a:off x="8462682" y="6488572"/>
            <a:ext cx="61318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Kremer et al. 2025. Biol. </a:t>
            </a:r>
            <a:r>
              <a:rPr lang="fr-FR" sz="1400" b="0" i="0" u="none" strike="noStrike" dirty="0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Conserv</a:t>
            </a:r>
            <a:r>
              <a:rPr lang="fr-FR" sz="14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.</a:t>
            </a:r>
            <a:endParaRPr lang="fr-FR" sz="1400" dirty="0"/>
          </a:p>
        </p:txBody>
      </p:sp>
      <p:pic>
        <p:nvPicPr>
          <p:cNvPr id="3074" name="Picture 2" descr="Fig. 6">
            <a:extLst>
              <a:ext uri="{FF2B5EF4-FFF2-40B4-BE49-F238E27FC236}">
                <a16:creationId xmlns:a16="http://schemas.microsoft.com/office/drawing/2014/main" id="{BA3AFBF6-0ABC-1467-5DB0-9D7802BA3D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3031" y="1607608"/>
            <a:ext cx="7775706" cy="4447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703779FA-5FA6-C90F-84A4-9A29A4C37695}"/>
              </a:ext>
            </a:extLst>
          </p:cNvPr>
          <p:cNvSpPr txBox="1"/>
          <p:nvPr/>
        </p:nvSpPr>
        <p:spPr>
          <a:xfrm>
            <a:off x="2512147" y="842338"/>
            <a:ext cx="60108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sym typeface="Wingdings" panose="05000000000000000000" pitchFamily="2" charset="2"/>
              </a:rPr>
              <a:t> The </a:t>
            </a:r>
            <a:r>
              <a:rPr lang="fr-FR" sz="2000" dirty="0" err="1">
                <a:sym typeface="Wingdings" panose="05000000000000000000" pitchFamily="2" charset="2"/>
              </a:rPr>
              <a:t>response</a:t>
            </a:r>
            <a:r>
              <a:rPr lang="fr-FR" sz="2000" dirty="0">
                <a:sym typeface="Wingdings" panose="05000000000000000000" pitchFamily="2" charset="2"/>
              </a:rPr>
              <a:t> </a:t>
            </a:r>
            <a:r>
              <a:rPr lang="fr-FR" sz="2000" dirty="0" err="1">
                <a:sym typeface="Wingdings" panose="05000000000000000000" pitchFamily="2" charset="2"/>
              </a:rPr>
              <a:t>strongly</a:t>
            </a:r>
            <a:r>
              <a:rPr lang="fr-FR" sz="2000" dirty="0">
                <a:sym typeface="Wingdings" panose="05000000000000000000" pitchFamily="2" charset="2"/>
              </a:rPr>
              <a:t> </a:t>
            </a:r>
            <a:r>
              <a:rPr lang="fr-FR" sz="2000" dirty="0" err="1">
                <a:sym typeface="Wingdings" panose="05000000000000000000" pitchFamily="2" charset="2"/>
              </a:rPr>
              <a:t>depends</a:t>
            </a:r>
            <a:r>
              <a:rPr lang="fr-FR" sz="2000" dirty="0">
                <a:sym typeface="Wingdings" panose="05000000000000000000" pitchFamily="2" charset="2"/>
              </a:rPr>
              <a:t> on </a:t>
            </a:r>
            <a:r>
              <a:rPr lang="fr-FR" sz="2000" dirty="0" err="1">
                <a:sym typeface="Wingdings" panose="05000000000000000000" pitchFamily="2" charset="2"/>
              </a:rPr>
              <a:t>taxonomic</a:t>
            </a:r>
            <a:r>
              <a:rPr lang="fr-FR" sz="2000" dirty="0">
                <a:sym typeface="Wingdings" panose="05000000000000000000" pitchFamily="2" charset="2"/>
              </a:rPr>
              <a:t> group</a:t>
            </a:r>
            <a:endParaRPr lang="fr-FR" sz="2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7829AA-BCCF-8377-521C-541AA54B4278}"/>
              </a:ext>
            </a:extLst>
          </p:cNvPr>
          <p:cNvSpPr/>
          <p:nvPr/>
        </p:nvSpPr>
        <p:spPr>
          <a:xfrm>
            <a:off x="3410712" y="4308862"/>
            <a:ext cx="8101584" cy="10220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6361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g28808c7f580_2_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l="47673" r="30985"/>
          <a:stretch/>
        </p:blipFill>
        <p:spPr>
          <a:xfrm>
            <a:off x="-68094" y="0"/>
            <a:ext cx="2193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g28808c7f580_2_1"/>
          <p:cNvSpPr txBox="1"/>
          <p:nvPr/>
        </p:nvSpPr>
        <p:spPr>
          <a:xfrm>
            <a:off x="2098244" y="35130"/>
            <a:ext cx="100671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400" b="1" dirty="0" err="1">
                <a:solidFill>
                  <a:srgbClr val="1F9032"/>
                </a:solidFill>
                <a:latin typeface="Poppins"/>
                <a:ea typeface="Poppins"/>
                <a:cs typeface="Poppins"/>
                <a:sym typeface="Poppins"/>
              </a:rPr>
              <a:t>Context</a:t>
            </a:r>
            <a:endParaRPr b="1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1" name="Google Shape;171;g28808c7f580_2_1"/>
          <p:cNvSpPr txBox="1">
            <a:spLocks noGrp="1"/>
          </p:cNvSpPr>
          <p:nvPr>
            <p:ph type="sldNum" idx="12"/>
          </p:nvPr>
        </p:nvSpPr>
        <p:spPr>
          <a:xfrm>
            <a:off x="10780776" y="6356350"/>
            <a:ext cx="573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fr-FR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73;g28808c7f580_2_1">
            <a:extLst>
              <a:ext uri="{FF2B5EF4-FFF2-40B4-BE49-F238E27FC236}">
                <a16:creationId xmlns:a16="http://schemas.microsoft.com/office/drawing/2014/main" id="{F35F613E-0CD8-B5A8-A692-DF898BF37E85}"/>
              </a:ext>
            </a:extLst>
          </p:cNvPr>
          <p:cNvSpPr txBox="1"/>
          <p:nvPr/>
        </p:nvSpPr>
        <p:spPr>
          <a:xfrm>
            <a:off x="2477011" y="1110629"/>
            <a:ext cx="9141248" cy="4893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sz="2100" dirty="0">
                <a:latin typeface="Poppins"/>
                <a:ea typeface="Poppins"/>
                <a:cs typeface="Poppins"/>
                <a:sym typeface="Poppins"/>
              </a:rPr>
              <a:t>Main question</a:t>
            </a:r>
          </a:p>
          <a:p>
            <a:pPr lvl="0"/>
            <a:endParaRPr lang="en-US" sz="2100" dirty="0">
              <a:latin typeface="Poppins"/>
              <a:ea typeface="Poppins"/>
              <a:cs typeface="Poppins"/>
              <a:sym typeface="Poppins"/>
            </a:endParaRPr>
          </a:p>
          <a:p>
            <a:pPr marL="342900" lvl="0" indent="-342900">
              <a:buFont typeface="Aptos" panose="020B0004020202020204" pitchFamily="34" charset="0"/>
              <a:buChar char="-"/>
            </a:pPr>
            <a:r>
              <a:rPr lang="fr-FR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Are mixed </a:t>
            </a:r>
            <a:r>
              <a:rPr lang="fr-FR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oak</a:t>
            </a:r>
            <a:r>
              <a:rPr lang="fr-FR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-pine stands </a:t>
            </a:r>
            <a:r>
              <a:rPr lang="fr-FR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beneficial</a:t>
            </a:r>
            <a:r>
              <a:rPr lang="fr-FR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fr-FR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common</a:t>
            </a:r>
            <a:r>
              <a:rPr lang="fr-FR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birds</a:t>
            </a:r>
            <a:r>
              <a:rPr lang="fr-FR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saproxylic</a:t>
            </a:r>
            <a:r>
              <a:rPr lang="fr-FR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fr-FR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ground</a:t>
            </a:r>
            <a:r>
              <a:rPr lang="fr-FR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beetles</a:t>
            </a:r>
            <a:r>
              <a:rPr lang="fr-FR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fr-FR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fr-FR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</a:t>
            </a:r>
          </a:p>
          <a:p>
            <a:r>
              <a:rPr lang="fr-FR" sz="24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Hypotheses</a:t>
            </a:r>
            <a:endParaRPr lang="fr-FR" sz="24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endParaRPr lang="fr-FR" sz="24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buFont typeface="Aptos" panose="020B0004020202020204" pitchFamily="34" charset="0"/>
              <a:buChar char="-"/>
            </a:pPr>
            <a:r>
              <a:rPr lang="fr-FR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  <a:r>
              <a:rPr lang="fr-FR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fr-FR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tree</a:t>
            </a:r>
            <a:r>
              <a:rPr lang="fr-FR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mixture </a:t>
            </a:r>
            <a:r>
              <a:rPr lang="fr-FR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fr-FR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stronger</a:t>
            </a:r>
            <a:r>
              <a:rPr lang="fr-FR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fr-FR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taxonomic</a:t>
            </a:r>
            <a:r>
              <a:rPr lang="fr-FR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groups/</a:t>
            </a:r>
            <a:r>
              <a:rPr lang="fr-FR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species</a:t>
            </a:r>
            <a:r>
              <a:rPr lang="fr-FR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having</a:t>
            </a:r>
            <a:r>
              <a:rPr lang="fr-FR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strong</a:t>
            </a:r>
            <a:r>
              <a:rPr lang="fr-FR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affinity</a:t>
            </a:r>
            <a:r>
              <a:rPr lang="fr-FR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one </a:t>
            </a:r>
            <a:r>
              <a:rPr lang="fr-FR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tree</a:t>
            </a:r>
            <a:r>
              <a:rPr lang="fr-FR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species</a:t>
            </a:r>
            <a:r>
              <a:rPr lang="fr-FR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  <a:r>
              <a:rPr lang="fr-FR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fr-FR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fr-FR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strongest</a:t>
            </a:r>
            <a:r>
              <a:rPr lang="fr-FR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  <a:r>
              <a:rPr lang="fr-FR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fr-FR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saproxylic</a:t>
            </a:r>
            <a:r>
              <a:rPr lang="fr-FR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beetles</a:t>
            </a:r>
            <a:r>
              <a:rPr lang="fr-FR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dirty="0" err="1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intermediate</a:t>
            </a:r>
            <a:r>
              <a:rPr lang="fr-FR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fr-FR" dirty="0" err="1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birds</a:t>
            </a:r>
            <a:r>
              <a:rPr lang="fr-FR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dirty="0" err="1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lowest</a:t>
            </a:r>
            <a:r>
              <a:rPr lang="fr-FR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fr-FR" dirty="0" err="1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ground</a:t>
            </a:r>
            <a:r>
              <a:rPr lang="fr-FR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beetles</a:t>
            </a:r>
            <a:r>
              <a:rPr lang="fr-FR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2900" lvl="0" indent="-342900">
              <a:buFont typeface="Aptos" panose="020B0004020202020204" pitchFamily="34" charset="0"/>
              <a:buChar char="-"/>
            </a:pPr>
            <a:endParaRPr lang="fr-FR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Aptos" panose="020B0004020202020204" pitchFamily="34" charset="0"/>
              <a:buChar char="-"/>
            </a:pPr>
            <a:r>
              <a:rPr lang="fr-FR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Higher</a:t>
            </a:r>
            <a:r>
              <a:rPr lang="fr-FR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diversity</a:t>
            </a:r>
            <a:r>
              <a:rPr lang="fr-FR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fr-FR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abundance</a:t>
            </a:r>
            <a:r>
              <a:rPr lang="fr-FR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pure </a:t>
            </a:r>
            <a:r>
              <a:rPr lang="fr-FR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oak</a:t>
            </a:r>
            <a:r>
              <a:rPr lang="fr-FR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than</a:t>
            </a:r>
            <a:r>
              <a:rPr lang="fr-FR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pure pine stands (at least for </a:t>
            </a:r>
            <a:r>
              <a:rPr lang="fr-FR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birds</a:t>
            </a:r>
            <a:r>
              <a:rPr lang="fr-FR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fr-FR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saproxylic</a:t>
            </a:r>
            <a:r>
              <a:rPr lang="fr-FR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beetles</a:t>
            </a:r>
            <a:r>
              <a:rPr lang="fr-FR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2900" lvl="0" indent="-342900">
              <a:buFont typeface="Aptos" panose="020B0004020202020204" pitchFamily="34" charset="0"/>
              <a:buChar char="-"/>
            </a:pPr>
            <a:endParaRPr lang="fr-FR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Aptos" panose="020B0004020202020204" pitchFamily="34" charset="0"/>
              <a:buChar char="-"/>
            </a:pPr>
            <a:r>
              <a:rPr lang="fr-FR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Assemblages in mixed stands combine </a:t>
            </a:r>
            <a:r>
              <a:rPr lang="fr-FR" dirty="0" err="1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tree-generalist</a:t>
            </a:r>
            <a:r>
              <a:rPr lang="fr-FR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species</a:t>
            </a:r>
            <a:r>
              <a:rPr lang="fr-FR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fr-FR" dirty="0" err="1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  <a:r>
              <a:rPr lang="fr-FR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fr-FR" dirty="0" err="1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subset</a:t>
            </a:r>
            <a:r>
              <a:rPr lang="fr-FR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fr-FR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tree</a:t>
            </a:r>
            <a:r>
              <a:rPr lang="fr-FR" dirty="0" err="1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-dependent</a:t>
            </a:r>
            <a:r>
              <a:rPr lang="fr-FR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species</a:t>
            </a:r>
            <a:r>
              <a:rPr lang="fr-FR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dirty="0" err="1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fr-FR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few or none </a:t>
            </a:r>
            <a:r>
              <a:rPr lang="fr-FR" dirty="0" err="1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species</a:t>
            </a:r>
            <a:r>
              <a:rPr lang="fr-FR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favoured</a:t>
            </a:r>
            <a:r>
              <a:rPr lang="fr-FR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by the </a:t>
            </a:r>
            <a:r>
              <a:rPr lang="fr-FR" dirty="0" err="1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mixing</a:t>
            </a:r>
            <a:r>
              <a:rPr lang="fr-FR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fr-FR" dirty="0" err="1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leading</a:t>
            </a:r>
            <a:r>
              <a:rPr lang="fr-FR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fr-FR" dirty="0" err="1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lang="fr-FR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fr-FR" dirty="0" err="1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hump-shaped</a:t>
            </a:r>
            <a:r>
              <a:rPr lang="fr-FR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relationships</a:t>
            </a:r>
            <a:r>
              <a:rPr lang="fr-FR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fr-FR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3076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C39E3C8-22BF-4F4A-9F2D-452D9E47CD2C}"/>
              </a:ext>
            </a:extLst>
          </p:cNvPr>
          <p:cNvSpPr/>
          <p:nvPr/>
        </p:nvSpPr>
        <p:spPr>
          <a:xfrm>
            <a:off x="0" y="-3652"/>
            <a:ext cx="12192000" cy="1306286"/>
          </a:xfrm>
          <a:prstGeom prst="rect">
            <a:avLst/>
          </a:prstGeom>
          <a:gradFill flip="none" rotWithShape="1">
            <a:gsLst>
              <a:gs pos="0">
                <a:srgbClr val="004537"/>
              </a:gs>
              <a:gs pos="100000">
                <a:srgbClr val="1F9032"/>
              </a:gs>
            </a:gsLst>
            <a:lin ang="10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132192D3-4B3B-844F-BACF-523380D2E796}"/>
              </a:ext>
            </a:extLst>
          </p:cNvPr>
          <p:cNvSpPr txBox="1"/>
          <p:nvPr/>
        </p:nvSpPr>
        <p:spPr>
          <a:xfrm>
            <a:off x="0" y="3492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Sampling design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906F80A-B3E0-0198-9799-6C7D9EDBA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51662-EAF4-4F13-861F-8A695F40F4A6}" type="slidenum">
              <a:rPr lang="fr-FR" smtClean="0"/>
              <a:t>6</a:t>
            </a:fld>
            <a:endParaRPr lang="fr-FR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4AAD834-C69E-72E0-13C2-A736A912EF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661" y="1980947"/>
            <a:ext cx="4633633" cy="4265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5CE28F9C-FEEA-B20F-FE38-CA3B5219072F}"/>
              </a:ext>
            </a:extLst>
          </p:cNvPr>
          <p:cNvSpPr txBox="1"/>
          <p:nvPr/>
        </p:nvSpPr>
        <p:spPr>
          <a:xfrm>
            <a:off x="5081868" y="2196824"/>
            <a:ext cx="699247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Location: Orléans </a:t>
            </a:r>
            <a:r>
              <a:rPr lang="fr-FR" dirty="0" err="1"/>
              <a:t>forest</a:t>
            </a:r>
            <a:r>
              <a:rPr lang="fr-FR" dirty="0"/>
              <a:t> (Lorris massif)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23 mature stands </a:t>
            </a:r>
            <a:r>
              <a:rPr lang="fr-FR" dirty="0" err="1"/>
              <a:t>dominated</a:t>
            </a:r>
            <a:r>
              <a:rPr lang="fr-FR" dirty="0"/>
              <a:t> by </a:t>
            </a:r>
            <a:r>
              <a:rPr lang="fr-FR" dirty="0" err="1"/>
              <a:t>oaks</a:t>
            </a:r>
            <a:r>
              <a:rPr lang="fr-FR" dirty="0"/>
              <a:t> (&gt; 60-yr) and/or pines (&gt;40-yr)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Gradient mixture </a:t>
            </a:r>
            <a:r>
              <a:rPr lang="fr-FR" dirty="0" err="1"/>
              <a:t>smoothly</a:t>
            </a:r>
            <a:r>
              <a:rPr lang="fr-FR" dirty="0"/>
              <a:t> </a:t>
            </a:r>
            <a:r>
              <a:rPr lang="fr-FR" dirty="0" err="1"/>
              <a:t>varying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0 to 100%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Four plots per stand </a:t>
            </a:r>
            <a:r>
              <a:rPr lang="fr-FR" dirty="0" err="1"/>
              <a:t>with</a:t>
            </a:r>
            <a:r>
              <a:rPr lang="fr-FR" dirty="0"/>
              <a:t> four basal area </a:t>
            </a:r>
            <a:r>
              <a:rPr lang="fr-FR" dirty="0" err="1"/>
              <a:t>measures</a:t>
            </a:r>
            <a:r>
              <a:rPr lang="fr-FR" dirty="0"/>
              <a:t> per plot</a:t>
            </a:r>
          </a:p>
          <a:p>
            <a:endParaRPr lang="fr-FR" dirty="0"/>
          </a:p>
          <a:p>
            <a:r>
              <a:rPr lang="fr-FR" dirty="0"/>
              <a:t>Habitat variables </a:t>
            </a:r>
            <a:r>
              <a:rPr lang="fr-FR" dirty="0" err="1"/>
              <a:t>defined</a:t>
            </a:r>
            <a:r>
              <a:rPr lang="fr-FR" dirty="0"/>
              <a:t> at the plot </a:t>
            </a:r>
            <a:r>
              <a:rPr lang="fr-FR" dirty="0" err="1"/>
              <a:t>scale</a:t>
            </a:r>
            <a:r>
              <a:rPr lang="fr-FR" dirty="0"/>
              <a:t> (1.8 ha)</a:t>
            </a:r>
          </a:p>
          <a:p>
            <a:pPr marL="285750" indent="-285750">
              <a:buFontTx/>
              <a:buChar char="-"/>
            </a:pPr>
            <a:r>
              <a:rPr lang="fr-FR" dirty="0"/>
              <a:t>Basal area (G) all </a:t>
            </a:r>
            <a:r>
              <a:rPr lang="fr-FR" dirty="0" err="1"/>
              <a:t>tree</a:t>
            </a:r>
            <a:r>
              <a:rPr lang="fr-FR" dirty="0"/>
              <a:t> </a:t>
            </a:r>
            <a:r>
              <a:rPr lang="fr-FR" dirty="0" err="1"/>
              <a:t>species</a:t>
            </a:r>
            <a:r>
              <a:rPr lang="fr-FR" dirty="0"/>
              <a:t> (90% </a:t>
            </a:r>
            <a:r>
              <a:rPr lang="fr-FR" dirty="0" err="1"/>
              <a:t>oaks</a:t>
            </a:r>
            <a:r>
              <a:rPr lang="fr-FR" dirty="0"/>
              <a:t> or pines)</a:t>
            </a:r>
          </a:p>
          <a:p>
            <a:pPr marL="285750" indent="-285750">
              <a:buFontTx/>
              <a:buChar char="-"/>
            </a:pPr>
            <a:r>
              <a:rPr lang="fr-FR" dirty="0"/>
              <a:t>% mixture as % </a:t>
            </a:r>
            <a:r>
              <a:rPr lang="fr-FR" dirty="0" err="1"/>
              <a:t>oak</a:t>
            </a:r>
            <a:r>
              <a:rPr lang="fr-FR" dirty="0"/>
              <a:t> vs </a:t>
            </a:r>
            <a:r>
              <a:rPr lang="fr-FR" dirty="0" err="1"/>
              <a:t>pin+oak</a:t>
            </a:r>
            <a:endParaRPr lang="fr-FR" dirty="0"/>
          </a:p>
          <a:p>
            <a:endParaRPr lang="fr-FR" dirty="0"/>
          </a:p>
          <a:p>
            <a:r>
              <a:rPr lang="fr-FR" dirty="0" err="1"/>
              <a:t>Except</a:t>
            </a:r>
            <a:r>
              <a:rPr lang="fr-FR" dirty="0"/>
              <a:t> for </a:t>
            </a:r>
            <a:r>
              <a:rPr lang="fr-FR" dirty="0" err="1"/>
              <a:t>birds</a:t>
            </a:r>
            <a:r>
              <a:rPr lang="fr-FR" dirty="0"/>
              <a:t> (plots </a:t>
            </a:r>
            <a:r>
              <a:rPr lang="fr-FR" dirty="0" err="1"/>
              <a:t>displaced</a:t>
            </a:r>
            <a:r>
              <a:rPr lang="fr-FR" dirty="0"/>
              <a:t>): </a:t>
            </a:r>
          </a:p>
          <a:p>
            <a:r>
              <a:rPr lang="fr-FR" dirty="0"/>
              <a:t>- % mixture as % pixels over a 70-m radius (IGN </a:t>
            </a:r>
            <a:r>
              <a:rPr lang="fr-FR" dirty="0" err="1"/>
              <a:t>aerial</a:t>
            </a:r>
            <a:r>
              <a:rPr lang="fr-FR" dirty="0"/>
              <a:t> photographies)  </a:t>
            </a:r>
          </a:p>
        </p:txBody>
      </p:sp>
    </p:spTree>
    <p:extLst>
      <p:ext uri="{BB962C8B-B14F-4D97-AF65-F5344CB8AC3E}">
        <p14:creationId xmlns:p14="http://schemas.microsoft.com/office/powerpoint/2010/main" val="3738818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C39E3C8-22BF-4F4A-9F2D-452D9E47CD2C}"/>
              </a:ext>
            </a:extLst>
          </p:cNvPr>
          <p:cNvSpPr/>
          <p:nvPr/>
        </p:nvSpPr>
        <p:spPr>
          <a:xfrm>
            <a:off x="0" y="-3652"/>
            <a:ext cx="12192000" cy="1306286"/>
          </a:xfrm>
          <a:prstGeom prst="rect">
            <a:avLst/>
          </a:prstGeom>
          <a:gradFill flip="none" rotWithShape="1">
            <a:gsLst>
              <a:gs pos="0">
                <a:srgbClr val="004537"/>
              </a:gs>
              <a:gs pos="100000">
                <a:srgbClr val="1F9032"/>
              </a:gs>
            </a:gsLst>
            <a:lin ang="10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132192D3-4B3B-844F-BACF-523380D2E796}"/>
              </a:ext>
            </a:extLst>
          </p:cNvPr>
          <p:cNvSpPr txBox="1"/>
          <p:nvPr/>
        </p:nvSpPr>
        <p:spPr>
          <a:xfrm>
            <a:off x="0" y="3492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 err="1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Biodiversity</a:t>
            </a:r>
            <a:r>
              <a:rPr lang="fr-FR" sz="4000" b="1" dirty="0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 sampling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906F80A-B3E0-0198-9799-6C7D9EDBA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51662-EAF4-4F13-861F-8A695F40F4A6}" type="slidenum">
              <a:rPr lang="fr-FR" smtClean="0"/>
              <a:t>7</a:t>
            </a:fld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CE28F9C-FEEA-B20F-FE38-CA3B5219072F}"/>
              </a:ext>
            </a:extLst>
          </p:cNvPr>
          <p:cNvSpPr txBox="1"/>
          <p:nvPr/>
        </p:nvSpPr>
        <p:spPr>
          <a:xfrm>
            <a:off x="662268" y="1829272"/>
            <a:ext cx="6992471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/>
              <a:t>Birds</a:t>
            </a:r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/>
              <a:t>All stands </a:t>
            </a:r>
            <a:r>
              <a:rPr lang="fr-FR" dirty="0" err="1"/>
              <a:t>with</a:t>
            </a:r>
            <a:r>
              <a:rPr lang="fr-FR" dirty="0"/>
              <a:t> 3 sites per stand</a:t>
            </a:r>
          </a:p>
          <a:p>
            <a:pPr marL="285750" indent="-285750">
              <a:buFontTx/>
              <a:buChar char="-"/>
            </a:pPr>
            <a:r>
              <a:rPr lang="fr-FR" dirty="0"/>
              <a:t>3 20-min </a:t>
            </a:r>
            <a:r>
              <a:rPr lang="fr-FR" dirty="0" err="1"/>
              <a:t>counts</a:t>
            </a:r>
            <a:r>
              <a:rPr lang="fr-FR" dirty="0"/>
              <a:t> per site (April-June) in 2010 </a:t>
            </a:r>
            <a:r>
              <a:rPr lang="fr-FR" dirty="0" err="1"/>
              <a:t>done</a:t>
            </a:r>
            <a:r>
              <a:rPr lang="fr-FR" dirty="0"/>
              <a:t> by 3 </a:t>
            </a:r>
            <a:r>
              <a:rPr lang="fr-FR" dirty="0" err="1"/>
              <a:t>observers</a:t>
            </a:r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/>
              <a:t>All </a:t>
            </a:r>
            <a:r>
              <a:rPr lang="fr-FR" dirty="0" err="1"/>
              <a:t>birds</a:t>
            </a:r>
            <a:r>
              <a:rPr lang="fr-FR" dirty="0"/>
              <a:t> </a:t>
            </a:r>
            <a:r>
              <a:rPr lang="fr-FR" dirty="0" err="1"/>
              <a:t>recorded</a:t>
            </a:r>
            <a:r>
              <a:rPr lang="fr-FR" dirty="0"/>
              <a:t> in a 70-m radius</a:t>
            </a:r>
          </a:p>
          <a:p>
            <a:pPr marL="285750" indent="-285750">
              <a:buFontTx/>
              <a:buChar char="-"/>
            </a:pPr>
            <a:r>
              <a:rPr lang="fr-FR" dirty="0"/>
              <a:t>Final data set: 66 point </a:t>
            </a:r>
            <a:r>
              <a:rPr lang="fr-FR" dirty="0" err="1"/>
              <a:t>counts</a:t>
            </a:r>
            <a:r>
              <a:rPr lang="fr-FR" dirty="0"/>
              <a:t> for 22 stands</a:t>
            </a:r>
          </a:p>
          <a:p>
            <a:pPr marL="285750" indent="-285750">
              <a:buFontTx/>
              <a:buChar char="-"/>
            </a:pPr>
            <a:r>
              <a:rPr lang="fr-FR" dirty="0" err="1"/>
              <a:t>Species</a:t>
            </a:r>
            <a:r>
              <a:rPr lang="fr-FR" dirty="0"/>
              <a:t> </a:t>
            </a:r>
            <a:r>
              <a:rPr lang="fr-FR" dirty="0" err="1"/>
              <a:t>abundance</a:t>
            </a:r>
            <a:r>
              <a:rPr lang="fr-FR" dirty="0"/>
              <a:t>=maximum </a:t>
            </a:r>
            <a:r>
              <a:rPr lang="fr-FR" dirty="0" err="1"/>
              <a:t>number</a:t>
            </a:r>
            <a:r>
              <a:rPr lang="fr-FR" dirty="0"/>
              <a:t> of </a:t>
            </a:r>
            <a:r>
              <a:rPr lang="fr-FR" dirty="0" err="1"/>
              <a:t>individuals</a:t>
            </a:r>
            <a:endParaRPr lang="fr-FR" dirty="0"/>
          </a:p>
          <a:p>
            <a:pPr marL="285750" indent="-285750">
              <a:buFontTx/>
              <a:buChar char="-"/>
            </a:pPr>
            <a:endParaRPr lang="fr-FR" dirty="0"/>
          </a:p>
          <a:p>
            <a:r>
              <a:rPr lang="fr-FR" dirty="0"/>
              <a:t>Ground </a:t>
            </a:r>
            <a:r>
              <a:rPr lang="fr-FR" dirty="0" err="1"/>
              <a:t>beetles</a:t>
            </a:r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 err="1"/>
              <a:t>Subset</a:t>
            </a:r>
            <a:r>
              <a:rPr lang="fr-FR" dirty="0"/>
              <a:t> of 18 stands </a:t>
            </a:r>
            <a:r>
              <a:rPr lang="fr-FR" dirty="0" err="1"/>
              <a:t>with</a:t>
            </a:r>
            <a:r>
              <a:rPr lang="fr-FR" dirty="0"/>
              <a:t> 100 </a:t>
            </a:r>
            <a:r>
              <a:rPr lang="fr-FR" dirty="0" err="1"/>
              <a:t>pitfall</a:t>
            </a:r>
            <a:r>
              <a:rPr lang="fr-FR" dirty="0"/>
              <a:t> traps</a:t>
            </a:r>
          </a:p>
          <a:p>
            <a:pPr marL="285750" indent="-285750">
              <a:buFontTx/>
              <a:buChar char="-"/>
            </a:pPr>
            <a:r>
              <a:rPr lang="fr-FR" dirty="0"/>
              <a:t>6 </a:t>
            </a:r>
            <a:r>
              <a:rPr lang="fr-FR" dirty="0" err="1"/>
              <a:t>monthly</a:t>
            </a:r>
            <a:r>
              <a:rPr lang="fr-FR" dirty="0"/>
              <a:t> relevés 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mid</a:t>
            </a:r>
            <a:r>
              <a:rPr lang="fr-FR" dirty="0"/>
              <a:t>-April 14 to </a:t>
            </a:r>
            <a:r>
              <a:rPr lang="fr-FR" dirty="0" err="1"/>
              <a:t>mid-October</a:t>
            </a:r>
            <a:r>
              <a:rPr lang="fr-FR" dirty="0"/>
              <a:t> 2009</a:t>
            </a:r>
          </a:p>
          <a:p>
            <a:pPr marL="285750" indent="-285750">
              <a:buFontTx/>
              <a:buChar char="-"/>
            </a:pPr>
            <a:r>
              <a:rPr lang="fr-FR" dirty="0"/>
              <a:t>Data </a:t>
            </a:r>
            <a:r>
              <a:rPr lang="fr-FR" dirty="0" err="1"/>
              <a:t>selected</a:t>
            </a:r>
            <a:r>
              <a:rPr lang="fr-FR" dirty="0"/>
              <a:t> </a:t>
            </a:r>
            <a:r>
              <a:rPr lang="fr-FR" dirty="0" err="1"/>
              <a:t>only</a:t>
            </a:r>
            <a:r>
              <a:rPr lang="fr-FR" dirty="0"/>
              <a:t> if 5 or 6 relevés </a:t>
            </a:r>
            <a:r>
              <a:rPr lang="fr-FR" dirty="0" err="1"/>
              <a:t>with</a:t>
            </a:r>
            <a:r>
              <a:rPr lang="fr-FR" dirty="0"/>
              <a:t> no damages by </a:t>
            </a:r>
            <a:r>
              <a:rPr lang="fr-FR" dirty="0" err="1"/>
              <a:t>wild</a:t>
            </a:r>
            <a:r>
              <a:rPr lang="fr-FR" dirty="0"/>
              <a:t> </a:t>
            </a:r>
            <a:r>
              <a:rPr lang="fr-FR" dirty="0" err="1"/>
              <a:t>boar</a:t>
            </a:r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/>
              <a:t>Final data set: 68 </a:t>
            </a:r>
            <a:r>
              <a:rPr lang="fr-FR" dirty="0" err="1"/>
              <a:t>pitfall</a:t>
            </a:r>
            <a:r>
              <a:rPr lang="fr-FR" dirty="0"/>
              <a:t> traps for 15 stands</a:t>
            </a:r>
          </a:p>
          <a:p>
            <a:endParaRPr lang="fr-FR" dirty="0"/>
          </a:p>
          <a:p>
            <a:r>
              <a:rPr lang="fr-FR" dirty="0" err="1"/>
              <a:t>Saproxylic</a:t>
            </a:r>
            <a:r>
              <a:rPr lang="fr-FR" dirty="0"/>
              <a:t> </a:t>
            </a:r>
            <a:r>
              <a:rPr lang="fr-FR" dirty="0" err="1"/>
              <a:t>beetles</a:t>
            </a:r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 err="1"/>
              <a:t>Subset</a:t>
            </a:r>
            <a:r>
              <a:rPr lang="fr-FR" dirty="0"/>
              <a:t> of 21 stands </a:t>
            </a:r>
            <a:r>
              <a:rPr lang="fr-FR" dirty="0" err="1"/>
              <a:t>with</a:t>
            </a:r>
            <a:r>
              <a:rPr lang="fr-FR" dirty="0"/>
              <a:t> 2-3 Lindgren traps per stand</a:t>
            </a:r>
          </a:p>
          <a:p>
            <a:pPr marL="285750" indent="-285750">
              <a:buFontTx/>
              <a:buChar char="-"/>
            </a:pPr>
            <a:r>
              <a:rPr lang="fr-FR" dirty="0"/>
              <a:t>3 relevés </a:t>
            </a:r>
            <a:r>
              <a:rPr lang="fr-FR" dirty="0" err="1"/>
              <a:t>from</a:t>
            </a:r>
            <a:r>
              <a:rPr lang="fr-FR" dirty="0"/>
              <a:t> April to July</a:t>
            </a:r>
          </a:p>
          <a:p>
            <a:pPr marL="285750" indent="-285750">
              <a:buFontTx/>
              <a:buChar char="-"/>
            </a:pPr>
            <a:r>
              <a:rPr lang="fr-FR" dirty="0"/>
              <a:t>Final data set: 48 Lindgren traps for 21 stands</a:t>
            </a:r>
          </a:p>
          <a:p>
            <a:pPr marL="285750" indent="-285750">
              <a:buFontTx/>
              <a:buChar char="-"/>
            </a:pPr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75CCE68-28AB-6DE3-0B9F-61F3AAA4078C}"/>
              </a:ext>
            </a:extLst>
          </p:cNvPr>
          <p:cNvSpPr txBox="1"/>
          <p:nvPr/>
        </p:nvSpPr>
        <p:spPr>
          <a:xfrm>
            <a:off x="7570695" y="2574064"/>
            <a:ext cx="17091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39 </a:t>
            </a:r>
            <a:r>
              <a:rPr lang="fr-FR" dirty="0" err="1"/>
              <a:t>species</a:t>
            </a:r>
            <a:endParaRPr lang="fr-FR" dirty="0"/>
          </a:p>
          <a:p>
            <a:r>
              <a:rPr lang="fr-FR" dirty="0"/>
              <a:t>1304 </a:t>
            </a:r>
            <a:r>
              <a:rPr lang="fr-FR" dirty="0" err="1"/>
              <a:t>individuals</a:t>
            </a:r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B6BBE5D-FB7F-D357-3FB4-A806B3928077}"/>
              </a:ext>
            </a:extLst>
          </p:cNvPr>
          <p:cNvSpPr txBox="1"/>
          <p:nvPr/>
        </p:nvSpPr>
        <p:spPr>
          <a:xfrm>
            <a:off x="7612717" y="4287382"/>
            <a:ext cx="17091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28 </a:t>
            </a:r>
            <a:r>
              <a:rPr lang="fr-FR" dirty="0" err="1"/>
              <a:t>species</a:t>
            </a:r>
            <a:endParaRPr lang="fr-FR" dirty="0"/>
          </a:p>
          <a:p>
            <a:r>
              <a:rPr lang="fr-FR" dirty="0"/>
              <a:t>1837 </a:t>
            </a:r>
            <a:r>
              <a:rPr lang="fr-FR" dirty="0" err="1"/>
              <a:t>individuals</a:t>
            </a: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DC5E491-DD66-BF94-EDB2-B514DCDE81AF}"/>
              </a:ext>
            </a:extLst>
          </p:cNvPr>
          <p:cNvSpPr txBox="1"/>
          <p:nvPr/>
        </p:nvSpPr>
        <p:spPr>
          <a:xfrm>
            <a:off x="7654739" y="5801852"/>
            <a:ext cx="17091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203 </a:t>
            </a:r>
            <a:r>
              <a:rPr lang="fr-FR" dirty="0" err="1"/>
              <a:t>species</a:t>
            </a:r>
            <a:endParaRPr lang="fr-FR" dirty="0"/>
          </a:p>
          <a:p>
            <a:r>
              <a:rPr lang="fr-FR" dirty="0"/>
              <a:t>8164 </a:t>
            </a:r>
            <a:r>
              <a:rPr lang="fr-FR" dirty="0" err="1"/>
              <a:t>individuals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87126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C39E3C8-22BF-4F4A-9F2D-452D9E47CD2C}"/>
              </a:ext>
            </a:extLst>
          </p:cNvPr>
          <p:cNvSpPr/>
          <p:nvPr/>
        </p:nvSpPr>
        <p:spPr>
          <a:xfrm>
            <a:off x="0" y="-3652"/>
            <a:ext cx="12192000" cy="1306286"/>
          </a:xfrm>
          <a:prstGeom prst="rect">
            <a:avLst/>
          </a:prstGeom>
          <a:gradFill flip="none" rotWithShape="1">
            <a:gsLst>
              <a:gs pos="0">
                <a:srgbClr val="004537"/>
              </a:gs>
              <a:gs pos="100000">
                <a:srgbClr val="1F9032"/>
              </a:gs>
            </a:gsLst>
            <a:lin ang="10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132192D3-4B3B-844F-BACF-523380D2E796}"/>
              </a:ext>
            </a:extLst>
          </p:cNvPr>
          <p:cNvSpPr txBox="1"/>
          <p:nvPr/>
        </p:nvSpPr>
        <p:spPr>
          <a:xfrm>
            <a:off x="0" y="3492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 err="1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Statistical</a:t>
            </a:r>
            <a:r>
              <a:rPr lang="fr-FR" sz="4000" b="1" dirty="0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 analyses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906F80A-B3E0-0198-9799-6C7D9EDBA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51662-EAF4-4F13-861F-8A695F40F4A6}" type="slidenum">
              <a:rPr lang="fr-FR" smtClean="0"/>
              <a:t>8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FB28A63-B5EF-4F5C-6578-B465B0122F27}"/>
              </a:ext>
            </a:extLst>
          </p:cNvPr>
          <p:cNvSpPr txBox="1"/>
          <p:nvPr/>
        </p:nvSpPr>
        <p:spPr>
          <a:xfrm>
            <a:off x="3101788" y="2513310"/>
            <a:ext cx="959223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/>
              <a:t>Species</a:t>
            </a:r>
            <a:r>
              <a:rPr lang="fr-FR" dirty="0"/>
              <a:t> </a:t>
            </a:r>
            <a:r>
              <a:rPr lang="fr-FR" dirty="0" err="1"/>
              <a:t>richness</a:t>
            </a:r>
            <a:r>
              <a:rPr lang="fr-FR" dirty="0"/>
              <a:t>/</a:t>
            </a:r>
            <a:r>
              <a:rPr lang="fr-FR" dirty="0" err="1"/>
              <a:t>abundance</a:t>
            </a:r>
            <a:r>
              <a:rPr lang="fr-FR" dirty="0"/>
              <a:t> ~ G + mixture + mixture</a:t>
            </a:r>
            <a:r>
              <a:rPr lang="fr-FR" baseline="30000" dirty="0"/>
              <a:t>^2</a:t>
            </a:r>
            <a:r>
              <a:rPr lang="fr-FR" dirty="0"/>
              <a:t> + (1|stand)</a:t>
            </a:r>
          </a:p>
          <a:p>
            <a:r>
              <a:rPr lang="fr-FR" dirty="0" err="1"/>
              <a:t>Species</a:t>
            </a:r>
            <a:r>
              <a:rPr lang="fr-FR" dirty="0"/>
              <a:t> </a:t>
            </a:r>
            <a:r>
              <a:rPr lang="fr-FR" dirty="0" err="1"/>
              <a:t>richness</a:t>
            </a:r>
            <a:r>
              <a:rPr lang="fr-FR" dirty="0"/>
              <a:t>/</a:t>
            </a:r>
            <a:r>
              <a:rPr lang="fr-FR" dirty="0" err="1"/>
              <a:t>abundance</a:t>
            </a:r>
            <a:r>
              <a:rPr lang="fr-FR" dirty="0"/>
              <a:t> ~ G + mixture + (1|stand)</a:t>
            </a:r>
          </a:p>
          <a:p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F774E24-1713-DEAD-8AFA-126450D65622}"/>
              </a:ext>
            </a:extLst>
          </p:cNvPr>
          <p:cNvSpPr txBox="1"/>
          <p:nvPr/>
        </p:nvSpPr>
        <p:spPr>
          <a:xfrm>
            <a:off x="510988" y="1907972"/>
            <a:ext cx="86078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Differences</a:t>
            </a:r>
            <a:r>
              <a:rPr lang="fr-FR" dirty="0"/>
              <a:t> in </a:t>
            </a:r>
            <a:r>
              <a:rPr lang="fr-FR" dirty="0" err="1"/>
              <a:t>species</a:t>
            </a:r>
            <a:r>
              <a:rPr lang="fr-FR" dirty="0"/>
              <a:t> </a:t>
            </a:r>
            <a:r>
              <a:rPr lang="fr-FR" dirty="0" err="1"/>
              <a:t>richness</a:t>
            </a:r>
            <a:r>
              <a:rPr lang="fr-FR" dirty="0"/>
              <a:t> and </a:t>
            </a:r>
            <a:r>
              <a:rPr lang="fr-FR" dirty="0" err="1"/>
              <a:t>abundance</a:t>
            </a:r>
            <a:endParaRPr lang="fr-FR" dirty="0"/>
          </a:p>
          <a:p>
            <a:r>
              <a:rPr lang="fr-FR" dirty="0">
                <a:sym typeface="Wingdings" panose="05000000000000000000" pitchFamily="2" charset="2"/>
              </a:rPr>
              <a:t>	 </a:t>
            </a:r>
            <a:r>
              <a:rPr lang="fr-FR" dirty="0"/>
              <a:t>GLMM (</a:t>
            </a:r>
            <a:r>
              <a:rPr lang="fr-FR" dirty="0" err="1"/>
              <a:t>glmmTMB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Poisson or </a:t>
            </a:r>
            <a:r>
              <a:rPr lang="fr-FR" dirty="0" err="1"/>
              <a:t>NegBin</a:t>
            </a:r>
            <a:r>
              <a:rPr lang="fr-FR" dirty="0"/>
              <a:t>) </a:t>
            </a:r>
            <a:r>
              <a:rPr lang="fr-FR" dirty="0" err="1"/>
              <a:t>with</a:t>
            </a:r>
            <a:r>
              <a:rPr lang="fr-FR" dirty="0"/>
              <a:t> model </a:t>
            </a:r>
            <a:r>
              <a:rPr lang="fr-FR" dirty="0" err="1"/>
              <a:t>comparison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AICc</a:t>
            </a:r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6D06424-D18A-8349-C006-4FA5B5C3F046}"/>
              </a:ext>
            </a:extLst>
          </p:cNvPr>
          <p:cNvSpPr txBox="1"/>
          <p:nvPr/>
        </p:nvSpPr>
        <p:spPr>
          <a:xfrm>
            <a:off x="510988" y="3429000"/>
            <a:ext cx="109334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Differences</a:t>
            </a:r>
            <a:r>
              <a:rPr lang="fr-FR" dirty="0"/>
              <a:t> in </a:t>
            </a:r>
            <a:r>
              <a:rPr lang="fr-FR" dirty="0" err="1"/>
              <a:t>species</a:t>
            </a:r>
            <a:r>
              <a:rPr lang="fr-FR" dirty="0"/>
              <a:t> assemblages</a:t>
            </a:r>
          </a:p>
          <a:p>
            <a:r>
              <a:rPr lang="fr-FR" dirty="0">
                <a:sym typeface="Wingdings" panose="05000000000000000000" pitchFamily="2" charset="2"/>
              </a:rPr>
              <a:t>	</a:t>
            </a:r>
            <a:r>
              <a:rPr lang="fr-FR" dirty="0"/>
              <a:t> </a:t>
            </a:r>
            <a:r>
              <a:rPr lang="fr-FR" dirty="0" err="1"/>
              <a:t>Redundancy</a:t>
            </a:r>
            <a:r>
              <a:rPr lang="fr-FR" dirty="0"/>
              <a:t> </a:t>
            </a:r>
            <a:r>
              <a:rPr lang="fr-FR" dirty="0" err="1"/>
              <a:t>analysis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mixture </a:t>
            </a:r>
            <a:r>
              <a:rPr lang="fr-FR" dirty="0" err="1"/>
              <a:t>categories</a:t>
            </a:r>
            <a:r>
              <a:rPr lang="fr-FR" dirty="0"/>
              <a:t> (pure if </a:t>
            </a:r>
            <a:r>
              <a:rPr lang="fr-FR" dirty="0" err="1"/>
              <a:t>oaks</a:t>
            </a:r>
            <a:r>
              <a:rPr lang="fr-FR" dirty="0"/>
              <a:t> or pines &gt;80% in G</a:t>
            </a:r>
            <a:r>
              <a:rPr lang="fr-FR" baseline="-25000" dirty="0"/>
              <a:t>oak+pine</a:t>
            </a:r>
            <a:r>
              <a:rPr lang="fr-FR" dirty="0"/>
              <a:t>; mixed </a:t>
            </a:r>
            <a:r>
              <a:rPr lang="fr-FR" dirty="0" err="1"/>
              <a:t>otherwise</a:t>
            </a:r>
            <a:r>
              <a:rPr lang="fr-FR" dirty="0"/>
              <a:t>)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1AD9072C-B1CB-C2B6-D124-AC7134BF5C42}"/>
              </a:ext>
            </a:extLst>
          </p:cNvPr>
          <p:cNvSpPr txBox="1"/>
          <p:nvPr/>
        </p:nvSpPr>
        <p:spPr>
          <a:xfrm>
            <a:off x="510988" y="4566761"/>
            <a:ext cx="37846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Species</a:t>
            </a:r>
            <a:r>
              <a:rPr lang="fr-FR" dirty="0"/>
              <a:t> </a:t>
            </a:r>
            <a:r>
              <a:rPr lang="fr-FR" dirty="0" err="1"/>
              <a:t>related</a:t>
            </a:r>
            <a:r>
              <a:rPr lang="fr-FR" dirty="0"/>
              <a:t> to pure or mixed stand</a:t>
            </a:r>
          </a:p>
          <a:p>
            <a:r>
              <a:rPr lang="fr-FR" dirty="0">
                <a:sym typeface="Wingdings" panose="05000000000000000000" pitchFamily="2" charset="2"/>
              </a:rPr>
              <a:t>	 Ridge plots and</a:t>
            </a:r>
            <a:r>
              <a:rPr lang="fr-FR" dirty="0"/>
              <a:t> </a:t>
            </a:r>
            <a:r>
              <a:rPr lang="fr-FR" dirty="0" err="1"/>
              <a:t>IndVal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31158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C39E3C8-22BF-4F4A-9F2D-452D9E47CD2C}"/>
              </a:ext>
            </a:extLst>
          </p:cNvPr>
          <p:cNvSpPr/>
          <p:nvPr/>
        </p:nvSpPr>
        <p:spPr>
          <a:xfrm>
            <a:off x="0" y="-3652"/>
            <a:ext cx="12192000" cy="1306286"/>
          </a:xfrm>
          <a:prstGeom prst="rect">
            <a:avLst/>
          </a:prstGeom>
          <a:gradFill flip="none" rotWithShape="1">
            <a:gsLst>
              <a:gs pos="0">
                <a:srgbClr val="004537"/>
              </a:gs>
              <a:gs pos="100000">
                <a:srgbClr val="1F9032"/>
              </a:gs>
            </a:gsLst>
            <a:lin ang="10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132192D3-4B3B-844F-BACF-523380D2E796}"/>
              </a:ext>
            </a:extLst>
          </p:cNvPr>
          <p:cNvSpPr txBox="1"/>
          <p:nvPr/>
        </p:nvSpPr>
        <p:spPr>
          <a:xfrm>
            <a:off x="0" y="3492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 err="1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Results</a:t>
            </a:r>
            <a:r>
              <a:rPr lang="fr-FR" sz="4000" b="1" dirty="0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 – </a:t>
            </a:r>
            <a:r>
              <a:rPr lang="fr-FR" sz="4000" b="1" dirty="0" err="1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birds</a:t>
            </a:r>
            <a:endParaRPr lang="fr-FR" sz="4000" b="1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906F80A-B3E0-0198-9799-6C7D9EDBA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51662-EAF4-4F13-861F-8A695F40F4A6}" type="slidenum">
              <a:rPr lang="fr-FR" smtClean="0"/>
              <a:t>9</a:t>
            </a:fld>
            <a:endParaRPr lang="fr-FR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C3363117-C944-81E2-BE23-049C83BBDEE2}"/>
              </a:ext>
            </a:extLst>
          </p:cNvPr>
          <p:cNvSpPr txBox="1"/>
          <p:nvPr/>
        </p:nvSpPr>
        <p:spPr>
          <a:xfrm>
            <a:off x="2794457" y="3646859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P=0.055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8CD8759C-2435-EDB5-607E-9A30E46CCBA6}"/>
              </a:ext>
            </a:extLst>
          </p:cNvPr>
          <p:cNvSpPr txBox="1"/>
          <p:nvPr/>
        </p:nvSpPr>
        <p:spPr>
          <a:xfrm>
            <a:off x="2120175" y="1406101"/>
            <a:ext cx="2852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Species</a:t>
            </a:r>
            <a:r>
              <a:rPr lang="fr-FR" dirty="0"/>
              <a:t> </a:t>
            </a:r>
            <a:r>
              <a:rPr lang="fr-FR" dirty="0" err="1"/>
              <a:t>richness</a:t>
            </a:r>
            <a:r>
              <a:rPr lang="fr-FR" dirty="0"/>
              <a:t> (all </a:t>
            </a:r>
            <a:r>
              <a:rPr lang="fr-FR" dirty="0" err="1"/>
              <a:t>species</a:t>
            </a:r>
            <a:r>
              <a:rPr lang="fr-FR" dirty="0"/>
              <a:t>)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4F5B7951-F8BD-6230-CF63-5E52EB3D7412}"/>
              </a:ext>
            </a:extLst>
          </p:cNvPr>
          <p:cNvSpPr txBox="1"/>
          <p:nvPr/>
        </p:nvSpPr>
        <p:spPr>
          <a:xfrm>
            <a:off x="8063775" y="1406101"/>
            <a:ext cx="2396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Abundance</a:t>
            </a:r>
            <a:r>
              <a:rPr lang="fr-FR" dirty="0"/>
              <a:t> (all </a:t>
            </a:r>
            <a:r>
              <a:rPr lang="fr-FR" dirty="0" err="1"/>
              <a:t>species</a:t>
            </a:r>
            <a:r>
              <a:rPr lang="fr-FR" dirty="0"/>
              <a:t>)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537ED28-3528-C683-D729-C715FCFE0E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74" y="1732979"/>
            <a:ext cx="5679246" cy="4719619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90CAAE0B-FDE3-215C-E18E-90BE7D8EDD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1038" y="1732979"/>
            <a:ext cx="5679246" cy="4719619"/>
          </a:xfrm>
          <a:prstGeom prst="rect">
            <a:avLst/>
          </a:prstGeom>
        </p:spPr>
      </p:pic>
      <p:pic>
        <p:nvPicPr>
          <p:cNvPr id="1030" name="Picture 6" descr="Pin Sylvestre | BIOLYS">
            <a:extLst>
              <a:ext uri="{FF2B5EF4-FFF2-40B4-BE49-F238E27FC236}">
                <a16:creationId xmlns:a16="http://schemas.microsoft.com/office/drawing/2014/main" id="{A4C07FE4-A405-7E5C-0028-097608129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575066">
            <a:off x="506505" y="6146622"/>
            <a:ext cx="663390" cy="663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euille de chêne vert isolé sur fond blanc | Photo Premium">
            <a:extLst>
              <a:ext uri="{FF2B5EF4-FFF2-40B4-BE49-F238E27FC236}">
                <a16:creationId xmlns:a16="http://schemas.microsoft.com/office/drawing/2014/main" id="{2B8A0403-AC36-BF95-5C44-0DD228B66A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3473" y="6146623"/>
            <a:ext cx="663389" cy="663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Pin Sylvestre | BIOLYS">
            <a:extLst>
              <a:ext uri="{FF2B5EF4-FFF2-40B4-BE49-F238E27FC236}">
                <a16:creationId xmlns:a16="http://schemas.microsoft.com/office/drawing/2014/main" id="{828B4C79-3795-46E0-29DA-A63B33E47C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575066">
            <a:off x="2911472" y="6392022"/>
            <a:ext cx="501230" cy="501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Feuille de chêne vert isolé sur fond blanc | Photo Premium">
            <a:extLst>
              <a:ext uri="{FF2B5EF4-FFF2-40B4-BE49-F238E27FC236}">
                <a16:creationId xmlns:a16="http://schemas.microsoft.com/office/drawing/2014/main" id="{E04ED324-5EEF-306A-BAB9-A00F649798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4717" y="6446361"/>
            <a:ext cx="392552" cy="392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Pin Sylvestre | BIOLYS">
            <a:extLst>
              <a:ext uri="{FF2B5EF4-FFF2-40B4-BE49-F238E27FC236}">
                <a16:creationId xmlns:a16="http://schemas.microsoft.com/office/drawing/2014/main" id="{5E41EA36-F283-3011-4778-5F80856A29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575066">
            <a:off x="6333560" y="6155587"/>
            <a:ext cx="663390" cy="663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Feuille de chêne vert isolé sur fond blanc | Photo Premium">
            <a:extLst>
              <a:ext uri="{FF2B5EF4-FFF2-40B4-BE49-F238E27FC236}">
                <a16:creationId xmlns:a16="http://schemas.microsoft.com/office/drawing/2014/main" id="{8F3C0511-232A-2849-B8CE-2C6CF8E420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0528" y="6155588"/>
            <a:ext cx="663389" cy="663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Pin Sylvestre | BIOLYS">
            <a:extLst>
              <a:ext uri="{FF2B5EF4-FFF2-40B4-BE49-F238E27FC236}">
                <a16:creationId xmlns:a16="http://schemas.microsoft.com/office/drawing/2014/main" id="{1A771FD3-BA09-B652-A346-1FA37ECCA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575066">
            <a:off x="8738527" y="6400987"/>
            <a:ext cx="501230" cy="501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Feuille de chêne vert isolé sur fond blanc | Photo Premium">
            <a:extLst>
              <a:ext uri="{FF2B5EF4-FFF2-40B4-BE49-F238E27FC236}">
                <a16:creationId xmlns:a16="http://schemas.microsoft.com/office/drawing/2014/main" id="{89ECB079-19F0-4FB2-F8A4-18149C35F4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1772" y="6455326"/>
            <a:ext cx="392552" cy="392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6048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C39E3C8-22BF-4F4A-9F2D-452D9E47CD2C}"/>
              </a:ext>
            </a:extLst>
          </p:cNvPr>
          <p:cNvSpPr/>
          <p:nvPr/>
        </p:nvSpPr>
        <p:spPr>
          <a:xfrm>
            <a:off x="0" y="-3652"/>
            <a:ext cx="12192000" cy="1306286"/>
          </a:xfrm>
          <a:prstGeom prst="rect">
            <a:avLst/>
          </a:prstGeom>
          <a:gradFill flip="none" rotWithShape="1">
            <a:gsLst>
              <a:gs pos="0">
                <a:srgbClr val="004537"/>
              </a:gs>
              <a:gs pos="100000">
                <a:srgbClr val="1F9032"/>
              </a:gs>
            </a:gsLst>
            <a:lin ang="10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132192D3-4B3B-844F-BACF-523380D2E796}"/>
              </a:ext>
            </a:extLst>
          </p:cNvPr>
          <p:cNvSpPr txBox="1"/>
          <p:nvPr/>
        </p:nvSpPr>
        <p:spPr>
          <a:xfrm>
            <a:off x="0" y="3492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 err="1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Results</a:t>
            </a:r>
            <a:r>
              <a:rPr lang="fr-FR" sz="4000" b="1" dirty="0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 – </a:t>
            </a:r>
            <a:r>
              <a:rPr lang="fr-FR" sz="4000" b="1" dirty="0" err="1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birds</a:t>
            </a:r>
            <a:endParaRPr lang="fr-FR" sz="4000" b="1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906F80A-B3E0-0198-9799-6C7D9EDBA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51662-EAF4-4F13-861F-8A695F40F4A6}" type="slidenum">
              <a:rPr lang="fr-FR" smtClean="0"/>
              <a:t>10</a:t>
            </a:fld>
            <a:endParaRPr lang="fr-FR"/>
          </a:p>
        </p:txBody>
      </p:sp>
      <p:pic>
        <p:nvPicPr>
          <p:cNvPr id="7" name="Picture 6" descr="Pin Sylvestre | BIOLYS">
            <a:extLst>
              <a:ext uri="{FF2B5EF4-FFF2-40B4-BE49-F238E27FC236}">
                <a16:creationId xmlns:a16="http://schemas.microsoft.com/office/drawing/2014/main" id="{828B4C79-3795-46E0-29DA-A63B33E47C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575066">
            <a:off x="265868" y="5948167"/>
            <a:ext cx="501230" cy="501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Feuille de chêne vert isolé sur fond blanc | Photo Premium">
            <a:extLst>
              <a:ext uri="{FF2B5EF4-FFF2-40B4-BE49-F238E27FC236}">
                <a16:creationId xmlns:a16="http://schemas.microsoft.com/office/drawing/2014/main" id="{E04ED324-5EEF-306A-BAB9-A00F649798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5270" y="6062774"/>
            <a:ext cx="392552" cy="392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4597E996-0183-6CF6-D1A0-2A2510BAFC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572" y="2558667"/>
            <a:ext cx="4105644" cy="3461621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B018DAAD-3C10-A5D1-7EAE-91B5C0C05AD4}"/>
              </a:ext>
            </a:extLst>
          </p:cNvPr>
          <p:cNvSpPr txBox="1"/>
          <p:nvPr/>
        </p:nvSpPr>
        <p:spPr>
          <a:xfrm>
            <a:off x="869324" y="1872686"/>
            <a:ext cx="2797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Species</a:t>
            </a:r>
            <a:r>
              <a:rPr lang="fr-FR" dirty="0"/>
              <a:t> </a:t>
            </a:r>
            <a:r>
              <a:rPr lang="fr-FR" dirty="0" err="1"/>
              <a:t>richness</a:t>
            </a:r>
            <a:r>
              <a:rPr lang="fr-FR" dirty="0"/>
              <a:t> - </a:t>
            </a:r>
            <a:r>
              <a:rPr lang="fr-FR" dirty="0" err="1"/>
              <a:t>generalist</a:t>
            </a:r>
            <a:endParaRPr lang="fr-FR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FE36C52E-A29B-387C-9EE8-FB3750231138}"/>
              </a:ext>
            </a:extLst>
          </p:cNvPr>
          <p:cNvSpPr txBox="1"/>
          <p:nvPr/>
        </p:nvSpPr>
        <p:spPr>
          <a:xfrm>
            <a:off x="4522090" y="1881075"/>
            <a:ext cx="3290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Species</a:t>
            </a:r>
            <a:r>
              <a:rPr lang="fr-FR" dirty="0"/>
              <a:t> </a:t>
            </a:r>
            <a:r>
              <a:rPr lang="fr-FR" dirty="0" err="1"/>
              <a:t>richness</a:t>
            </a:r>
            <a:r>
              <a:rPr lang="fr-FR" dirty="0"/>
              <a:t> – </a:t>
            </a:r>
            <a:r>
              <a:rPr lang="fr-FR" dirty="0" err="1"/>
              <a:t>true</a:t>
            </a:r>
            <a:r>
              <a:rPr lang="fr-FR" dirty="0"/>
              <a:t> </a:t>
            </a:r>
            <a:r>
              <a:rPr lang="fr-FR" dirty="0" err="1"/>
              <a:t>generalist</a:t>
            </a:r>
            <a:endParaRPr lang="fr-FR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303F8A7E-FEEF-A781-574B-DF323BD3C1A1}"/>
              </a:ext>
            </a:extLst>
          </p:cNvPr>
          <p:cNvSpPr txBox="1"/>
          <p:nvPr/>
        </p:nvSpPr>
        <p:spPr>
          <a:xfrm>
            <a:off x="8461202" y="1871962"/>
            <a:ext cx="3634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Species</a:t>
            </a:r>
            <a:r>
              <a:rPr lang="fr-FR" dirty="0"/>
              <a:t> </a:t>
            </a:r>
            <a:r>
              <a:rPr lang="fr-FR" dirty="0" err="1"/>
              <a:t>richness</a:t>
            </a:r>
            <a:r>
              <a:rPr lang="fr-FR" dirty="0"/>
              <a:t> – </a:t>
            </a:r>
            <a:r>
              <a:rPr lang="fr-FR" dirty="0" err="1"/>
              <a:t>oak</a:t>
            </a:r>
            <a:r>
              <a:rPr lang="fr-FR" dirty="0"/>
              <a:t>-mixed stands</a:t>
            </a:r>
          </a:p>
        </p:txBody>
      </p:sp>
      <p:pic>
        <p:nvPicPr>
          <p:cNvPr id="18" name="Picture 6" descr="Pin Sylvestre | BIOLYS">
            <a:extLst>
              <a:ext uri="{FF2B5EF4-FFF2-40B4-BE49-F238E27FC236}">
                <a16:creationId xmlns:a16="http://schemas.microsoft.com/office/drawing/2014/main" id="{3BC38E40-8F8C-5F50-FC5C-E0CA117C79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575066">
            <a:off x="4273623" y="5999076"/>
            <a:ext cx="501230" cy="501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4" descr="Feuille de chêne vert isolé sur fond blanc | Photo Premium">
            <a:extLst>
              <a:ext uri="{FF2B5EF4-FFF2-40B4-BE49-F238E27FC236}">
                <a16:creationId xmlns:a16="http://schemas.microsoft.com/office/drawing/2014/main" id="{1720312B-622E-A073-606D-204295A5C2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3025" y="6113683"/>
            <a:ext cx="392552" cy="392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6" descr="Pin Sylvestre | BIOLYS">
            <a:extLst>
              <a:ext uri="{FF2B5EF4-FFF2-40B4-BE49-F238E27FC236}">
                <a16:creationId xmlns:a16="http://schemas.microsoft.com/office/drawing/2014/main" id="{078B8877-CAE9-4E50-E271-8FA729C0DF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575066">
            <a:off x="8293818" y="6044465"/>
            <a:ext cx="501230" cy="501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 descr="Feuille de chêne vert isolé sur fond blanc | Photo Premium">
            <a:extLst>
              <a:ext uri="{FF2B5EF4-FFF2-40B4-BE49-F238E27FC236}">
                <a16:creationId xmlns:a16="http://schemas.microsoft.com/office/drawing/2014/main" id="{DCEBF2A5-2B87-02B2-1C5F-D925923441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33220" y="6159072"/>
            <a:ext cx="392552" cy="392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14D9D962-D1F8-01B9-3864-4A74AF2B136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97822" y="2614606"/>
            <a:ext cx="4209626" cy="3549292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B1923AD2-D1EA-9203-63A8-B87E3EA7F0C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5577" y="2597971"/>
            <a:ext cx="4240639" cy="3575441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842580F7-FC3B-E499-5CA0-34738966DDC1}"/>
              </a:ext>
            </a:extLst>
          </p:cNvPr>
          <p:cNvSpPr txBox="1"/>
          <p:nvPr/>
        </p:nvSpPr>
        <p:spPr>
          <a:xfrm>
            <a:off x="3982594" y="1871962"/>
            <a:ext cx="377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vs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EABEC8FC-2881-5872-D8E9-3537105734BA}"/>
              </a:ext>
            </a:extLst>
          </p:cNvPr>
          <p:cNvSpPr txBox="1"/>
          <p:nvPr/>
        </p:nvSpPr>
        <p:spPr>
          <a:xfrm>
            <a:off x="5804170" y="1453578"/>
            <a:ext cx="3817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Not </a:t>
            </a:r>
            <a:r>
              <a:rPr lang="fr-FR" dirty="0" err="1">
                <a:solidFill>
                  <a:srgbClr val="FF0000"/>
                </a:solidFill>
              </a:rPr>
              <a:t>convincing</a:t>
            </a:r>
            <a:r>
              <a:rPr lang="fr-FR" dirty="0">
                <a:solidFill>
                  <a:srgbClr val="FF0000"/>
                </a:solidFill>
              </a:rPr>
              <a:t> </a:t>
            </a:r>
            <a:r>
              <a:rPr lang="fr-FR" dirty="0" err="1">
                <a:solidFill>
                  <a:srgbClr val="FF0000"/>
                </a:solidFill>
              </a:rPr>
              <a:t>two</a:t>
            </a:r>
            <a:r>
              <a:rPr lang="fr-FR" dirty="0">
                <a:solidFill>
                  <a:srgbClr val="FF0000"/>
                </a:solidFill>
              </a:rPr>
              <a:t>-class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8174876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C39E3C8-22BF-4F4A-9F2D-452D9E47CD2C}"/>
              </a:ext>
            </a:extLst>
          </p:cNvPr>
          <p:cNvSpPr/>
          <p:nvPr/>
        </p:nvSpPr>
        <p:spPr>
          <a:xfrm>
            <a:off x="0" y="-3652"/>
            <a:ext cx="12192000" cy="1306286"/>
          </a:xfrm>
          <a:prstGeom prst="rect">
            <a:avLst/>
          </a:prstGeom>
          <a:gradFill flip="none" rotWithShape="1">
            <a:gsLst>
              <a:gs pos="0">
                <a:srgbClr val="004537"/>
              </a:gs>
              <a:gs pos="100000">
                <a:srgbClr val="1F9032"/>
              </a:gs>
            </a:gsLst>
            <a:lin ang="10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132192D3-4B3B-844F-BACF-523380D2E796}"/>
              </a:ext>
            </a:extLst>
          </p:cNvPr>
          <p:cNvSpPr txBox="1"/>
          <p:nvPr/>
        </p:nvSpPr>
        <p:spPr>
          <a:xfrm>
            <a:off x="0" y="3492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 err="1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Results</a:t>
            </a:r>
            <a:r>
              <a:rPr lang="fr-FR" sz="4000" b="1" dirty="0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 – </a:t>
            </a:r>
            <a:r>
              <a:rPr lang="fr-FR" sz="4000" b="1" dirty="0" err="1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birds</a:t>
            </a:r>
            <a:endParaRPr lang="fr-FR" sz="4000" b="1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906F80A-B3E0-0198-9799-6C7D9EDBA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51662-EAF4-4F13-861F-8A695F40F4A6}" type="slidenum">
              <a:rPr lang="fr-FR" smtClean="0"/>
              <a:t>11</a:t>
            </a:fld>
            <a:endParaRPr lang="fr-FR"/>
          </a:p>
        </p:txBody>
      </p:sp>
      <p:pic>
        <p:nvPicPr>
          <p:cNvPr id="7" name="Picture 6" descr="Pin Sylvestre | BIOLYS">
            <a:extLst>
              <a:ext uri="{FF2B5EF4-FFF2-40B4-BE49-F238E27FC236}">
                <a16:creationId xmlns:a16="http://schemas.microsoft.com/office/drawing/2014/main" id="{828B4C79-3795-46E0-29DA-A63B33E47C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575066">
            <a:off x="265868" y="5948167"/>
            <a:ext cx="501230" cy="501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Feuille de chêne vert isolé sur fond blanc | Photo Premium">
            <a:extLst>
              <a:ext uri="{FF2B5EF4-FFF2-40B4-BE49-F238E27FC236}">
                <a16:creationId xmlns:a16="http://schemas.microsoft.com/office/drawing/2014/main" id="{E04ED324-5EEF-306A-BAB9-A00F649798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5270" y="6062774"/>
            <a:ext cx="392552" cy="392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4597E996-0183-6CF6-D1A0-2A2510BAFC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572" y="2558667"/>
            <a:ext cx="4105644" cy="3461621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B018DAAD-3C10-A5D1-7EAE-91B5C0C05AD4}"/>
              </a:ext>
            </a:extLst>
          </p:cNvPr>
          <p:cNvSpPr txBox="1"/>
          <p:nvPr/>
        </p:nvSpPr>
        <p:spPr>
          <a:xfrm>
            <a:off x="869324" y="1872686"/>
            <a:ext cx="2797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Species</a:t>
            </a:r>
            <a:r>
              <a:rPr lang="fr-FR" dirty="0"/>
              <a:t> </a:t>
            </a:r>
            <a:r>
              <a:rPr lang="fr-FR" dirty="0" err="1"/>
              <a:t>richness</a:t>
            </a:r>
            <a:r>
              <a:rPr lang="fr-FR" dirty="0"/>
              <a:t> - </a:t>
            </a:r>
            <a:r>
              <a:rPr lang="fr-FR" dirty="0" err="1"/>
              <a:t>generalist</a:t>
            </a:r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452CB54-F178-EC7C-AF33-9153D2CB518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2904" y="2558667"/>
            <a:ext cx="4066954" cy="3429000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FE36C52E-A29B-387C-9EE8-FB3750231138}"/>
              </a:ext>
            </a:extLst>
          </p:cNvPr>
          <p:cNvSpPr txBox="1"/>
          <p:nvPr/>
        </p:nvSpPr>
        <p:spPr>
          <a:xfrm>
            <a:off x="4522090" y="1881075"/>
            <a:ext cx="3248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Species</a:t>
            </a:r>
            <a:r>
              <a:rPr lang="fr-FR" dirty="0"/>
              <a:t> </a:t>
            </a:r>
            <a:r>
              <a:rPr lang="fr-FR" dirty="0" err="1"/>
              <a:t>richness</a:t>
            </a:r>
            <a:r>
              <a:rPr lang="fr-FR" dirty="0"/>
              <a:t> – </a:t>
            </a:r>
            <a:r>
              <a:rPr lang="fr-FR" dirty="0" err="1"/>
              <a:t>oak</a:t>
            </a:r>
            <a:r>
              <a:rPr lang="fr-FR" dirty="0"/>
              <a:t> </a:t>
            </a:r>
            <a:r>
              <a:rPr lang="fr-FR" dirty="0" err="1"/>
              <a:t>specialist</a:t>
            </a:r>
            <a:endParaRPr lang="fr-FR" dirty="0"/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9AA6786D-9A4E-0B4B-4144-4758092F5B2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32135" y="2454755"/>
            <a:ext cx="4176808" cy="3521623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303F8A7E-FEEF-A781-574B-DF323BD3C1A1}"/>
              </a:ext>
            </a:extLst>
          </p:cNvPr>
          <p:cNvSpPr txBox="1"/>
          <p:nvPr/>
        </p:nvSpPr>
        <p:spPr>
          <a:xfrm>
            <a:off x="8636300" y="1871962"/>
            <a:ext cx="3354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Species</a:t>
            </a:r>
            <a:r>
              <a:rPr lang="fr-FR" dirty="0"/>
              <a:t> </a:t>
            </a:r>
            <a:r>
              <a:rPr lang="fr-FR" dirty="0" err="1"/>
              <a:t>richness</a:t>
            </a:r>
            <a:r>
              <a:rPr lang="fr-FR" dirty="0"/>
              <a:t> – pine </a:t>
            </a:r>
            <a:r>
              <a:rPr lang="fr-FR" dirty="0" err="1"/>
              <a:t>specialist</a:t>
            </a:r>
            <a:endParaRPr lang="fr-FR" dirty="0"/>
          </a:p>
        </p:txBody>
      </p:sp>
      <p:pic>
        <p:nvPicPr>
          <p:cNvPr id="18" name="Picture 6" descr="Pin Sylvestre | BIOLYS">
            <a:extLst>
              <a:ext uri="{FF2B5EF4-FFF2-40B4-BE49-F238E27FC236}">
                <a16:creationId xmlns:a16="http://schemas.microsoft.com/office/drawing/2014/main" id="{3BC38E40-8F8C-5F50-FC5C-E0CA117C79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575066">
            <a:off x="4273623" y="5999076"/>
            <a:ext cx="501230" cy="501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4" descr="Feuille de chêne vert isolé sur fond blanc | Photo Premium">
            <a:extLst>
              <a:ext uri="{FF2B5EF4-FFF2-40B4-BE49-F238E27FC236}">
                <a16:creationId xmlns:a16="http://schemas.microsoft.com/office/drawing/2014/main" id="{1720312B-622E-A073-606D-204295A5C2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3025" y="6113683"/>
            <a:ext cx="392552" cy="392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6" descr="Pin Sylvestre | BIOLYS">
            <a:extLst>
              <a:ext uri="{FF2B5EF4-FFF2-40B4-BE49-F238E27FC236}">
                <a16:creationId xmlns:a16="http://schemas.microsoft.com/office/drawing/2014/main" id="{078B8877-CAE9-4E50-E271-8FA729C0DF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575066">
            <a:off x="8293818" y="6044465"/>
            <a:ext cx="501230" cy="501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 descr="Feuille de chêne vert isolé sur fond blanc | Photo Premium">
            <a:extLst>
              <a:ext uri="{FF2B5EF4-FFF2-40B4-BE49-F238E27FC236}">
                <a16:creationId xmlns:a16="http://schemas.microsoft.com/office/drawing/2014/main" id="{DCEBF2A5-2B87-02B2-1C5F-D925923441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33220" y="6159072"/>
            <a:ext cx="392552" cy="392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66251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C39E3C8-22BF-4F4A-9F2D-452D9E47CD2C}"/>
              </a:ext>
            </a:extLst>
          </p:cNvPr>
          <p:cNvSpPr/>
          <p:nvPr/>
        </p:nvSpPr>
        <p:spPr>
          <a:xfrm>
            <a:off x="0" y="-3652"/>
            <a:ext cx="12192000" cy="1306286"/>
          </a:xfrm>
          <a:prstGeom prst="rect">
            <a:avLst/>
          </a:prstGeom>
          <a:gradFill flip="none" rotWithShape="1">
            <a:gsLst>
              <a:gs pos="0">
                <a:srgbClr val="004537"/>
              </a:gs>
              <a:gs pos="100000">
                <a:srgbClr val="1F9032"/>
              </a:gs>
            </a:gsLst>
            <a:lin ang="10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132192D3-4B3B-844F-BACF-523380D2E796}"/>
              </a:ext>
            </a:extLst>
          </p:cNvPr>
          <p:cNvSpPr txBox="1"/>
          <p:nvPr/>
        </p:nvSpPr>
        <p:spPr>
          <a:xfrm>
            <a:off x="0" y="3492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 err="1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Results</a:t>
            </a:r>
            <a:r>
              <a:rPr lang="fr-FR" sz="4000" b="1" dirty="0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 – </a:t>
            </a:r>
            <a:r>
              <a:rPr lang="fr-FR" sz="4000" b="1" dirty="0" err="1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birds</a:t>
            </a:r>
            <a:endParaRPr lang="fr-FR" sz="4000" b="1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906F80A-B3E0-0198-9799-6C7D9EDBA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51662-EAF4-4F13-861F-8A695F40F4A6}" type="slidenum">
              <a:rPr lang="fr-FR" smtClean="0"/>
              <a:t>12</a:t>
            </a:fld>
            <a:endParaRPr lang="fr-FR"/>
          </a:p>
        </p:txBody>
      </p:sp>
      <p:pic>
        <p:nvPicPr>
          <p:cNvPr id="7" name="Picture 6" descr="Pin Sylvestre | BIOLYS">
            <a:extLst>
              <a:ext uri="{FF2B5EF4-FFF2-40B4-BE49-F238E27FC236}">
                <a16:creationId xmlns:a16="http://schemas.microsoft.com/office/drawing/2014/main" id="{828B4C79-3795-46E0-29DA-A63B33E47C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575066">
            <a:off x="265868" y="5948167"/>
            <a:ext cx="501230" cy="501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Feuille de chêne vert isolé sur fond blanc | Photo Premium">
            <a:extLst>
              <a:ext uri="{FF2B5EF4-FFF2-40B4-BE49-F238E27FC236}">
                <a16:creationId xmlns:a16="http://schemas.microsoft.com/office/drawing/2014/main" id="{E04ED324-5EEF-306A-BAB9-A00F649798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5270" y="6062774"/>
            <a:ext cx="392552" cy="392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B018DAAD-3C10-A5D1-7EAE-91B5C0C05AD4}"/>
              </a:ext>
            </a:extLst>
          </p:cNvPr>
          <p:cNvSpPr txBox="1"/>
          <p:nvPr/>
        </p:nvSpPr>
        <p:spPr>
          <a:xfrm>
            <a:off x="869324" y="1872686"/>
            <a:ext cx="2342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Abundance</a:t>
            </a:r>
            <a:r>
              <a:rPr lang="fr-FR" dirty="0"/>
              <a:t> - </a:t>
            </a:r>
            <a:r>
              <a:rPr lang="fr-FR" dirty="0" err="1"/>
              <a:t>generalist</a:t>
            </a:r>
            <a:endParaRPr lang="fr-FR" dirty="0"/>
          </a:p>
        </p:txBody>
      </p:sp>
      <p:pic>
        <p:nvPicPr>
          <p:cNvPr id="18" name="Picture 6" descr="Pin Sylvestre | BIOLYS">
            <a:extLst>
              <a:ext uri="{FF2B5EF4-FFF2-40B4-BE49-F238E27FC236}">
                <a16:creationId xmlns:a16="http://schemas.microsoft.com/office/drawing/2014/main" id="{3BC38E40-8F8C-5F50-FC5C-E0CA117C79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575066">
            <a:off x="4273623" y="5999076"/>
            <a:ext cx="501230" cy="501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4" descr="Feuille de chêne vert isolé sur fond blanc | Photo Premium">
            <a:extLst>
              <a:ext uri="{FF2B5EF4-FFF2-40B4-BE49-F238E27FC236}">
                <a16:creationId xmlns:a16="http://schemas.microsoft.com/office/drawing/2014/main" id="{1720312B-622E-A073-606D-204295A5C2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3025" y="6113683"/>
            <a:ext cx="392552" cy="392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6" descr="Pin Sylvestre | BIOLYS">
            <a:extLst>
              <a:ext uri="{FF2B5EF4-FFF2-40B4-BE49-F238E27FC236}">
                <a16:creationId xmlns:a16="http://schemas.microsoft.com/office/drawing/2014/main" id="{078B8877-CAE9-4E50-E271-8FA729C0DF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575066">
            <a:off x="8293818" y="6044465"/>
            <a:ext cx="501230" cy="501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 descr="Feuille de chêne vert isolé sur fond blanc | Photo Premium">
            <a:extLst>
              <a:ext uri="{FF2B5EF4-FFF2-40B4-BE49-F238E27FC236}">
                <a16:creationId xmlns:a16="http://schemas.microsoft.com/office/drawing/2014/main" id="{DCEBF2A5-2B87-02B2-1C5F-D925923441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33220" y="6159072"/>
            <a:ext cx="392552" cy="392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39FE59A2-4B02-BFB2-E6CB-6B6221DF82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19" y="2536118"/>
            <a:ext cx="4087578" cy="3446389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969F9601-00CB-0BC0-BF48-EAF5D498F0D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72722" y="2447022"/>
            <a:ext cx="4218869" cy="3557086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29F1740E-1B08-0968-1D81-9C2B0109BD09}"/>
              </a:ext>
            </a:extLst>
          </p:cNvPr>
          <p:cNvSpPr txBox="1"/>
          <p:nvPr/>
        </p:nvSpPr>
        <p:spPr>
          <a:xfrm>
            <a:off x="4522090" y="1881075"/>
            <a:ext cx="29245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Abundance</a:t>
            </a:r>
            <a:r>
              <a:rPr lang="fr-FR" dirty="0"/>
              <a:t> – </a:t>
            </a:r>
            <a:r>
              <a:rPr lang="fr-FR" dirty="0" err="1"/>
              <a:t>true</a:t>
            </a:r>
            <a:r>
              <a:rPr lang="fr-FR" dirty="0"/>
              <a:t> </a:t>
            </a:r>
            <a:r>
              <a:rPr lang="fr-FR" dirty="0" err="1"/>
              <a:t>generalist</a:t>
            </a:r>
            <a:endParaRPr lang="fr-FR" dirty="0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41509EB0-B6B6-0DCC-518D-377852C6CAFD}"/>
              </a:ext>
            </a:extLst>
          </p:cNvPr>
          <p:cNvSpPr txBox="1"/>
          <p:nvPr/>
        </p:nvSpPr>
        <p:spPr>
          <a:xfrm>
            <a:off x="8461202" y="1871962"/>
            <a:ext cx="3194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Abundance</a:t>
            </a:r>
            <a:r>
              <a:rPr lang="fr-FR" dirty="0"/>
              <a:t> – </a:t>
            </a:r>
            <a:r>
              <a:rPr lang="fr-FR" dirty="0" err="1"/>
              <a:t>oak</a:t>
            </a:r>
            <a:r>
              <a:rPr lang="fr-FR" dirty="0"/>
              <a:t>-mixed stands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63D36C04-9FDC-6259-BB8C-F06D8248DA91}"/>
              </a:ext>
            </a:extLst>
          </p:cNvPr>
          <p:cNvSpPr txBox="1"/>
          <p:nvPr/>
        </p:nvSpPr>
        <p:spPr>
          <a:xfrm>
            <a:off x="3982594" y="1871962"/>
            <a:ext cx="377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vs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A5A4249A-8365-3097-5F0D-EDFB530AEA5B}"/>
              </a:ext>
            </a:extLst>
          </p:cNvPr>
          <p:cNvSpPr txBox="1"/>
          <p:nvPr/>
        </p:nvSpPr>
        <p:spPr>
          <a:xfrm>
            <a:off x="5804170" y="1453578"/>
            <a:ext cx="3817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Not </a:t>
            </a:r>
            <a:r>
              <a:rPr lang="fr-FR" dirty="0" err="1">
                <a:solidFill>
                  <a:srgbClr val="FF0000"/>
                </a:solidFill>
              </a:rPr>
              <a:t>convincing</a:t>
            </a:r>
            <a:r>
              <a:rPr lang="fr-FR" dirty="0">
                <a:solidFill>
                  <a:srgbClr val="FF0000"/>
                </a:solidFill>
              </a:rPr>
              <a:t> </a:t>
            </a:r>
            <a:r>
              <a:rPr lang="fr-FR" dirty="0" err="1">
                <a:solidFill>
                  <a:srgbClr val="FF0000"/>
                </a:solidFill>
              </a:rPr>
              <a:t>two</a:t>
            </a:r>
            <a:r>
              <a:rPr lang="fr-FR" dirty="0">
                <a:solidFill>
                  <a:srgbClr val="FF0000"/>
                </a:solidFill>
              </a:rPr>
              <a:t>-class classification</a:t>
            </a:r>
          </a:p>
        </p:txBody>
      </p:sp>
      <p:pic>
        <p:nvPicPr>
          <p:cNvPr id="26" name="Image 25">
            <a:extLst>
              <a:ext uri="{FF2B5EF4-FFF2-40B4-BE49-F238E27FC236}">
                <a16:creationId xmlns:a16="http://schemas.microsoft.com/office/drawing/2014/main" id="{FA0AD95E-C578-6038-C7AA-997BABC7AF1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5577" y="2447022"/>
            <a:ext cx="4193250" cy="3535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9573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C39E3C8-22BF-4F4A-9F2D-452D9E47CD2C}"/>
              </a:ext>
            </a:extLst>
          </p:cNvPr>
          <p:cNvSpPr/>
          <p:nvPr/>
        </p:nvSpPr>
        <p:spPr>
          <a:xfrm>
            <a:off x="0" y="-3652"/>
            <a:ext cx="12192000" cy="1306286"/>
          </a:xfrm>
          <a:prstGeom prst="rect">
            <a:avLst/>
          </a:prstGeom>
          <a:gradFill flip="none" rotWithShape="1">
            <a:gsLst>
              <a:gs pos="0">
                <a:srgbClr val="004537"/>
              </a:gs>
              <a:gs pos="100000">
                <a:srgbClr val="1F9032"/>
              </a:gs>
            </a:gsLst>
            <a:lin ang="10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132192D3-4B3B-844F-BACF-523380D2E796}"/>
              </a:ext>
            </a:extLst>
          </p:cNvPr>
          <p:cNvSpPr txBox="1"/>
          <p:nvPr/>
        </p:nvSpPr>
        <p:spPr>
          <a:xfrm>
            <a:off x="0" y="3492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 err="1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Results</a:t>
            </a:r>
            <a:r>
              <a:rPr lang="fr-FR" sz="4000" b="1" dirty="0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 – </a:t>
            </a:r>
            <a:r>
              <a:rPr lang="fr-FR" sz="4000" b="1" dirty="0" err="1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birds</a:t>
            </a:r>
            <a:endParaRPr lang="fr-FR" sz="4000" b="1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906F80A-B3E0-0198-9799-6C7D9EDBA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51662-EAF4-4F13-861F-8A695F40F4A6}" type="slidenum">
              <a:rPr lang="fr-FR" smtClean="0"/>
              <a:t>13</a:t>
            </a:fld>
            <a:endParaRPr lang="fr-FR"/>
          </a:p>
        </p:txBody>
      </p:sp>
      <p:pic>
        <p:nvPicPr>
          <p:cNvPr id="7" name="Picture 6" descr="Pin Sylvestre | BIOLYS">
            <a:extLst>
              <a:ext uri="{FF2B5EF4-FFF2-40B4-BE49-F238E27FC236}">
                <a16:creationId xmlns:a16="http://schemas.microsoft.com/office/drawing/2014/main" id="{828B4C79-3795-46E0-29DA-A63B33E47C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575066">
            <a:off x="265868" y="5948167"/>
            <a:ext cx="501230" cy="501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Feuille de chêne vert isolé sur fond blanc | Photo Premium">
            <a:extLst>
              <a:ext uri="{FF2B5EF4-FFF2-40B4-BE49-F238E27FC236}">
                <a16:creationId xmlns:a16="http://schemas.microsoft.com/office/drawing/2014/main" id="{E04ED324-5EEF-306A-BAB9-A00F649798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5270" y="6062774"/>
            <a:ext cx="392552" cy="392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B018DAAD-3C10-A5D1-7EAE-91B5C0C05AD4}"/>
              </a:ext>
            </a:extLst>
          </p:cNvPr>
          <p:cNvSpPr txBox="1"/>
          <p:nvPr/>
        </p:nvSpPr>
        <p:spPr>
          <a:xfrm>
            <a:off x="869324" y="1872686"/>
            <a:ext cx="2342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Abundance</a:t>
            </a:r>
            <a:r>
              <a:rPr lang="fr-FR" dirty="0"/>
              <a:t> - </a:t>
            </a:r>
            <a:r>
              <a:rPr lang="fr-FR" dirty="0" err="1"/>
              <a:t>generalist</a:t>
            </a:r>
            <a:endParaRPr lang="fr-FR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FE36C52E-A29B-387C-9EE8-FB3750231138}"/>
              </a:ext>
            </a:extLst>
          </p:cNvPr>
          <p:cNvSpPr txBox="1"/>
          <p:nvPr/>
        </p:nvSpPr>
        <p:spPr>
          <a:xfrm>
            <a:off x="4522090" y="1881075"/>
            <a:ext cx="2719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Abundance</a:t>
            </a:r>
            <a:r>
              <a:rPr lang="fr-FR" dirty="0"/>
              <a:t> – </a:t>
            </a:r>
            <a:r>
              <a:rPr lang="fr-FR" dirty="0" err="1"/>
              <a:t>oak</a:t>
            </a:r>
            <a:r>
              <a:rPr lang="fr-FR" dirty="0"/>
              <a:t> </a:t>
            </a:r>
            <a:r>
              <a:rPr lang="fr-FR" dirty="0" err="1"/>
              <a:t>specialist</a:t>
            </a:r>
            <a:endParaRPr lang="fr-FR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303F8A7E-FEEF-A781-574B-DF323BD3C1A1}"/>
              </a:ext>
            </a:extLst>
          </p:cNvPr>
          <p:cNvSpPr txBox="1"/>
          <p:nvPr/>
        </p:nvSpPr>
        <p:spPr>
          <a:xfrm>
            <a:off x="8636300" y="1871962"/>
            <a:ext cx="2884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Abundance</a:t>
            </a:r>
            <a:r>
              <a:rPr lang="fr-FR" dirty="0"/>
              <a:t> – pine </a:t>
            </a:r>
            <a:r>
              <a:rPr lang="fr-FR" dirty="0" err="1"/>
              <a:t>specialist</a:t>
            </a:r>
            <a:endParaRPr lang="fr-FR" dirty="0"/>
          </a:p>
        </p:txBody>
      </p:sp>
      <p:pic>
        <p:nvPicPr>
          <p:cNvPr id="18" name="Picture 6" descr="Pin Sylvestre | BIOLYS">
            <a:extLst>
              <a:ext uri="{FF2B5EF4-FFF2-40B4-BE49-F238E27FC236}">
                <a16:creationId xmlns:a16="http://schemas.microsoft.com/office/drawing/2014/main" id="{3BC38E40-8F8C-5F50-FC5C-E0CA117C79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575066">
            <a:off x="4273623" y="5999076"/>
            <a:ext cx="501230" cy="501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4" descr="Feuille de chêne vert isolé sur fond blanc | Photo Premium">
            <a:extLst>
              <a:ext uri="{FF2B5EF4-FFF2-40B4-BE49-F238E27FC236}">
                <a16:creationId xmlns:a16="http://schemas.microsoft.com/office/drawing/2014/main" id="{1720312B-622E-A073-606D-204295A5C2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3025" y="6113683"/>
            <a:ext cx="392552" cy="392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6" descr="Pin Sylvestre | BIOLYS">
            <a:extLst>
              <a:ext uri="{FF2B5EF4-FFF2-40B4-BE49-F238E27FC236}">
                <a16:creationId xmlns:a16="http://schemas.microsoft.com/office/drawing/2014/main" id="{078B8877-CAE9-4E50-E271-8FA729C0DF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575066">
            <a:off x="8293818" y="6044465"/>
            <a:ext cx="501230" cy="501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 descr="Feuille de chêne vert isolé sur fond blanc | Photo Premium">
            <a:extLst>
              <a:ext uri="{FF2B5EF4-FFF2-40B4-BE49-F238E27FC236}">
                <a16:creationId xmlns:a16="http://schemas.microsoft.com/office/drawing/2014/main" id="{DCEBF2A5-2B87-02B2-1C5F-D925923441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33220" y="6159072"/>
            <a:ext cx="392552" cy="392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39FE59A2-4B02-BFB2-E6CB-6B6221DF82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19" y="2536118"/>
            <a:ext cx="4087578" cy="3446389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8CB241E2-5B96-D62A-2FE8-788D9347633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95548" y="2637449"/>
            <a:ext cx="4176808" cy="3521623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30061A5F-C1B8-461F-A355-2E41BE68D14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83126" y="2563897"/>
            <a:ext cx="4149832" cy="3498878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CC45BB63-DAF7-21A0-2C68-6E02D1996AE6}"/>
              </a:ext>
            </a:extLst>
          </p:cNvPr>
          <p:cNvSpPr txBox="1"/>
          <p:nvPr/>
        </p:nvSpPr>
        <p:spPr>
          <a:xfrm>
            <a:off x="3908970" y="1365378"/>
            <a:ext cx="6267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>
                <a:solidFill>
                  <a:srgbClr val="FF0000"/>
                </a:solidFill>
              </a:rPr>
              <a:t>Closely</a:t>
            </a:r>
            <a:r>
              <a:rPr lang="fr-FR" dirty="0">
                <a:solidFill>
                  <a:srgbClr val="FF0000"/>
                </a:solidFill>
              </a:rPr>
              <a:t> mirroring </a:t>
            </a:r>
            <a:r>
              <a:rPr lang="fr-FR" dirty="0" err="1">
                <a:solidFill>
                  <a:srgbClr val="FF0000"/>
                </a:solidFill>
              </a:rPr>
              <a:t>species</a:t>
            </a:r>
            <a:r>
              <a:rPr lang="fr-FR" dirty="0">
                <a:solidFill>
                  <a:srgbClr val="FF0000"/>
                </a:solidFill>
              </a:rPr>
              <a:t> </a:t>
            </a:r>
            <a:r>
              <a:rPr lang="fr-FR" dirty="0" err="1">
                <a:solidFill>
                  <a:srgbClr val="FF0000"/>
                </a:solidFill>
              </a:rPr>
              <a:t>richness</a:t>
            </a:r>
            <a:r>
              <a:rPr lang="fr-FR" dirty="0">
                <a:solidFill>
                  <a:srgbClr val="FF0000"/>
                </a:solidFill>
              </a:rPr>
              <a:t> patterns (put as an Appendix)</a:t>
            </a:r>
          </a:p>
        </p:txBody>
      </p:sp>
    </p:spTree>
    <p:extLst>
      <p:ext uri="{BB962C8B-B14F-4D97-AF65-F5344CB8AC3E}">
        <p14:creationId xmlns:p14="http://schemas.microsoft.com/office/powerpoint/2010/main" val="41274466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 28">
            <a:extLst>
              <a:ext uri="{FF2B5EF4-FFF2-40B4-BE49-F238E27FC236}">
                <a16:creationId xmlns:a16="http://schemas.microsoft.com/office/drawing/2014/main" id="{B991D4B0-60B6-16FF-BD9E-1097899DA9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139" y="1476375"/>
            <a:ext cx="6200775" cy="515302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C39E3C8-22BF-4F4A-9F2D-452D9E47CD2C}"/>
              </a:ext>
            </a:extLst>
          </p:cNvPr>
          <p:cNvSpPr/>
          <p:nvPr/>
        </p:nvSpPr>
        <p:spPr>
          <a:xfrm>
            <a:off x="0" y="-3652"/>
            <a:ext cx="12192000" cy="1306286"/>
          </a:xfrm>
          <a:prstGeom prst="rect">
            <a:avLst/>
          </a:prstGeom>
          <a:gradFill flip="none" rotWithShape="1">
            <a:gsLst>
              <a:gs pos="0">
                <a:srgbClr val="004537"/>
              </a:gs>
              <a:gs pos="100000">
                <a:srgbClr val="1F9032"/>
              </a:gs>
            </a:gsLst>
            <a:lin ang="10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132192D3-4B3B-844F-BACF-523380D2E796}"/>
              </a:ext>
            </a:extLst>
          </p:cNvPr>
          <p:cNvSpPr txBox="1"/>
          <p:nvPr/>
        </p:nvSpPr>
        <p:spPr>
          <a:xfrm>
            <a:off x="0" y="3492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 err="1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Results</a:t>
            </a:r>
            <a:r>
              <a:rPr lang="fr-FR" sz="4000" b="1" dirty="0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 - </a:t>
            </a:r>
            <a:r>
              <a:rPr lang="fr-FR" sz="4000" b="1" dirty="0" err="1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birds</a:t>
            </a:r>
            <a:endParaRPr lang="fr-FR" b="1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906F80A-B3E0-0198-9799-6C7D9EDBA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51662-EAF4-4F13-861F-8A695F40F4A6}" type="slidenum">
              <a:rPr lang="fr-FR" smtClean="0"/>
              <a:t>14</a:t>
            </a:fld>
            <a:endParaRPr lang="fr-FR"/>
          </a:p>
        </p:txBody>
      </p:sp>
      <p:pic>
        <p:nvPicPr>
          <p:cNvPr id="17" name="Picture 6" descr="Pin Sylvestre | BIOLYS">
            <a:extLst>
              <a:ext uri="{FF2B5EF4-FFF2-40B4-BE49-F238E27FC236}">
                <a16:creationId xmlns:a16="http://schemas.microsoft.com/office/drawing/2014/main" id="{87768E7B-5720-5B52-2BCD-35383BF803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575066">
            <a:off x="97465" y="2066293"/>
            <a:ext cx="390962" cy="390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" descr="Feuille de chêne vert isolé sur fond blanc | Photo Premium">
            <a:extLst>
              <a:ext uri="{FF2B5EF4-FFF2-40B4-BE49-F238E27FC236}">
                <a16:creationId xmlns:a16="http://schemas.microsoft.com/office/drawing/2014/main" id="{8FA9705B-2567-E7DC-E14B-425B64FC5D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726" y="1355261"/>
            <a:ext cx="470489" cy="470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4" descr="Feuille de chêne vert isolé sur fond blanc | Photo Premium">
            <a:extLst>
              <a:ext uri="{FF2B5EF4-FFF2-40B4-BE49-F238E27FC236}">
                <a16:creationId xmlns:a16="http://schemas.microsoft.com/office/drawing/2014/main" id="{499BF1E0-71F0-2756-67EE-865EBED144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726" y="1962943"/>
            <a:ext cx="327892" cy="327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6" descr="Pin Sylvestre | BIOLYS">
            <a:extLst>
              <a:ext uri="{FF2B5EF4-FFF2-40B4-BE49-F238E27FC236}">
                <a16:creationId xmlns:a16="http://schemas.microsoft.com/office/drawing/2014/main" id="{D783C18B-AE8E-4C7E-B52A-43BE5718A6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575066">
            <a:off x="3042575" y="5519207"/>
            <a:ext cx="747878" cy="747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Flèche : droite 29">
            <a:extLst>
              <a:ext uri="{FF2B5EF4-FFF2-40B4-BE49-F238E27FC236}">
                <a16:creationId xmlns:a16="http://schemas.microsoft.com/office/drawing/2014/main" id="{03DD647D-699F-D0D8-9E74-061FC5324525}"/>
              </a:ext>
            </a:extLst>
          </p:cNvPr>
          <p:cNvSpPr/>
          <p:nvPr/>
        </p:nvSpPr>
        <p:spPr>
          <a:xfrm>
            <a:off x="4840186" y="5209561"/>
            <a:ext cx="318706" cy="118809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Flèche : droite 30">
            <a:extLst>
              <a:ext uri="{FF2B5EF4-FFF2-40B4-BE49-F238E27FC236}">
                <a16:creationId xmlns:a16="http://schemas.microsoft.com/office/drawing/2014/main" id="{D3E44044-752E-ECDB-A4E6-25409E383503}"/>
              </a:ext>
            </a:extLst>
          </p:cNvPr>
          <p:cNvSpPr/>
          <p:nvPr/>
        </p:nvSpPr>
        <p:spPr>
          <a:xfrm>
            <a:off x="4864614" y="1947017"/>
            <a:ext cx="318706" cy="118809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Flèche : droite 31">
            <a:extLst>
              <a:ext uri="{FF2B5EF4-FFF2-40B4-BE49-F238E27FC236}">
                <a16:creationId xmlns:a16="http://schemas.microsoft.com/office/drawing/2014/main" id="{3A67D710-4251-3B91-9EDD-B603B29B154A}"/>
              </a:ext>
            </a:extLst>
          </p:cNvPr>
          <p:cNvSpPr/>
          <p:nvPr/>
        </p:nvSpPr>
        <p:spPr>
          <a:xfrm>
            <a:off x="4864614" y="1612486"/>
            <a:ext cx="318706" cy="118809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Flèche : droite 32">
            <a:extLst>
              <a:ext uri="{FF2B5EF4-FFF2-40B4-BE49-F238E27FC236}">
                <a16:creationId xmlns:a16="http://schemas.microsoft.com/office/drawing/2014/main" id="{3EA8859D-2319-0E5E-DB37-025F4618321D}"/>
              </a:ext>
            </a:extLst>
          </p:cNvPr>
          <p:cNvSpPr/>
          <p:nvPr/>
        </p:nvSpPr>
        <p:spPr>
          <a:xfrm>
            <a:off x="4864614" y="2126889"/>
            <a:ext cx="318706" cy="118809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194" name="Picture 2" descr="Description de cette image, également commentée ci-après">
            <a:extLst>
              <a:ext uri="{FF2B5EF4-FFF2-40B4-BE49-F238E27FC236}">
                <a16:creationId xmlns:a16="http://schemas.microsoft.com/office/drawing/2014/main" id="{9C899E2F-5407-241C-10F5-BF3391CC5E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9" r="10143"/>
          <a:stretch/>
        </p:blipFill>
        <p:spPr bwMode="auto">
          <a:xfrm>
            <a:off x="431210" y="1361314"/>
            <a:ext cx="1469310" cy="1257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ZoneTexte 33">
            <a:extLst>
              <a:ext uri="{FF2B5EF4-FFF2-40B4-BE49-F238E27FC236}">
                <a16:creationId xmlns:a16="http://schemas.microsoft.com/office/drawing/2014/main" id="{115AD453-43A1-0C5B-2D60-AD2F077E5C45}"/>
              </a:ext>
            </a:extLst>
          </p:cNvPr>
          <p:cNvSpPr txBox="1"/>
          <p:nvPr/>
        </p:nvSpPr>
        <p:spPr>
          <a:xfrm>
            <a:off x="444957" y="2568428"/>
            <a:ext cx="8338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©Dion Art</a:t>
            </a:r>
          </a:p>
        </p:txBody>
      </p:sp>
      <p:pic>
        <p:nvPicPr>
          <p:cNvPr id="35" name="Image 34">
            <a:extLst>
              <a:ext uri="{FF2B5EF4-FFF2-40B4-BE49-F238E27FC236}">
                <a16:creationId xmlns:a16="http://schemas.microsoft.com/office/drawing/2014/main" id="{0892AB81-235F-0B1F-3280-08D1623D5AC2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15793" t="22305" r="36837" b="22304"/>
          <a:stretch/>
        </p:blipFill>
        <p:spPr>
          <a:xfrm>
            <a:off x="1937097" y="1362652"/>
            <a:ext cx="1638912" cy="1269615"/>
          </a:xfrm>
          <a:prstGeom prst="rect">
            <a:avLst/>
          </a:prstGeom>
        </p:spPr>
      </p:pic>
      <p:sp>
        <p:nvSpPr>
          <p:cNvPr id="36" name="ZoneTexte 35">
            <a:extLst>
              <a:ext uri="{FF2B5EF4-FFF2-40B4-BE49-F238E27FC236}">
                <a16:creationId xmlns:a16="http://schemas.microsoft.com/office/drawing/2014/main" id="{2492E7CB-C917-F064-D79B-05378C6663DA}"/>
              </a:ext>
            </a:extLst>
          </p:cNvPr>
          <p:cNvSpPr txBox="1"/>
          <p:nvPr/>
        </p:nvSpPr>
        <p:spPr>
          <a:xfrm>
            <a:off x="2107344" y="2590661"/>
            <a:ext cx="11644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©</a:t>
            </a:r>
            <a:r>
              <a:rPr lang="fr-FR" sz="1200" dirty="0" err="1"/>
              <a:t>Smudge</a:t>
            </a:r>
            <a:r>
              <a:rPr lang="fr-FR" sz="1200" dirty="0"/>
              <a:t> 9000</a:t>
            </a:r>
          </a:p>
        </p:txBody>
      </p:sp>
      <p:pic>
        <p:nvPicPr>
          <p:cNvPr id="37" name="Image 36">
            <a:extLst>
              <a:ext uri="{FF2B5EF4-FFF2-40B4-BE49-F238E27FC236}">
                <a16:creationId xmlns:a16="http://schemas.microsoft.com/office/drawing/2014/main" id="{2A27E14C-6F13-C753-8BFF-B1FFFB42D33F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r="15304"/>
          <a:stretch/>
        </p:blipFill>
        <p:spPr>
          <a:xfrm>
            <a:off x="3640301" y="1361314"/>
            <a:ext cx="1075309" cy="1269615"/>
          </a:xfrm>
          <a:prstGeom prst="rect">
            <a:avLst/>
          </a:prstGeom>
        </p:spPr>
      </p:pic>
      <p:sp>
        <p:nvSpPr>
          <p:cNvPr id="38" name="Flèche : droite 37">
            <a:extLst>
              <a:ext uri="{FF2B5EF4-FFF2-40B4-BE49-F238E27FC236}">
                <a16:creationId xmlns:a16="http://schemas.microsoft.com/office/drawing/2014/main" id="{8B50996F-7B06-F907-66EE-CAF45F997C68}"/>
              </a:ext>
            </a:extLst>
          </p:cNvPr>
          <p:cNvSpPr/>
          <p:nvPr/>
        </p:nvSpPr>
        <p:spPr>
          <a:xfrm rot="18525124">
            <a:off x="4711912" y="2577866"/>
            <a:ext cx="599267" cy="127074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1B094F34-5940-BAE4-E781-8D6A73955580}"/>
              </a:ext>
            </a:extLst>
          </p:cNvPr>
          <p:cNvSpPr txBox="1"/>
          <p:nvPr/>
        </p:nvSpPr>
        <p:spPr>
          <a:xfrm>
            <a:off x="3544948" y="2590660"/>
            <a:ext cx="12716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©</a:t>
            </a:r>
            <a:r>
              <a:rPr lang="fr-FR" sz="1200" dirty="0" err="1"/>
              <a:t>Bontempi</a:t>
            </a:r>
            <a:r>
              <a:rPr lang="fr-FR" sz="1200" dirty="0"/>
              <a:t> 1953</a:t>
            </a:r>
          </a:p>
        </p:txBody>
      </p:sp>
      <p:pic>
        <p:nvPicPr>
          <p:cNvPr id="40" name="Image 39">
            <a:extLst>
              <a:ext uri="{FF2B5EF4-FFF2-40B4-BE49-F238E27FC236}">
                <a16:creationId xmlns:a16="http://schemas.microsoft.com/office/drawing/2014/main" id="{2E5BA252-AADB-DD69-AF6B-43E16FB0E46B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4752" t="18215" r="27176" b="6785"/>
          <a:stretch/>
        </p:blipFill>
        <p:spPr>
          <a:xfrm>
            <a:off x="3545140" y="2995726"/>
            <a:ext cx="1344894" cy="1111350"/>
          </a:xfrm>
          <a:prstGeom prst="rect">
            <a:avLst/>
          </a:prstGeom>
        </p:spPr>
      </p:pic>
      <p:pic>
        <p:nvPicPr>
          <p:cNvPr id="41" name="Picture 4" descr="Feuille de chêne vert isolé sur fond blanc | Photo Premium">
            <a:extLst>
              <a:ext uri="{FF2B5EF4-FFF2-40B4-BE49-F238E27FC236}">
                <a16:creationId xmlns:a16="http://schemas.microsoft.com/office/drawing/2014/main" id="{DE9D3DC2-FC54-F2DA-53AD-95269752ED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3158" y="3186663"/>
            <a:ext cx="662404" cy="662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ZoneTexte 41">
            <a:extLst>
              <a:ext uri="{FF2B5EF4-FFF2-40B4-BE49-F238E27FC236}">
                <a16:creationId xmlns:a16="http://schemas.microsoft.com/office/drawing/2014/main" id="{9BB1E10C-3F21-8966-9BA8-C8ED78DD2801}"/>
              </a:ext>
            </a:extLst>
          </p:cNvPr>
          <p:cNvSpPr txBox="1"/>
          <p:nvPr/>
        </p:nvSpPr>
        <p:spPr>
          <a:xfrm>
            <a:off x="4670308" y="1291594"/>
            <a:ext cx="7006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err="1">
                <a:solidFill>
                  <a:srgbClr val="FF0000"/>
                </a:solidFill>
              </a:rPr>
              <a:t>IndVal</a:t>
            </a:r>
            <a:endParaRPr lang="fr-FR" sz="1600" dirty="0">
              <a:solidFill>
                <a:srgbClr val="FF0000"/>
              </a:solidFill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EF5E6C19-5A92-DE8D-5E2E-E32BB774A9D7}"/>
              </a:ext>
            </a:extLst>
          </p:cNvPr>
          <p:cNvSpPr txBox="1"/>
          <p:nvPr/>
        </p:nvSpPr>
        <p:spPr>
          <a:xfrm>
            <a:off x="3774263" y="4095300"/>
            <a:ext cx="7664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©</a:t>
            </a:r>
            <a:r>
              <a:rPr lang="fr-FR" sz="1200" dirty="0" err="1"/>
              <a:t>ThKraft</a:t>
            </a:r>
            <a:endParaRPr lang="fr-FR" sz="1200" dirty="0"/>
          </a:p>
        </p:txBody>
      </p:sp>
      <p:pic>
        <p:nvPicPr>
          <p:cNvPr id="44" name="Image 43">
            <a:extLst>
              <a:ext uri="{FF2B5EF4-FFF2-40B4-BE49-F238E27FC236}">
                <a16:creationId xmlns:a16="http://schemas.microsoft.com/office/drawing/2014/main" id="{1C4EEAFA-8368-242E-534A-95413EE80F04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45717" t="12669" r="13157" b="12194"/>
          <a:stretch/>
        </p:blipFill>
        <p:spPr>
          <a:xfrm>
            <a:off x="3745300" y="5272863"/>
            <a:ext cx="1018909" cy="1240567"/>
          </a:xfrm>
          <a:prstGeom prst="rect">
            <a:avLst/>
          </a:prstGeom>
        </p:spPr>
      </p:pic>
      <p:pic>
        <p:nvPicPr>
          <p:cNvPr id="45" name="Picture 6" descr="Pin Sylvestre | BIOLYS">
            <a:extLst>
              <a:ext uri="{FF2B5EF4-FFF2-40B4-BE49-F238E27FC236}">
                <a16:creationId xmlns:a16="http://schemas.microsoft.com/office/drawing/2014/main" id="{2A06A77C-28A1-A275-BA8A-B1C3C0D20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575066">
            <a:off x="5849424" y="6296316"/>
            <a:ext cx="638784" cy="638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4" descr="Feuille de chêne vert isolé sur fond blanc | Photo Premium">
            <a:extLst>
              <a:ext uri="{FF2B5EF4-FFF2-40B4-BE49-F238E27FC236}">
                <a16:creationId xmlns:a16="http://schemas.microsoft.com/office/drawing/2014/main" id="{A33CDE4B-667C-2942-5F54-D3A1EE7238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7338" y="6284506"/>
            <a:ext cx="662404" cy="662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58161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5EA06C31-34D3-D2EB-95D5-09D48E2C45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40" y="1799224"/>
            <a:ext cx="5436522" cy="4583734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B39DD895-13F4-037A-0C38-88F0BFFB7B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3567" y="1821178"/>
            <a:ext cx="5436522" cy="458373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C39E3C8-22BF-4F4A-9F2D-452D9E47CD2C}"/>
              </a:ext>
            </a:extLst>
          </p:cNvPr>
          <p:cNvSpPr/>
          <p:nvPr/>
        </p:nvSpPr>
        <p:spPr>
          <a:xfrm>
            <a:off x="0" y="-3652"/>
            <a:ext cx="12192000" cy="1306286"/>
          </a:xfrm>
          <a:prstGeom prst="rect">
            <a:avLst/>
          </a:prstGeom>
          <a:gradFill flip="none" rotWithShape="1">
            <a:gsLst>
              <a:gs pos="0">
                <a:srgbClr val="004537"/>
              </a:gs>
              <a:gs pos="100000">
                <a:srgbClr val="1F9032"/>
              </a:gs>
            </a:gsLst>
            <a:lin ang="10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132192D3-4B3B-844F-BACF-523380D2E796}"/>
              </a:ext>
            </a:extLst>
          </p:cNvPr>
          <p:cNvSpPr txBox="1"/>
          <p:nvPr/>
        </p:nvSpPr>
        <p:spPr>
          <a:xfrm>
            <a:off x="0" y="3492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 err="1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Results</a:t>
            </a:r>
            <a:r>
              <a:rPr lang="fr-FR" sz="4000" b="1" dirty="0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 – </a:t>
            </a:r>
            <a:r>
              <a:rPr lang="fr-FR" sz="4000" b="1" dirty="0" err="1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saproxylic</a:t>
            </a:r>
            <a:r>
              <a:rPr lang="fr-FR" sz="4000" b="1" dirty="0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 </a:t>
            </a:r>
            <a:r>
              <a:rPr lang="fr-FR" sz="4000" b="1" dirty="0" err="1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beetles</a:t>
            </a:r>
            <a:endParaRPr lang="fr-FR" sz="4000" b="1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906F80A-B3E0-0198-9799-6C7D9EDBA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51662-EAF4-4F13-861F-8A695F40F4A6}" type="slidenum">
              <a:rPr lang="fr-FR" smtClean="0"/>
              <a:t>15</a:t>
            </a:fld>
            <a:endParaRPr lang="fr-FR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8CD8759C-2435-EDB5-607E-9A30E46CCBA6}"/>
              </a:ext>
            </a:extLst>
          </p:cNvPr>
          <p:cNvSpPr txBox="1"/>
          <p:nvPr/>
        </p:nvSpPr>
        <p:spPr>
          <a:xfrm>
            <a:off x="2120175" y="1406101"/>
            <a:ext cx="2116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Species</a:t>
            </a:r>
            <a:r>
              <a:rPr lang="fr-FR" dirty="0"/>
              <a:t> </a:t>
            </a:r>
            <a:r>
              <a:rPr lang="fr-FR" dirty="0" err="1"/>
              <a:t>richness</a:t>
            </a:r>
            <a:r>
              <a:rPr lang="fr-FR" dirty="0"/>
              <a:t> (all)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4F5B7951-F8BD-6230-CF63-5E52EB3D7412}"/>
              </a:ext>
            </a:extLst>
          </p:cNvPr>
          <p:cNvSpPr txBox="1"/>
          <p:nvPr/>
        </p:nvSpPr>
        <p:spPr>
          <a:xfrm>
            <a:off x="8063775" y="1406101"/>
            <a:ext cx="1661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Abundance</a:t>
            </a:r>
            <a:r>
              <a:rPr lang="fr-FR" dirty="0"/>
              <a:t> (all)</a:t>
            </a:r>
          </a:p>
        </p:txBody>
      </p:sp>
      <p:pic>
        <p:nvPicPr>
          <p:cNvPr id="1030" name="Picture 6" descr="Pin Sylvestre | BIOLYS">
            <a:extLst>
              <a:ext uri="{FF2B5EF4-FFF2-40B4-BE49-F238E27FC236}">
                <a16:creationId xmlns:a16="http://schemas.microsoft.com/office/drawing/2014/main" id="{A4C07FE4-A405-7E5C-0028-097608129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575066">
            <a:off x="506505" y="6146622"/>
            <a:ext cx="663390" cy="663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euille de chêne vert isolé sur fond blanc | Photo Premium">
            <a:extLst>
              <a:ext uri="{FF2B5EF4-FFF2-40B4-BE49-F238E27FC236}">
                <a16:creationId xmlns:a16="http://schemas.microsoft.com/office/drawing/2014/main" id="{2B8A0403-AC36-BF95-5C44-0DD228B66A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3473" y="6146623"/>
            <a:ext cx="663389" cy="663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Pin Sylvestre | BIOLYS">
            <a:extLst>
              <a:ext uri="{FF2B5EF4-FFF2-40B4-BE49-F238E27FC236}">
                <a16:creationId xmlns:a16="http://schemas.microsoft.com/office/drawing/2014/main" id="{828B4C79-3795-46E0-29DA-A63B33E47C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575066">
            <a:off x="2911472" y="6392022"/>
            <a:ext cx="501230" cy="501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Feuille de chêne vert isolé sur fond blanc | Photo Premium">
            <a:extLst>
              <a:ext uri="{FF2B5EF4-FFF2-40B4-BE49-F238E27FC236}">
                <a16:creationId xmlns:a16="http://schemas.microsoft.com/office/drawing/2014/main" id="{E04ED324-5EEF-306A-BAB9-A00F649798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4717" y="6446361"/>
            <a:ext cx="392552" cy="392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Pin Sylvestre | BIOLYS">
            <a:extLst>
              <a:ext uri="{FF2B5EF4-FFF2-40B4-BE49-F238E27FC236}">
                <a16:creationId xmlns:a16="http://schemas.microsoft.com/office/drawing/2014/main" id="{5E41EA36-F283-3011-4778-5F80856A29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575066">
            <a:off x="6333560" y="6155587"/>
            <a:ext cx="663390" cy="663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Feuille de chêne vert isolé sur fond blanc | Photo Premium">
            <a:extLst>
              <a:ext uri="{FF2B5EF4-FFF2-40B4-BE49-F238E27FC236}">
                <a16:creationId xmlns:a16="http://schemas.microsoft.com/office/drawing/2014/main" id="{8F3C0511-232A-2849-B8CE-2C6CF8E420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0528" y="6155588"/>
            <a:ext cx="663389" cy="663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Pin Sylvestre | BIOLYS">
            <a:extLst>
              <a:ext uri="{FF2B5EF4-FFF2-40B4-BE49-F238E27FC236}">
                <a16:creationId xmlns:a16="http://schemas.microsoft.com/office/drawing/2014/main" id="{1A771FD3-BA09-B652-A346-1FA37ECCA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575066">
            <a:off x="8738527" y="6400987"/>
            <a:ext cx="501230" cy="501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Feuille de chêne vert isolé sur fond blanc | Photo Premium">
            <a:extLst>
              <a:ext uri="{FF2B5EF4-FFF2-40B4-BE49-F238E27FC236}">
                <a16:creationId xmlns:a16="http://schemas.microsoft.com/office/drawing/2014/main" id="{89ECB079-19F0-4FB2-F8A4-18149C35F4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1772" y="6455326"/>
            <a:ext cx="392552" cy="392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6070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C39E3C8-22BF-4F4A-9F2D-452D9E47CD2C}"/>
              </a:ext>
            </a:extLst>
          </p:cNvPr>
          <p:cNvSpPr/>
          <p:nvPr/>
        </p:nvSpPr>
        <p:spPr>
          <a:xfrm>
            <a:off x="0" y="-3652"/>
            <a:ext cx="12192000" cy="1306286"/>
          </a:xfrm>
          <a:prstGeom prst="rect">
            <a:avLst/>
          </a:prstGeom>
          <a:gradFill flip="none" rotWithShape="1">
            <a:gsLst>
              <a:gs pos="0">
                <a:srgbClr val="004537"/>
              </a:gs>
              <a:gs pos="100000">
                <a:srgbClr val="1F9032"/>
              </a:gs>
            </a:gsLst>
            <a:lin ang="10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132192D3-4B3B-844F-BACF-523380D2E796}"/>
              </a:ext>
            </a:extLst>
          </p:cNvPr>
          <p:cNvSpPr txBox="1"/>
          <p:nvPr/>
        </p:nvSpPr>
        <p:spPr>
          <a:xfrm>
            <a:off x="0" y="3492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 err="1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Results</a:t>
            </a:r>
            <a:r>
              <a:rPr lang="fr-FR" sz="4000" b="1" dirty="0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 – </a:t>
            </a:r>
            <a:r>
              <a:rPr lang="fr-FR" sz="4000" b="1" dirty="0" err="1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saproxylic</a:t>
            </a:r>
            <a:r>
              <a:rPr lang="fr-FR" sz="4000" b="1" dirty="0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 </a:t>
            </a:r>
            <a:r>
              <a:rPr lang="fr-FR" sz="4000" b="1" dirty="0" err="1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beetles</a:t>
            </a:r>
            <a:endParaRPr lang="fr-FR" sz="4000" b="1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906F80A-B3E0-0198-9799-6C7D9EDBA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51662-EAF4-4F13-861F-8A695F40F4A6}" type="slidenum">
              <a:rPr lang="fr-FR" smtClean="0"/>
              <a:t>16</a:t>
            </a:fld>
            <a:endParaRPr lang="fr-FR"/>
          </a:p>
        </p:txBody>
      </p:sp>
      <p:sp>
        <p:nvSpPr>
          <p:cNvPr id="15" name="AutoShape 6">
            <a:extLst>
              <a:ext uri="{FF2B5EF4-FFF2-40B4-BE49-F238E27FC236}">
                <a16:creationId xmlns:a16="http://schemas.microsoft.com/office/drawing/2014/main" id="{2BE81AFE-9C1D-3EE9-B211-A9903E2E9F1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BF3F85F3-F4EE-BD15-079B-68CC5710C2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276" y="2784095"/>
            <a:ext cx="3988115" cy="3362528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E8A0CF2F-850F-6BA8-3C6A-A355833CB4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0656" y="2879387"/>
            <a:ext cx="4048880" cy="3413762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424259A4-6BCB-C0A6-26DD-6A71B06BA4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6949" y="2587558"/>
            <a:ext cx="4320044" cy="3642390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1045E008-019D-B9DF-D396-84E08C8BD740}"/>
              </a:ext>
            </a:extLst>
          </p:cNvPr>
          <p:cNvSpPr txBox="1"/>
          <p:nvPr/>
        </p:nvSpPr>
        <p:spPr>
          <a:xfrm>
            <a:off x="869324" y="1872686"/>
            <a:ext cx="34880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Species</a:t>
            </a:r>
            <a:r>
              <a:rPr lang="fr-FR" dirty="0"/>
              <a:t> </a:t>
            </a:r>
            <a:r>
              <a:rPr lang="fr-FR" dirty="0" err="1"/>
              <a:t>richness</a:t>
            </a:r>
            <a:r>
              <a:rPr lang="fr-FR" dirty="0"/>
              <a:t> – </a:t>
            </a:r>
            <a:r>
              <a:rPr lang="fr-FR" dirty="0" err="1"/>
              <a:t>generalist</a:t>
            </a:r>
            <a:r>
              <a:rPr lang="fr-FR" dirty="0"/>
              <a:t> (cat 2)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5C7270BB-4802-46DB-E8AD-66E0A47E45C6}"/>
              </a:ext>
            </a:extLst>
          </p:cNvPr>
          <p:cNvSpPr txBox="1"/>
          <p:nvPr/>
        </p:nvSpPr>
        <p:spPr>
          <a:xfrm>
            <a:off x="4346995" y="1881075"/>
            <a:ext cx="40525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Species</a:t>
            </a:r>
            <a:r>
              <a:rPr lang="fr-FR" dirty="0"/>
              <a:t> </a:t>
            </a:r>
            <a:r>
              <a:rPr lang="fr-FR" dirty="0" err="1"/>
              <a:t>richness</a:t>
            </a:r>
            <a:r>
              <a:rPr lang="fr-FR" dirty="0"/>
              <a:t> – </a:t>
            </a:r>
            <a:r>
              <a:rPr lang="fr-FR" dirty="0" err="1"/>
              <a:t>oak</a:t>
            </a:r>
            <a:r>
              <a:rPr lang="fr-FR" dirty="0"/>
              <a:t> </a:t>
            </a:r>
            <a:r>
              <a:rPr lang="fr-FR" dirty="0" err="1"/>
              <a:t>specialist</a:t>
            </a:r>
            <a:r>
              <a:rPr lang="fr-FR" dirty="0"/>
              <a:t> (cat 0+1)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8EEDE7FD-D999-D863-7280-B57EC0464264}"/>
              </a:ext>
            </a:extLst>
          </p:cNvPr>
          <p:cNvSpPr txBox="1"/>
          <p:nvPr/>
        </p:nvSpPr>
        <p:spPr>
          <a:xfrm>
            <a:off x="8201802" y="1871962"/>
            <a:ext cx="4127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Species</a:t>
            </a:r>
            <a:r>
              <a:rPr lang="fr-FR" dirty="0"/>
              <a:t> </a:t>
            </a:r>
            <a:r>
              <a:rPr lang="fr-FR" dirty="0" err="1"/>
              <a:t>richness</a:t>
            </a:r>
            <a:r>
              <a:rPr lang="fr-FR" dirty="0"/>
              <a:t> – pine </a:t>
            </a:r>
            <a:r>
              <a:rPr lang="fr-FR" dirty="0" err="1"/>
              <a:t>specialist</a:t>
            </a:r>
            <a:r>
              <a:rPr lang="fr-FR" dirty="0"/>
              <a:t> (cat 0+1)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EAF4BA1F-892B-4E7F-BAA9-D37018AB78B9}"/>
              </a:ext>
            </a:extLst>
          </p:cNvPr>
          <p:cNvSpPr txBox="1"/>
          <p:nvPr/>
        </p:nvSpPr>
        <p:spPr>
          <a:xfrm>
            <a:off x="1572551" y="2268237"/>
            <a:ext cx="1418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N=14 </a:t>
            </a:r>
            <a:r>
              <a:rPr lang="fr-FR" dirty="0" err="1"/>
              <a:t>species</a:t>
            </a:r>
            <a:endParaRPr lang="fr-FR" dirty="0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E8F5906E-8680-FCC1-F55D-AC145418095B}"/>
              </a:ext>
            </a:extLst>
          </p:cNvPr>
          <p:cNvSpPr txBox="1"/>
          <p:nvPr/>
        </p:nvSpPr>
        <p:spPr>
          <a:xfrm>
            <a:off x="5448844" y="2397025"/>
            <a:ext cx="15359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N=147 </a:t>
            </a:r>
            <a:r>
              <a:rPr lang="fr-FR" dirty="0" err="1"/>
              <a:t>species</a:t>
            </a:r>
            <a:endParaRPr lang="fr-FR" dirty="0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EB1E6DC3-F3EC-6E6D-F187-335BE0E68843}"/>
              </a:ext>
            </a:extLst>
          </p:cNvPr>
          <p:cNvSpPr txBox="1"/>
          <p:nvPr/>
        </p:nvSpPr>
        <p:spPr>
          <a:xfrm>
            <a:off x="9633920" y="2339691"/>
            <a:ext cx="1418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N=35 </a:t>
            </a:r>
            <a:r>
              <a:rPr lang="fr-FR" dirty="0" err="1"/>
              <a:t>species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822678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C39E3C8-22BF-4F4A-9F2D-452D9E47CD2C}"/>
              </a:ext>
            </a:extLst>
          </p:cNvPr>
          <p:cNvSpPr/>
          <p:nvPr/>
        </p:nvSpPr>
        <p:spPr>
          <a:xfrm>
            <a:off x="0" y="-3652"/>
            <a:ext cx="12192000" cy="1306286"/>
          </a:xfrm>
          <a:prstGeom prst="rect">
            <a:avLst/>
          </a:prstGeom>
          <a:gradFill flip="none" rotWithShape="1">
            <a:gsLst>
              <a:gs pos="0">
                <a:srgbClr val="004537"/>
              </a:gs>
              <a:gs pos="100000">
                <a:srgbClr val="1F9032"/>
              </a:gs>
            </a:gsLst>
            <a:lin ang="10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132192D3-4B3B-844F-BACF-523380D2E796}"/>
              </a:ext>
            </a:extLst>
          </p:cNvPr>
          <p:cNvSpPr txBox="1"/>
          <p:nvPr/>
        </p:nvSpPr>
        <p:spPr>
          <a:xfrm>
            <a:off x="0" y="3492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 err="1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Results</a:t>
            </a:r>
            <a:r>
              <a:rPr lang="fr-FR" sz="4000" b="1" dirty="0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 - </a:t>
            </a:r>
            <a:r>
              <a:rPr lang="fr-FR" sz="4000" b="1" dirty="0" err="1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saproxylic</a:t>
            </a:r>
            <a:r>
              <a:rPr lang="fr-FR" sz="4000" b="1" dirty="0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 </a:t>
            </a:r>
            <a:r>
              <a:rPr lang="fr-FR" sz="4000" b="1" dirty="0" err="1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beetles</a:t>
            </a:r>
            <a:endParaRPr lang="fr-FR" b="1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906F80A-B3E0-0198-9799-6C7D9EDBA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51662-EAF4-4F13-861F-8A695F40F4A6}" type="slidenum">
              <a:rPr lang="fr-FR" smtClean="0"/>
              <a:t>17</a:t>
            </a:fld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D68E572-AD55-3B82-D001-42048117F1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83" y="1861828"/>
            <a:ext cx="2825960" cy="2382673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AE562557-D298-205C-8D6B-D9CF83E710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8843" y="3955915"/>
            <a:ext cx="3124726" cy="2634573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16D41E66-3899-BD5D-6C7D-50817DCB6C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9529" y="1758646"/>
            <a:ext cx="3218950" cy="2714017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D77483E3-38AA-E9F2-620C-58017BBFED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8432" y="4244501"/>
            <a:ext cx="2782449" cy="2345987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77EBEB19-9119-DD16-0511-2748079948C0}"/>
              </a:ext>
            </a:extLst>
          </p:cNvPr>
          <p:cNvSpPr txBox="1"/>
          <p:nvPr/>
        </p:nvSpPr>
        <p:spPr>
          <a:xfrm>
            <a:off x="72883" y="1610530"/>
            <a:ext cx="2908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Species</a:t>
            </a:r>
            <a:r>
              <a:rPr lang="fr-FR" dirty="0"/>
              <a:t> </a:t>
            </a:r>
            <a:r>
              <a:rPr lang="fr-FR" dirty="0" err="1"/>
              <a:t>richness</a:t>
            </a:r>
            <a:r>
              <a:rPr lang="fr-FR" dirty="0"/>
              <a:t> – </a:t>
            </a:r>
            <a:r>
              <a:rPr lang="fr-FR" dirty="0" err="1"/>
              <a:t>oak</a:t>
            </a:r>
            <a:r>
              <a:rPr lang="fr-FR" dirty="0"/>
              <a:t> (cat 0)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7552495B-99BB-23B2-8B52-4B282EABE5A7}"/>
              </a:ext>
            </a:extLst>
          </p:cNvPr>
          <p:cNvSpPr txBox="1"/>
          <p:nvPr/>
        </p:nvSpPr>
        <p:spPr>
          <a:xfrm>
            <a:off x="3822231" y="3598170"/>
            <a:ext cx="19025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Species</a:t>
            </a:r>
            <a:r>
              <a:rPr lang="fr-FR" dirty="0"/>
              <a:t> </a:t>
            </a:r>
            <a:r>
              <a:rPr lang="fr-FR" dirty="0" err="1"/>
              <a:t>richness</a:t>
            </a:r>
            <a:endParaRPr lang="fr-FR" dirty="0"/>
          </a:p>
          <a:p>
            <a:r>
              <a:rPr lang="fr-FR" dirty="0" err="1"/>
              <a:t>oak+mixed</a:t>
            </a:r>
            <a:r>
              <a:rPr lang="fr-FR" dirty="0"/>
              <a:t> (cat 1)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89E764C1-E81C-DCD8-A910-DD01B71F517F}"/>
              </a:ext>
            </a:extLst>
          </p:cNvPr>
          <p:cNvSpPr txBox="1"/>
          <p:nvPr/>
        </p:nvSpPr>
        <p:spPr>
          <a:xfrm>
            <a:off x="6485263" y="3560445"/>
            <a:ext cx="19250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Species</a:t>
            </a:r>
            <a:r>
              <a:rPr lang="fr-FR" dirty="0"/>
              <a:t> </a:t>
            </a:r>
            <a:r>
              <a:rPr lang="fr-FR" dirty="0" err="1"/>
              <a:t>richness</a:t>
            </a:r>
            <a:endParaRPr lang="fr-FR" dirty="0"/>
          </a:p>
          <a:p>
            <a:r>
              <a:rPr lang="fr-FR" dirty="0" err="1"/>
              <a:t>pine+mixed</a:t>
            </a:r>
            <a:r>
              <a:rPr lang="fr-FR" dirty="0"/>
              <a:t> (cat 1)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679A79A4-E170-6EE3-5A49-007311068490}"/>
              </a:ext>
            </a:extLst>
          </p:cNvPr>
          <p:cNvSpPr txBox="1"/>
          <p:nvPr/>
        </p:nvSpPr>
        <p:spPr>
          <a:xfrm>
            <a:off x="9030643" y="1382692"/>
            <a:ext cx="30884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Species</a:t>
            </a:r>
            <a:r>
              <a:rPr lang="fr-FR" dirty="0"/>
              <a:t> </a:t>
            </a:r>
            <a:r>
              <a:rPr lang="fr-FR" dirty="0" err="1"/>
              <a:t>richness</a:t>
            </a:r>
            <a:r>
              <a:rPr lang="fr-FR" dirty="0"/>
              <a:t> – pine (cat 0)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9D438822-5404-0D93-4656-CE6ABDEC6D6B}"/>
              </a:ext>
            </a:extLst>
          </p:cNvPr>
          <p:cNvSpPr txBox="1"/>
          <p:nvPr/>
        </p:nvSpPr>
        <p:spPr>
          <a:xfrm>
            <a:off x="538264" y="4565515"/>
            <a:ext cx="15359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N=102 </a:t>
            </a:r>
            <a:r>
              <a:rPr lang="fr-FR" dirty="0" err="1"/>
              <a:t>species</a:t>
            </a:r>
            <a:endParaRPr lang="fr-FR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31051659-ECC5-CB72-9BDC-DED30C4579FB}"/>
              </a:ext>
            </a:extLst>
          </p:cNvPr>
          <p:cNvSpPr txBox="1"/>
          <p:nvPr/>
        </p:nvSpPr>
        <p:spPr>
          <a:xfrm>
            <a:off x="3868366" y="3191113"/>
            <a:ext cx="1418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N=45 </a:t>
            </a:r>
            <a:r>
              <a:rPr lang="fr-FR" dirty="0" err="1"/>
              <a:t>species</a:t>
            </a:r>
            <a:endParaRPr lang="fr-FR" dirty="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F8FACC61-9D90-357B-BE7C-797BA2F1939E}"/>
              </a:ext>
            </a:extLst>
          </p:cNvPr>
          <p:cNvSpPr txBox="1"/>
          <p:nvPr/>
        </p:nvSpPr>
        <p:spPr>
          <a:xfrm>
            <a:off x="6682815" y="3172251"/>
            <a:ext cx="1301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N=9 </a:t>
            </a:r>
            <a:r>
              <a:rPr lang="fr-FR" dirty="0" err="1"/>
              <a:t>species</a:t>
            </a:r>
            <a:endParaRPr lang="fr-FR" dirty="0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5196583C-ACB2-3380-00C7-B46C6FD5582A}"/>
              </a:ext>
            </a:extLst>
          </p:cNvPr>
          <p:cNvSpPr txBox="1"/>
          <p:nvPr/>
        </p:nvSpPr>
        <p:spPr>
          <a:xfrm>
            <a:off x="10051841" y="4647612"/>
            <a:ext cx="1418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N=26 </a:t>
            </a:r>
            <a:r>
              <a:rPr lang="fr-FR" dirty="0" err="1"/>
              <a:t>species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844790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AD841843-2E0C-5CB4-F282-CC92D29ADF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3" y="2535677"/>
            <a:ext cx="3987266" cy="3361812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207B70CB-1BC5-2816-D983-BF0A766195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2374" y="2594043"/>
            <a:ext cx="4080412" cy="344034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C39E3C8-22BF-4F4A-9F2D-452D9E47CD2C}"/>
              </a:ext>
            </a:extLst>
          </p:cNvPr>
          <p:cNvSpPr/>
          <p:nvPr/>
        </p:nvSpPr>
        <p:spPr>
          <a:xfrm>
            <a:off x="0" y="-3652"/>
            <a:ext cx="12192000" cy="1306286"/>
          </a:xfrm>
          <a:prstGeom prst="rect">
            <a:avLst/>
          </a:prstGeom>
          <a:gradFill flip="none" rotWithShape="1">
            <a:gsLst>
              <a:gs pos="0">
                <a:srgbClr val="004537"/>
              </a:gs>
              <a:gs pos="100000">
                <a:srgbClr val="1F9032"/>
              </a:gs>
            </a:gsLst>
            <a:lin ang="10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132192D3-4B3B-844F-BACF-523380D2E796}"/>
              </a:ext>
            </a:extLst>
          </p:cNvPr>
          <p:cNvSpPr txBox="1"/>
          <p:nvPr/>
        </p:nvSpPr>
        <p:spPr>
          <a:xfrm>
            <a:off x="0" y="3492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 err="1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Results</a:t>
            </a:r>
            <a:r>
              <a:rPr lang="fr-FR" sz="4000" b="1" dirty="0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 - </a:t>
            </a:r>
            <a:r>
              <a:rPr lang="fr-FR" sz="4000" b="1" dirty="0" err="1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saproxylic</a:t>
            </a:r>
            <a:r>
              <a:rPr lang="fr-FR" sz="4000" b="1" dirty="0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 </a:t>
            </a:r>
            <a:r>
              <a:rPr lang="fr-FR" sz="4000" b="1" dirty="0" err="1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beetles</a:t>
            </a:r>
            <a:endParaRPr lang="fr-FR" b="1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906F80A-B3E0-0198-9799-6C7D9EDBA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51662-EAF4-4F13-861F-8A695F40F4A6}" type="slidenum">
              <a:rPr lang="fr-FR" smtClean="0"/>
              <a:t>18</a:t>
            </a:fld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50757B5-D445-5B23-0A00-1940418BA6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1450" y="2459266"/>
            <a:ext cx="4240266" cy="3575125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2EEDA90D-EBF1-5692-4336-3868857AE2EF}"/>
              </a:ext>
            </a:extLst>
          </p:cNvPr>
          <p:cNvSpPr txBox="1"/>
          <p:nvPr/>
        </p:nvSpPr>
        <p:spPr>
          <a:xfrm>
            <a:off x="869324" y="1872686"/>
            <a:ext cx="2342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Abundance</a:t>
            </a:r>
            <a:r>
              <a:rPr lang="fr-FR" dirty="0"/>
              <a:t> - </a:t>
            </a:r>
            <a:r>
              <a:rPr lang="fr-FR" dirty="0" err="1"/>
              <a:t>generalist</a:t>
            </a:r>
            <a:endParaRPr lang="fr-FR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96589C8-BA40-3357-9DE8-26E1BB45B566}"/>
              </a:ext>
            </a:extLst>
          </p:cNvPr>
          <p:cNvSpPr txBox="1"/>
          <p:nvPr/>
        </p:nvSpPr>
        <p:spPr>
          <a:xfrm>
            <a:off x="4522090" y="1881075"/>
            <a:ext cx="2763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Abundance</a:t>
            </a:r>
            <a:r>
              <a:rPr lang="fr-FR" dirty="0"/>
              <a:t> – </a:t>
            </a:r>
            <a:r>
              <a:rPr lang="fr-FR" dirty="0" err="1"/>
              <a:t>oak</a:t>
            </a:r>
            <a:r>
              <a:rPr lang="fr-FR" dirty="0"/>
              <a:t> (cat 0+1)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8C746542-6FB3-9DD1-12EB-876B42C0F9A0}"/>
              </a:ext>
            </a:extLst>
          </p:cNvPr>
          <p:cNvSpPr txBox="1"/>
          <p:nvPr/>
        </p:nvSpPr>
        <p:spPr>
          <a:xfrm>
            <a:off x="8636300" y="1871962"/>
            <a:ext cx="3672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Abundance</a:t>
            </a:r>
            <a:r>
              <a:rPr lang="fr-FR" dirty="0"/>
              <a:t> – pine </a:t>
            </a:r>
            <a:r>
              <a:rPr lang="fr-FR" dirty="0" err="1"/>
              <a:t>specialist</a:t>
            </a:r>
            <a:r>
              <a:rPr lang="fr-FR" dirty="0"/>
              <a:t> (cat 0+1)</a:t>
            </a:r>
          </a:p>
        </p:txBody>
      </p:sp>
    </p:spTree>
    <p:extLst>
      <p:ext uri="{BB962C8B-B14F-4D97-AF65-F5344CB8AC3E}">
        <p14:creationId xmlns:p14="http://schemas.microsoft.com/office/powerpoint/2010/main" val="15982940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C39E3C8-22BF-4F4A-9F2D-452D9E47CD2C}"/>
              </a:ext>
            </a:extLst>
          </p:cNvPr>
          <p:cNvSpPr/>
          <p:nvPr/>
        </p:nvSpPr>
        <p:spPr>
          <a:xfrm>
            <a:off x="0" y="-3652"/>
            <a:ext cx="12192000" cy="1306286"/>
          </a:xfrm>
          <a:prstGeom prst="rect">
            <a:avLst/>
          </a:prstGeom>
          <a:gradFill flip="none" rotWithShape="1">
            <a:gsLst>
              <a:gs pos="0">
                <a:srgbClr val="004537"/>
              </a:gs>
              <a:gs pos="100000">
                <a:srgbClr val="1F9032"/>
              </a:gs>
            </a:gsLst>
            <a:lin ang="10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132192D3-4B3B-844F-BACF-523380D2E796}"/>
              </a:ext>
            </a:extLst>
          </p:cNvPr>
          <p:cNvSpPr txBox="1"/>
          <p:nvPr/>
        </p:nvSpPr>
        <p:spPr>
          <a:xfrm>
            <a:off x="0" y="3492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 err="1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Results</a:t>
            </a:r>
            <a:r>
              <a:rPr lang="fr-FR" sz="4000" b="1" dirty="0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 - </a:t>
            </a:r>
            <a:r>
              <a:rPr lang="fr-FR" sz="4000" b="1" dirty="0" err="1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saproxylic</a:t>
            </a:r>
            <a:r>
              <a:rPr lang="fr-FR" sz="4000" b="1" dirty="0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 </a:t>
            </a:r>
            <a:r>
              <a:rPr lang="fr-FR" sz="4000" b="1" dirty="0" err="1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beetles</a:t>
            </a:r>
            <a:endParaRPr lang="fr-FR" b="1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906F80A-B3E0-0198-9799-6C7D9EDBA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51662-EAF4-4F13-861F-8A695F40F4A6}" type="slidenum">
              <a:rPr lang="fr-FR" smtClean="0"/>
              <a:t>19</a:t>
            </a:fld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2EEDA90D-EBF1-5692-4336-3868857AE2EF}"/>
              </a:ext>
            </a:extLst>
          </p:cNvPr>
          <p:cNvSpPr txBox="1"/>
          <p:nvPr/>
        </p:nvSpPr>
        <p:spPr>
          <a:xfrm>
            <a:off x="270546" y="1496804"/>
            <a:ext cx="2453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Abundance</a:t>
            </a:r>
            <a:r>
              <a:rPr lang="fr-FR" dirty="0"/>
              <a:t> – </a:t>
            </a:r>
            <a:r>
              <a:rPr lang="fr-FR" dirty="0" err="1"/>
              <a:t>oak</a:t>
            </a:r>
            <a:r>
              <a:rPr lang="fr-FR" dirty="0"/>
              <a:t> (cat 0)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96589C8-BA40-3357-9DE8-26E1BB45B566}"/>
              </a:ext>
            </a:extLst>
          </p:cNvPr>
          <p:cNvSpPr txBox="1"/>
          <p:nvPr/>
        </p:nvSpPr>
        <p:spPr>
          <a:xfrm>
            <a:off x="3526883" y="1309839"/>
            <a:ext cx="1820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Abundance</a:t>
            </a:r>
            <a:r>
              <a:rPr lang="fr-FR" dirty="0"/>
              <a:t> – </a:t>
            </a:r>
            <a:r>
              <a:rPr lang="fr-FR" dirty="0" err="1"/>
              <a:t>oak</a:t>
            </a:r>
            <a:r>
              <a:rPr lang="fr-FR" dirty="0"/>
              <a:t>-mixed (cat 1)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8C746542-6FB3-9DD1-12EB-876B42C0F9A0}"/>
              </a:ext>
            </a:extLst>
          </p:cNvPr>
          <p:cNvSpPr txBox="1"/>
          <p:nvPr/>
        </p:nvSpPr>
        <p:spPr>
          <a:xfrm>
            <a:off x="9365231" y="1408369"/>
            <a:ext cx="3020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Abundance</a:t>
            </a:r>
            <a:r>
              <a:rPr lang="fr-FR" dirty="0"/>
              <a:t> – pine </a:t>
            </a:r>
            <a:r>
              <a:rPr lang="fr-FR" dirty="0" err="1"/>
              <a:t>specialist</a:t>
            </a:r>
            <a:r>
              <a:rPr lang="fr-FR" dirty="0"/>
              <a:t> (cat 0)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DAF96EB-7105-87DA-4CC5-94050ADB6A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4" y="1941760"/>
            <a:ext cx="3198743" cy="269698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45BE7145-8E2A-FADE-D844-B2EDEE6F0C84}"/>
              </a:ext>
            </a:extLst>
          </p:cNvPr>
          <p:cNvSpPr txBox="1"/>
          <p:nvPr/>
        </p:nvSpPr>
        <p:spPr>
          <a:xfrm>
            <a:off x="6529715" y="1302634"/>
            <a:ext cx="1894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Abundance</a:t>
            </a:r>
            <a:r>
              <a:rPr lang="fr-FR" dirty="0"/>
              <a:t> – pine-mixed (cat 1)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30D9DF3-4FA6-83A6-1CC7-669FAB67F6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0996" y="1948965"/>
            <a:ext cx="3198743" cy="2696980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078FEE9B-CE8F-8843-7E22-5538B82190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6524" y="1984937"/>
            <a:ext cx="3104503" cy="2617522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1DA9A264-3BDE-1D07-86EC-EC57E27797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6970" y="2055814"/>
            <a:ext cx="3020440" cy="2546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9084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C39E3C8-22BF-4F4A-9F2D-452D9E47CD2C}"/>
              </a:ext>
            </a:extLst>
          </p:cNvPr>
          <p:cNvSpPr/>
          <p:nvPr/>
        </p:nvSpPr>
        <p:spPr>
          <a:xfrm>
            <a:off x="0" y="-3652"/>
            <a:ext cx="12192000" cy="1306286"/>
          </a:xfrm>
          <a:prstGeom prst="rect">
            <a:avLst/>
          </a:prstGeom>
          <a:gradFill flip="none" rotWithShape="1">
            <a:gsLst>
              <a:gs pos="0">
                <a:srgbClr val="004537"/>
              </a:gs>
              <a:gs pos="100000">
                <a:srgbClr val="1F9032"/>
              </a:gs>
            </a:gsLst>
            <a:lin ang="10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132192D3-4B3B-844F-BACF-523380D2E796}"/>
              </a:ext>
            </a:extLst>
          </p:cNvPr>
          <p:cNvSpPr txBox="1"/>
          <p:nvPr/>
        </p:nvSpPr>
        <p:spPr>
          <a:xfrm>
            <a:off x="0" y="3492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 err="1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Results</a:t>
            </a:r>
            <a:r>
              <a:rPr lang="fr-FR" sz="4000" b="1" dirty="0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 – </a:t>
            </a:r>
            <a:r>
              <a:rPr lang="fr-FR" sz="4000" b="1" dirty="0" err="1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ground</a:t>
            </a:r>
            <a:r>
              <a:rPr lang="fr-FR" sz="4000" b="1" dirty="0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 </a:t>
            </a:r>
            <a:r>
              <a:rPr lang="fr-FR" sz="4000" b="1" dirty="0" err="1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beetles</a:t>
            </a:r>
            <a:endParaRPr lang="fr-FR" sz="4000" b="1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906F80A-B3E0-0198-9799-6C7D9EDBA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51662-EAF4-4F13-861F-8A695F40F4A6}" type="slidenum">
              <a:rPr lang="fr-FR" smtClean="0"/>
              <a:t>20</a:t>
            </a:fld>
            <a:endParaRPr lang="fr-FR"/>
          </a:p>
        </p:txBody>
      </p:sp>
      <p:pic>
        <p:nvPicPr>
          <p:cNvPr id="1028" name="Picture 4" descr="Feuille de chêne vert isolé sur fond blanc | Photo Premium">
            <a:extLst>
              <a:ext uri="{FF2B5EF4-FFF2-40B4-BE49-F238E27FC236}">
                <a16:creationId xmlns:a16="http://schemas.microsoft.com/office/drawing/2014/main" id="{2B8A0403-AC36-BF95-5C44-0DD228B66A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3247" y="6129963"/>
            <a:ext cx="663389" cy="663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in Sylvestre | BIOLYS">
            <a:extLst>
              <a:ext uri="{FF2B5EF4-FFF2-40B4-BE49-F238E27FC236}">
                <a16:creationId xmlns:a16="http://schemas.microsoft.com/office/drawing/2014/main" id="{A4C07FE4-A405-7E5C-0028-097608129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575066">
            <a:off x="675671" y="6129963"/>
            <a:ext cx="663390" cy="663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" descr="Pin Sylvestre | BIOLYS">
            <a:extLst>
              <a:ext uri="{FF2B5EF4-FFF2-40B4-BE49-F238E27FC236}">
                <a16:creationId xmlns:a16="http://schemas.microsoft.com/office/drawing/2014/main" id="{665A0F8D-CFAD-B1C9-87DD-330E83B783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575066">
            <a:off x="2581998" y="6385753"/>
            <a:ext cx="481821" cy="481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4" descr="Feuille de chêne vert isolé sur fond blanc | Photo Premium">
            <a:extLst>
              <a:ext uri="{FF2B5EF4-FFF2-40B4-BE49-F238E27FC236}">
                <a16:creationId xmlns:a16="http://schemas.microsoft.com/office/drawing/2014/main" id="{79D261D6-CDB4-DFAA-5107-14F5246DB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3515" y="6248448"/>
            <a:ext cx="450766" cy="450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BC165760-76EE-F31E-9B74-3C11AE3CB7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672" y="1777033"/>
            <a:ext cx="5335585" cy="4434027"/>
          </a:xfrm>
          <a:prstGeom prst="rect">
            <a:avLst/>
          </a:prstGeom>
        </p:spPr>
      </p:pic>
      <p:sp>
        <p:nvSpPr>
          <p:cNvPr id="21" name="ZoneTexte 20">
            <a:extLst>
              <a:ext uri="{FF2B5EF4-FFF2-40B4-BE49-F238E27FC236}">
                <a16:creationId xmlns:a16="http://schemas.microsoft.com/office/drawing/2014/main" id="{C3363117-C944-81E2-BE23-049C83BBDEE2}"/>
              </a:ext>
            </a:extLst>
          </p:cNvPr>
          <p:cNvSpPr txBox="1"/>
          <p:nvPr/>
        </p:nvSpPr>
        <p:spPr>
          <a:xfrm>
            <a:off x="2794457" y="3646859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P=0.055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8CD8759C-2435-EDB5-607E-9A30E46CCBA6}"/>
              </a:ext>
            </a:extLst>
          </p:cNvPr>
          <p:cNvSpPr txBox="1"/>
          <p:nvPr/>
        </p:nvSpPr>
        <p:spPr>
          <a:xfrm>
            <a:off x="2120175" y="1406101"/>
            <a:ext cx="1705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Species</a:t>
            </a:r>
            <a:r>
              <a:rPr lang="fr-FR" dirty="0"/>
              <a:t> </a:t>
            </a:r>
            <a:r>
              <a:rPr lang="fr-FR" dirty="0" err="1"/>
              <a:t>richness</a:t>
            </a:r>
            <a:endParaRPr lang="fr-FR" dirty="0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4F5B7951-F8BD-6230-CF63-5E52EB3D7412}"/>
              </a:ext>
            </a:extLst>
          </p:cNvPr>
          <p:cNvSpPr txBox="1"/>
          <p:nvPr/>
        </p:nvSpPr>
        <p:spPr>
          <a:xfrm>
            <a:off x="8063775" y="1406101"/>
            <a:ext cx="1250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Abundance</a:t>
            </a:r>
            <a:endParaRPr lang="fr-FR" dirty="0"/>
          </a:p>
        </p:txBody>
      </p:sp>
      <p:pic>
        <p:nvPicPr>
          <p:cNvPr id="28" name="Picture 4" descr="Feuille de chêne vert isolé sur fond blanc | Photo Premium">
            <a:extLst>
              <a:ext uri="{FF2B5EF4-FFF2-40B4-BE49-F238E27FC236}">
                <a16:creationId xmlns:a16="http://schemas.microsoft.com/office/drawing/2014/main" id="{8CE80BC8-964C-BB72-7AFB-2DA56B702F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502" y="6132274"/>
            <a:ext cx="663389" cy="663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6" descr="Pin Sylvestre | BIOLYS">
            <a:extLst>
              <a:ext uri="{FF2B5EF4-FFF2-40B4-BE49-F238E27FC236}">
                <a16:creationId xmlns:a16="http://schemas.microsoft.com/office/drawing/2014/main" id="{E0C0C8D0-128D-AFA6-ED37-52D80EBF91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575066">
            <a:off x="6804926" y="6132274"/>
            <a:ext cx="663390" cy="663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6" descr="Pin Sylvestre | BIOLYS">
            <a:extLst>
              <a:ext uri="{FF2B5EF4-FFF2-40B4-BE49-F238E27FC236}">
                <a16:creationId xmlns:a16="http://schemas.microsoft.com/office/drawing/2014/main" id="{B5B4F4B3-7F3B-80AD-AEA4-DE66D89271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575066">
            <a:off x="8711253" y="6388064"/>
            <a:ext cx="481821" cy="481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4" descr="Feuille de chêne vert isolé sur fond blanc | Photo Premium">
            <a:extLst>
              <a:ext uri="{FF2B5EF4-FFF2-40B4-BE49-F238E27FC236}">
                <a16:creationId xmlns:a16="http://schemas.microsoft.com/office/drawing/2014/main" id="{951607C5-A400-10D4-D190-4EE330A573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2770" y="6250759"/>
            <a:ext cx="450766" cy="450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B826197A-DC1D-EAC3-F2F1-F08073FED0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3885" y="1835513"/>
            <a:ext cx="5362006" cy="4455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2277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C39E3C8-22BF-4F4A-9F2D-452D9E47CD2C}"/>
              </a:ext>
            </a:extLst>
          </p:cNvPr>
          <p:cNvSpPr/>
          <p:nvPr/>
        </p:nvSpPr>
        <p:spPr>
          <a:xfrm>
            <a:off x="0" y="-3652"/>
            <a:ext cx="12192000" cy="1306286"/>
          </a:xfrm>
          <a:prstGeom prst="rect">
            <a:avLst/>
          </a:prstGeom>
          <a:gradFill flip="none" rotWithShape="1">
            <a:gsLst>
              <a:gs pos="0">
                <a:srgbClr val="004537"/>
              </a:gs>
              <a:gs pos="100000">
                <a:srgbClr val="1F9032"/>
              </a:gs>
            </a:gsLst>
            <a:lin ang="10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132192D3-4B3B-844F-BACF-523380D2E796}"/>
              </a:ext>
            </a:extLst>
          </p:cNvPr>
          <p:cNvSpPr txBox="1"/>
          <p:nvPr/>
        </p:nvSpPr>
        <p:spPr>
          <a:xfrm>
            <a:off x="0" y="3492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 err="1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Results</a:t>
            </a:r>
            <a:r>
              <a:rPr lang="fr-FR" sz="4000" b="1" dirty="0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 – </a:t>
            </a:r>
            <a:r>
              <a:rPr lang="fr-FR" sz="4000" b="1" dirty="0" err="1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ground</a:t>
            </a:r>
            <a:r>
              <a:rPr lang="fr-FR" sz="4000" b="1" dirty="0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 </a:t>
            </a:r>
            <a:r>
              <a:rPr lang="fr-FR" sz="4000" b="1" dirty="0" err="1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beetles</a:t>
            </a:r>
            <a:endParaRPr lang="fr-FR" sz="4000" b="1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906F80A-B3E0-0198-9799-6C7D9EDBA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51662-EAF4-4F13-861F-8A695F40F4A6}" type="slidenum">
              <a:rPr lang="fr-FR" smtClean="0"/>
              <a:t>21</a:t>
            </a:fld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ADAAB8C-C4DC-7BF4-09F2-9B6B4604FF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9457" y="1330646"/>
            <a:ext cx="6768355" cy="5624701"/>
          </a:xfrm>
          <a:prstGeom prst="rect">
            <a:avLst/>
          </a:prstGeom>
        </p:spPr>
      </p:pic>
      <p:pic>
        <p:nvPicPr>
          <p:cNvPr id="5" name="Picture 6" descr="Pin Sylvestre | BIOLYS">
            <a:extLst>
              <a:ext uri="{FF2B5EF4-FFF2-40B4-BE49-F238E27FC236}">
                <a16:creationId xmlns:a16="http://schemas.microsoft.com/office/drawing/2014/main" id="{A554F7D3-5DFD-19FF-5728-A24A41EC27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575066">
            <a:off x="6171140" y="5482539"/>
            <a:ext cx="394512" cy="394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Feuille de chêne vert isolé sur fond blanc | Photo Premium">
            <a:extLst>
              <a:ext uri="{FF2B5EF4-FFF2-40B4-BE49-F238E27FC236}">
                <a16:creationId xmlns:a16="http://schemas.microsoft.com/office/drawing/2014/main" id="{EF12CBB3-D943-4F35-55A0-82A3B3B502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0103" y="3606770"/>
            <a:ext cx="445443" cy="445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03650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C39E3C8-22BF-4F4A-9F2D-452D9E47CD2C}"/>
              </a:ext>
            </a:extLst>
          </p:cNvPr>
          <p:cNvSpPr/>
          <p:nvPr/>
        </p:nvSpPr>
        <p:spPr>
          <a:xfrm>
            <a:off x="0" y="-3652"/>
            <a:ext cx="12192000" cy="1306286"/>
          </a:xfrm>
          <a:prstGeom prst="rect">
            <a:avLst/>
          </a:prstGeom>
          <a:gradFill flip="none" rotWithShape="1">
            <a:gsLst>
              <a:gs pos="0">
                <a:srgbClr val="004537"/>
              </a:gs>
              <a:gs pos="100000">
                <a:srgbClr val="1F9032"/>
              </a:gs>
            </a:gsLst>
            <a:lin ang="10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132192D3-4B3B-844F-BACF-523380D2E796}"/>
              </a:ext>
            </a:extLst>
          </p:cNvPr>
          <p:cNvSpPr txBox="1"/>
          <p:nvPr/>
        </p:nvSpPr>
        <p:spPr>
          <a:xfrm>
            <a:off x="0" y="3492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 err="1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Results</a:t>
            </a:r>
            <a:r>
              <a:rPr lang="fr-FR" sz="4000" b="1" dirty="0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 – </a:t>
            </a:r>
            <a:r>
              <a:rPr lang="fr-FR" sz="4000" b="1" dirty="0" err="1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ground</a:t>
            </a:r>
            <a:r>
              <a:rPr lang="fr-FR" sz="4000" b="1" dirty="0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 </a:t>
            </a:r>
            <a:r>
              <a:rPr lang="fr-FR" sz="4000" b="1" dirty="0" err="1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beetles</a:t>
            </a:r>
            <a:endParaRPr lang="fr-FR" sz="4000" b="1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906F80A-B3E0-0198-9799-6C7D9EDBA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59366" y="6356350"/>
            <a:ext cx="2743200" cy="365125"/>
          </a:xfrm>
        </p:spPr>
        <p:txBody>
          <a:bodyPr/>
          <a:lstStyle/>
          <a:p>
            <a:fld id="{E7E51662-EAF4-4F13-861F-8A695F40F4A6}" type="slidenum">
              <a:rPr lang="fr-FR" smtClean="0"/>
              <a:t>22</a:t>
            </a:fld>
            <a:endParaRPr lang="fr-FR"/>
          </a:p>
        </p:txBody>
      </p:sp>
      <p:pic>
        <p:nvPicPr>
          <p:cNvPr id="5" name="Picture 6" descr="Pin Sylvestre | BIOLYS">
            <a:extLst>
              <a:ext uri="{FF2B5EF4-FFF2-40B4-BE49-F238E27FC236}">
                <a16:creationId xmlns:a16="http://schemas.microsoft.com/office/drawing/2014/main" id="{A554F7D3-5DFD-19FF-5728-A24A41EC27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575066">
            <a:off x="3701597" y="5758263"/>
            <a:ext cx="394512" cy="394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Feuille de chêne vert isolé sur fond blanc | Photo Premium">
            <a:extLst>
              <a:ext uri="{FF2B5EF4-FFF2-40B4-BE49-F238E27FC236}">
                <a16:creationId xmlns:a16="http://schemas.microsoft.com/office/drawing/2014/main" id="{EF12CBB3-D943-4F35-55A0-82A3B3B502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3466" y="3354193"/>
            <a:ext cx="445443" cy="445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1064B700-1210-E41A-F7F5-46F3835555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9991" y="1460452"/>
            <a:ext cx="6200775" cy="5153025"/>
          </a:xfrm>
          <a:prstGeom prst="rect">
            <a:avLst/>
          </a:prstGeom>
        </p:spPr>
      </p:pic>
      <p:sp>
        <p:nvSpPr>
          <p:cNvPr id="3" name="Flèche : droite 2">
            <a:extLst>
              <a:ext uri="{FF2B5EF4-FFF2-40B4-BE49-F238E27FC236}">
                <a16:creationId xmlns:a16="http://schemas.microsoft.com/office/drawing/2014/main" id="{E8AA78B4-217C-BC17-3A5F-6C1591EF211F}"/>
              </a:ext>
            </a:extLst>
          </p:cNvPr>
          <p:cNvSpPr/>
          <p:nvPr/>
        </p:nvSpPr>
        <p:spPr>
          <a:xfrm>
            <a:off x="5385413" y="1807757"/>
            <a:ext cx="318706" cy="118809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Flèche : droite 6">
            <a:extLst>
              <a:ext uri="{FF2B5EF4-FFF2-40B4-BE49-F238E27FC236}">
                <a16:creationId xmlns:a16="http://schemas.microsoft.com/office/drawing/2014/main" id="{6103635D-D77B-DC86-A7C0-6C25C866A090}"/>
              </a:ext>
            </a:extLst>
          </p:cNvPr>
          <p:cNvSpPr/>
          <p:nvPr/>
        </p:nvSpPr>
        <p:spPr>
          <a:xfrm>
            <a:off x="5280638" y="5593307"/>
            <a:ext cx="318706" cy="118809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lèche : droite 7">
            <a:extLst>
              <a:ext uri="{FF2B5EF4-FFF2-40B4-BE49-F238E27FC236}">
                <a16:creationId xmlns:a16="http://schemas.microsoft.com/office/drawing/2014/main" id="{D9A1D521-1071-4C47-11B8-0C8862273545}"/>
              </a:ext>
            </a:extLst>
          </p:cNvPr>
          <p:cNvSpPr/>
          <p:nvPr/>
        </p:nvSpPr>
        <p:spPr>
          <a:xfrm>
            <a:off x="5088368" y="3214734"/>
            <a:ext cx="318706" cy="118809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C662DDC-A17B-FD80-25E1-C578A641BAE0}"/>
              </a:ext>
            </a:extLst>
          </p:cNvPr>
          <p:cNvSpPr txBox="1"/>
          <p:nvPr/>
        </p:nvSpPr>
        <p:spPr>
          <a:xfrm>
            <a:off x="3508086" y="1668675"/>
            <a:ext cx="19319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/>
              <a:t>Carabus</a:t>
            </a:r>
            <a:r>
              <a:rPr lang="fr-FR" dirty="0"/>
              <a:t> </a:t>
            </a:r>
            <a:r>
              <a:rPr lang="fr-FR" dirty="0" err="1"/>
              <a:t>intricatus</a:t>
            </a:r>
            <a:endParaRPr lang="fr-FR" dirty="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03B9C93B-35DF-6A95-E9F5-968D1D3DF32F}"/>
              </a:ext>
            </a:extLst>
          </p:cNvPr>
          <p:cNvSpPr txBox="1"/>
          <p:nvPr/>
        </p:nvSpPr>
        <p:spPr>
          <a:xfrm>
            <a:off x="3402202" y="543990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/>
              <a:t>Carabus</a:t>
            </a:r>
            <a:r>
              <a:rPr lang="fr-FR" dirty="0"/>
              <a:t> </a:t>
            </a:r>
            <a:r>
              <a:rPr lang="fr-FR" dirty="0" err="1"/>
              <a:t>coriaceus</a:t>
            </a:r>
            <a:endParaRPr lang="fr-FR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577974B2-91D9-F607-4AC0-BAB6D47808A5}"/>
              </a:ext>
            </a:extLst>
          </p:cNvPr>
          <p:cNvSpPr txBox="1"/>
          <p:nvPr/>
        </p:nvSpPr>
        <p:spPr>
          <a:xfrm>
            <a:off x="3112234" y="307925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/>
              <a:t>Carabus</a:t>
            </a:r>
            <a:r>
              <a:rPr lang="fr-FR" dirty="0"/>
              <a:t> </a:t>
            </a:r>
            <a:r>
              <a:rPr lang="fr-FR" dirty="0" err="1"/>
              <a:t>nemoralis</a:t>
            </a:r>
            <a:endParaRPr lang="fr-FR" dirty="0"/>
          </a:p>
        </p:txBody>
      </p:sp>
      <p:pic>
        <p:nvPicPr>
          <p:cNvPr id="21" name="Picture 6" descr="Pin Sylvestre | BIOLYS">
            <a:extLst>
              <a:ext uri="{FF2B5EF4-FFF2-40B4-BE49-F238E27FC236}">
                <a16:creationId xmlns:a16="http://schemas.microsoft.com/office/drawing/2014/main" id="{8AF8FC6C-1B90-8B21-2FF3-BC63C18308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575066">
            <a:off x="4571387" y="5818522"/>
            <a:ext cx="390962" cy="390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4" descr="Feuille de chêne vert isolé sur fond blanc | Photo Premium">
            <a:extLst>
              <a:ext uri="{FF2B5EF4-FFF2-40B4-BE49-F238E27FC236}">
                <a16:creationId xmlns:a16="http://schemas.microsoft.com/office/drawing/2014/main" id="{1BB90457-456C-482C-6ACE-0000241C82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3444" y="1966464"/>
            <a:ext cx="470489" cy="470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4" descr="Feuille de chêne vert isolé sur fond blanc | Photo Premium">
            <a:extLst>
              <a:ext uri="{FF2B5EF4-FFF2-40B4-BE49-F238E27FC236}">
                <a16:creationId xmlns:a16="http://schemas.microsoft.com/office/drawing/2014/main" id="{C202AB7E-E079-FCDF-1747-A1E397172C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4196" y="5715172"/>
            <a:ext cx="327892" cy="327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ZoneTexte 24">
            <a:extLst>
              <a:ext uri="{FF2B5EF4-FFF2-40B4-BE49-F238E27FC236}">
                <a16:creationId xmlns:a16="http://schemas.microsoft.com/office/drawing/2014/main" id="{9CCC6D92-7E87-35B3-CA35-C3C40F059DF8}"/>
              </a:ext>
            </a:extLst>
          </p:cNvPr>
          <p:cNvSpPr txBox="1"/>
          <p:nvPr/>
        </p:nvSpPr>
        <p:spPr>
          <a:xfrm>
            <a:off x="4073983" y="577085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+</a:t>
            </a:r>
          </a:p>
        </p:txBody>
      </p:sp>
      <p:pic>
        <p:nvPicPr>
          <p:cNvPr id="30" name="Picture 6" descr="Pin Sylvestre | BIOLYS">
            <a:extLst>
              <a:ext uri="{FF2B5EF4-FFF2-40B4-BE49-F238E27FC236}">
                <a16:creationId xmlns:a16="http://schemas.microsoft.com/office/drawing/2014/main" id="{951F2543-8E31-A58F-0498-08B9A16BC2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575066">
            <a:off x="4396444" y="3433930"/>
            <a:ext cx="390962" cy="390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4" descr="Feuille de chêne vert isolé sur fond blanc | Photo Premium">
            <a:extLst>
              <a:ext uri="{FF2B5EF4-FFF2-40B4-BE49-F238E27FC236}">
                <a16:creationId xmlns:a16="http://schemas.microsoft.com/office/drawing/2014/main" id="{583F3B44-575A-AFA0-1C37-15F5C54C9D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9253" y="3330580"/>
            <a:ext cx="327892" cy="327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ZoneTexte 31">
            <a:extLst>
              <a:ext uri="{FF2B5EF4-FFF2-40B4-BE49-F238E27FC236}">
                <a16:creationId xmlns:a16="http://schemas.microsoft.com/office/drawing/2014/main" id="{B8731F76-67EC-BC2D-AE32-0521A0BC9563}"/>
              </a:ext>
            </a:extLst>
          </p:cNvPr>
          <p:cNvSpPr txBox="1"/>
          <p:nvPr/>
        </p:nvSpPr>
        <p:spPr>
          <a:xfrm>
            <a:off x="3899040" y="338626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+</a:t>
            </a:r>
          </a:p>
        </p:txBody>
      </p:sp>
      <p:pic>
        <p:nvPicPr>
          <p:cNvPr id="33" name="Image 32">
            <a:extLst>
              <a:ext uri="{FF2B5EF4-FFF2-40B4-BE49-F238E27FC236}">
                <a16:creationId xmlns:a16="http://schemas.microsoft.com/office/drawing/2014/main" id="{BF9349B3-189A-765D-9E64-24A110756B4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5400000">
            <a:off x="1003535" y="955399"/>
            <a:ext cx="1195169" cy="2039030"/>
          </a:xfrm>
          <a:prstGeom prst="rect">
            <a:avLst/>
          </a:prstGeom>
        </p:spPr>
      </p:pic>
      <p:pic>
        <p:nvPicPr>
          <p:cNvPr id="34" name="Image 33">
            <a:extLst>
              <a:ext uri="{FF2B5EF4-FFF2-40B4-BE49-F238E27FC236}">
                <a16:creationId xmlns:a16="http://schemas.microsoft.com/office/drawing/2014/main" id="{19801CBE-65AB-7756-A514-A42BE0322F9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3249" y="2885826"/>
            <a:ext cx="2157562" cy="1739534"/>
          </a:xfrm>
          <a:prstGeom prst="rect">
            <a:avLst/>
          </a:prstGeom>
        </p:spPr>
      </p:pic>
      <p:sp>
        <p:nvSpPr>
          <p:cNvPr id="36" name="ZoneTexte 35">
            <a:extLst>
              <a:ext uri="{FF2B5EF4-FFF2-40B4-BE49-F238E27FC236}">
                <a16:creationId xmlns:a16="http://schemas.microsoft.com/office/drawing/2014/main" id="{04A39451-9581-D42B-20D0-1C83496A4AD3}"/>
              </a:ext>
            </a:extLst>
          </p:cNvPr>
          <p:cNvSpPr txBox="1"/>
          <p:nvPr/>
        </p:nvSpPr>
        <p:spPr>
          <a:xfrm>
            <a:off x="859589" y="4625360"/>
            <a:ext cx="14517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© Didier </a:t>
            </a:r>
            <a:r>
              <a:rPr lang="fr-FR" sz="1200" dirty="0" err="1"/>
              <a:t>Descouens</a:t>
            </a:r>
            <a:endParaRPr lang="fr-FR" sz="1200" dirty="0"/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97B04178-2A51-DDBF-238E-6FDB5EA464E6}"/>
              </a:ext>
            </a:extLst>
          </p:cNvPr>
          <p:cNvSpPr txBox="1"/>
          <p:nvPr/>
        </p:nvSpPr>
        <p:spPr>
          <a:xfrm>
            <a:off x="1052489" y="2578825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© </a:t>
            </a:r>
            <a:r>
              <a:rPr lang="fr-FR" sz="1200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U.Schmidt</a:t>
            </a:r>
            <a:r>
              <a:rPr lang="fr-FR" sz="12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</a:t>
            </a:r>
            <a:endParaRPr lang="fr-FR" sz="1200" dirty="0"/>
          </a:p>
        </p:txBody>
      </p:sp>
      <p:pic>
        <p:nvPicPr>
          <p:cNvPr id="39" name="Image 38">
            <a:extLst>
              <a:ext uri="{FF2B5EF4-FFF2-40B4-BE49-F238E27FC236}">
                <a16:creationId xmlns:a16="http://schemas.microsoft.com/office/drawing/2014/main" id="{94AE34A4-0DDF-7D0B-5706-E16429B3448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2875" y="4976690"/>
            <a:ext cx="2250465" cy="1500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8031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g28808c7f580_2_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l="47673" r="30985"/>
          <a:stretch/>
        </p:blipFill>
        <p:spPr>
          <a:xfrm>
            <a:off x="-68094" y="0"/>
            <a:ext cx="2193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g28808c7f580_2_1"/>
          <p:cNvSpPr txBox="1"/>
          <p:nvPr/>
        </p:nvSpPr>
        <p:spPr>
          <a:xfrm>
            <a:off x="2098244" y="35130"/>
            <a:ext cx="100671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400" b="1" dirty="0">
                <a:solidFill>
                  <a:srgbClr val="1F9032"/>
                </a:solidFill>
                <a:latin typeface="Poppins"/>
                <a:ea typeface="Poppins"/>
                <a:cs typeface="Poppins"/>
                <a:sym typeface="Poppins"/>
              </a:rPr>
              <a:t>Discussion</a:t>
            </a:r>
            <a:endParaRPr b="1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1" name="Google Shape;171;g28808c7f580_2_1"/>
          <p:cNvSpPr txBox="1">
            <a:spLocks noGrp="1"/>
          </p:cNvSpPr>
          <p:nvPr>
            <p:ph type="sldNum" idx="12"/>
          </p:nvPr>
        </p:nvSpPr>
        <p:spPr>
          <a:xfrm>
            <a:off x="10780776" y="6356350"/>
            <a:ext cx="573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fr-FR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23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73;g28808c7f580_2_1">
            <a:extLst>
              <a:ext uri="{FF2B5EF4-FFF2-40B4-BE49-F238E27FC236}">
                <a16:creationId xmlns:a16="http://schemas.microsoft.com/office/drawing/2014/main" id="{F35F613E-0CD8-B5A8-A692-DF898BF37E85}"/>
              </a:ext>
            </a:extLst>
          </p:cNvPr>
          <p:cNvSpPr txBox="1"/>
          <p:nvPr/>
        </p:nvSpPr>
        <p:spPr>
          <a:xfrm>
            <a:off x="2477011" y="1110629"/>
            <a:ext cx="9141248" cy="4893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sz="2100" dirty="0">
                <a:latin typeface="Poppins"/>
                <a:ea typeface="Poppins"/>
                <a:cs typeface="Poppins"/>
                <a:sym typeface="Poppins"/>
              </a:rPr>
              <a:t>Main question</a:t>
            </a:r>
          </a:p>
          <a:p>
            <a:pPr lvl="0"/>
            <a:endParaRPr lang="en-US" sz="2100" dirty="0">
              <a:latin typeface="Poppins"/>
              <a:ea typeface="Poppins"/>
              <a:cs typeface="Poppins"/>
              <a:sym typeface="Poppins"/>
            </a:endParaRPr>
          </a:p>
          <a:p>
            <a:pPr marL="342900" lvl="0" indent="-342900">
              <a:buFont typeface="Aptos" panose="020B0004020202020204" pitchFamily="34" charset="0"/>
              <a:buChar char="-"/>
            </a:pPr>
            <a:r>
              <a:rPr lang="fr-FR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Are mixed </a:t>
            </a:r>
            <a:r>
              <a:rPr lang="fr-FR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oak</a:t>
            </a:r>
            <a:r>
              <a:rPr lang="fr-FR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-pine stands </a:t>
            </a:r>
            <a:r>
              <a:rPr lang="fr-FR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beneficial</a:t>
            </a:r>
            <a:r>
              <a:rPr lang="fr-FR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fr-FR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common</a:t>
            </a:r>
            <a:r>
              <a:rPr lang="fr-FR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birds</a:t>
            </a:r>
            <a:r>
              <a:rPr lang="fr-FR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saproxylic</a:t>
            </a:r>
            <a:r>
              <a:rPr lang="fr-FR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fr-FR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ground</a:t>
            </a:r>
            <a:r>
              <a:rPr lang="fr-FR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beetles</a:t>
            </a:r>
            <a:r>
              <a:rPr lang="fr-FR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fr-FR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fr-FR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</a:t>
            </a:r>
          </a:p>
          <a:p>
            <a:r>
              <a:rPr lang="fr-FR" sz="24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Hypotheses</a:t>
            </a:r>
            <a:endParaRPr lang="fr-FR" sz="24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endParaRPr lang="fr-FR" sz="24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buFont typeface="Aptos" panose="020B0004020202020204" pitchFamily="34" charset="0"/>
              <a:buChar char="-"/>
            </a:pPr>
            <a:r>
              <a:rPr lang="fr-FR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  <a:r>
              <a:rPr lang="fr-FR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fr-FR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tree</a:t>
            </a:r>
            <a:r>
              <a:rPr lang="fr-FR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mixture </a:t>
            </a:r>
            <a:r>
              <a:rPr lang="fr-FR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fr-FR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stronger</a:t>
            </a:r>
            <a:r>
              <a:rPr lang="fr-FR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fr-FR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taxonomic</a:t>
            </a:r>
            <a:r>
              <a:rPr lang="fr-FR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groups/</a:t>
            </a:r>
            <a:r>
              <a:rPr lang="fr-FR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species</a:t>
            </a:r>
            <a:r>
              <a:rPr lang="fr-FR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having</a:t>
            </a:r>
            <a:r>
              <a:rPr lang="fr-FR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strong</a:t>
            </a:r>
            <a:r>
              <a:rPr lang="fr-FR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affinity</a:t>
            </a:r>
            <a:r>
              <a:rPr lang="fr-FR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one </a:t>
            </a:r>
            <a:r>
              <a:rPr lang="fr-FR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tree</a:t>
            </a:r>
            <a:r>
              <a:rPr lang="fr-FR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species</a:t>
            </a:r>
            <a:r>
              <a:rPr lang="fr-FR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  <a:r>
              <a:rPr lang="fr-FR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fr-FR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fr-FR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strongest</a:t>
            </a:r>
            <a:r>
              <a:rPr lang="fr-FR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  <a:r>
              <a:rPr lang="fr-FR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fr-FR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saproxylic</a:t>
            </a:r>
            <a:r>
              <a:rPr lang="fr-FR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beetles</a:t>
            </a:r>
            <a:r>
              <a:rPr lang="fr-FR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dirty="0" err="1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intermediate</a:t>
            </a:r>
            <a:r>
              <a:rPr lang="fr-FR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fr-FR" dirty="0" err="1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birds</a:t>
            </a:r>
            <a:r>
              <a:rPr lang="fr-FR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dirty="0" err="1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lowest</a:t>
            </a:r>
            <a:r>
              <a:rPr lang="fr-FR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fr-FR" dirty="0" err="1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ground</a:t>
            </a:r>
            <a:r>
              <a:rPr lang="fr-FR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beetles</a:t>
            </a:r>
            <a:r>
              <a:rPr lang="fr-FR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2900" lvl="0" indent="-342900">
              <a:buFont typeface="Aptos" panose="020B0004020202020204" pitchFamily="34" charset="0"/>
              <a:buChar char="-"/>
            </a:pPr>
            <a:endParaRPr lang="fr-FR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Aptos" panose="020B0004020202020204" pitchFamily="34" charset="0"/>
              <a:buChar char="-"/>
            </a:pPr>
            <a:r>
              <a:rPr lang="fr-FR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Higher</a:t>
            </a:r>
            <a:r>
              <a:rPr lang="fr-FR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diversity</a:t>
            </a:r>
            <a:r>
              <a:rPr lang="fr-FR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fr-FR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abundance</a:t>
            </a:r>
            <a:r>
              <a:rPr lang="fr-FR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pure </a:t>
            </a:r>
            <a:r>
              <a:rPr lang="fr-FR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oak</a:t>
            </a:r>
            <a:r>
              <a:rPr lang="fr-FR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than</a:t>
            </a:r>
            <a:r>
              <a:rPr lang="fr-FR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pure pine stands (at least for </a:t>
            </a:r>
            <a:r>
              <a:rPr lang="fr-FR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birds</a:t>
            </a:r>
            <a:r>
              <a:rPr lang="fr-FR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fr-FR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saproxylic</a:t>
            </a:r>
            <a:r>
              <a:rPr lang="fr-FR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beetles</a:t>
            </a:r>
            <a:r>
              <a:rPr lang="fr-FR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2900" lvl="0" indent="-342900">
              <a:buFont typeface="Aptos" panose="020B0004020202020204" pitchFamily="34" charset="0"/>
              <a:buChar char="-"/>
            </a:pPr>
            <a:endParaRPr lang="fr-FR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Aptos" panose="020B0004020202020204" pitchFamily="34" charset="0"/>
              <a:buChar char="-"/>
            </a:pPr>
            <a:r>
              <a:rPr lang="fr-FR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Assemblages in mixed stands combine </a:t>
            </a:r>
            <a:r>
              <a:rPr lang="fr-FR" dirty="0" err="1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tree-generalist</a:t>
            </a:r>
            <a:r>
              <a:rPr lang="fr-FR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species</a:t>
            </a:r>
            <a:r>
              <a:rPr lang="fr-FR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fr-FR" dirty="0" err="1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  <a:r>
              <a:rPr lang="fr-FR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fr-FR" dirty="0" err="1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subset</a:t>
            </a:r>
            <a:r>
              <a:rPr lang="fr-FR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fr-FR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tree</a:t>
            </a:r>
            <a:r>
              <a:rPr lang="fr-FR" dirty="0" err="1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-dependent</a:t>
            </a:r>
            <a:r>
              <a:rPr lang="fr-FR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species</a:t>
            </a:r>
            <a:r>
              <a:rPr lang="fr-FR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dirty="0" err="1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fr-FR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few or none </a:t>
            </a:r>
            <a:r>
              <a:rPr lang="fr-FR" dirty="0" err="1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species</a:t>
            </a:r>
            <a:r>
              <a:rPr lang="fr-FR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favoured</a:t>
            </a:r>
            <a:r>
              <a:rPr lang="fr-FR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by the </a:t>
            </a:r>
            <a:r>
              <a:rPr lang="fr-FR" dirty="0" err="1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mixing</a:t>
            </a:r>
            <a:r>
              <a:rPr lang="fr-FR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fr-FR" dirty="0" err="1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leading</a:t>
            </a:r>
            <a:r>
              <a:rPr lang="fr-FR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fr-FR" dirty="0" err="1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lang="fr-FR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fr-FR" dirty="0" err="1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hump-shaped</a:t>
            </a:r>
            <a:r>
              <a:rPr lang="fr-FR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relationships</a:t>
            </a:r>
            <a:r>
              <a:rPr lang="fr-FR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fr-FR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84015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g28808c7f580_2_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l="47673" r="30985"/>
          <a:stretch/>
        </p:blipFill>
        <p:spPr>
          <a:xfrm>
            <a:off x="-68094" y="0"/>
            <a:ext cx="2193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g28808c7f580_2_1"/>
          <p:cNvSpPr txBox="1"/>
          <p:nvPr/>
        </p:nvSpPr>
        <p:spPr>
          <a:xfrm>
            <a:off x="2098244" y="35130"/>
            <a:ext cx="100671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400" b="1" dirty="0">
                <a:solidFill>
                  <a:srgbClr val="1F9032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  <a:endParaRPr b="1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1" name="Google Shape;171;g28808c7f580_2_1"/>
          <p:cNvSpPr txBox="1">
            <a:spLocks noGrp="1"/>
          </p:cNvSpPr>
          <p:nvPr>
            <p:ph type="sldNum" idx="12"/>
          </p:nvPr>
        </p:nvSpPr>
        <p:spPr>
          <a:xfrm>
            <a:off x="10780776" y="6356350"/>
            <a:ext cx="573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fr-FR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24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73;g28808c7f580_2_1">
            <a:extLst>
              <a:ext uri="{FF2B5EF4-FFF2-40B4-BE49-F238E27FC236}">
                <a16:creationId xmlns:a16="http://schemas.microsoft.com/office/drawing/2014/main" id="{F35F613E-0CD8-B5A8-A692-DF898BF37E85}"/>
              </a:ext>
            </a:extLst>
          </p:cNvPr>
          <p:cNvSpPr txBox="1"/>
          <p:nvPr/>
        </p:nvSpPr>
        <p:spPr>
          <a:xfrm>
            <a:off x="2477011" y="1110629"/>
            <a:ext cx="9141248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sz="2100" dirty="0">
                <a:latin typeface="Poppins"/>
                <a:ea typeface="Poppins"/>
                <a:cs typeface="Poppins"/>
                <a:sym typeface="Poppins"/>
              </a:rPr>
              <a:t>Main question</a:t>
            </a:r>
          </a:p>
          <a:p>
            <a:pPr lvl="0"/>
            <a:r>
              <a:rPr lang="en-US" sz="2100" dirty="0">
                <a:effectLst/>
                <a:latin typeface="Poppins"/>
                <a:ea typeface="Aptos" panose="020B0004020202020204" pitchFamily="34" charset="0"/>
                <a:cs typeface="Poppins"/>
                <a:sym typeface="Poppins"/>
              </a:rPr>
              <a:t>…</a:t>
            </a:r>
            <a:endParaRPr lang="fr-FR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63723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B138A5ED-F0E6-0041-9117-F39DD2CD7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6A2F171-794B-B345-B610-6BE121D9ABB9}"/>
              </a:ext>
            </a:extLst>
          </p:cNvPr>
          <p:cNvSpPr/>
          <p:nvPr/>
        </p:nvSpPr>
        <p:spPr>
          <a:xfrm>
            <a:off x="0" y="1838130"/>
            <a:ext cx="12192000" cy="3181739"/>
          </a:xfrm>
          <a:prstGeom prst="rect">
            <a:avLst/>
          </a:prstGeom>
          <a:solidFill>
            <a:srgbClr val="004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79587FE-B0C4-DF4D-ACDA-99ED1763A293}"/>
              </a:ext>
            </a:extLst>
          </p:cNvPr>
          <p:cNvSpPr txBox="1"/>
          <p:nvPr/>
        </p:nvSpPr>
        <p:spPr>
          <a:xfrm>
            <a:off x="3928993" y="2796567"/>
            <a:ext cx="5374433" cy="8309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fr-FR" sz="4800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Thank</a:t>
            </a:r>
            <a:r>
              <a:rPr lang="fr-FR" sz="4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r-FR" sz="4800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you</a:t>
            </a:r>
            <a:endParaRPr lang="fr-FR" sz="48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9" name="Image 8" descr="Une image contenant Police, Graphique, logo, symbole&#10;&#10;Description générée automatiquement">
            <a:extLst>
              <a:ext uri="{FF2B5EF4-FFF2-40B4-BE49-F238E27FC236}">
                <a16:creationId xmlns:a16="http://schemas.microsoft.com/office/drawing/2014/main" id="{AEC6BD76-1F88-6E41-8BF0-C6601F1912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4390" y="5832268"/>
            <a:ext cx="1715310" cy="452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94892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2125</TotalTime>
  <Words>1981</Words>
  <Application>Microsoft Office PowerPoint</Application>
  <PresentationFormat>Grand écran</PresentationFormat>
  <Paragraphs>271</Paragraphs>
  <Slides>25</Slides>
  <Notes>23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33" baseType="lpstr">
      <vt:lpstr>Aptos</vt:lpstr>
      <vt:lpstr>Aptos Narrow</vt:lpstr>
      <vt:lpstr>Arial</vt:lpstr>
      <vt:lpstr>Calibri</vt:lpstr>
      <vt:lpstr>Calibri Light</vt:lpstr>
      <vt:lpstr>Poppins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IRSTEA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Hélène LE BORGNE</dc:creator>
  <cp:lastModifiedBy>frederic.archaux</cp:lastModifiedBy>
  <cp:revision>71</cp:revision>
  <dcterms:created xsi:type="dcterms:W3CDTF">2023-09-26T08:53:35Z</dcterms:created>
  <dcterms:modified xsi:type="dcterms:W3CDTF">2026-05-11T16:39:21Z</dcterms:modified>
</cp:coreProperties>
</file>